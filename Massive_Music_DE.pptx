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028c4492-43b4-88f8-033d-d07deb28dc2c}">
          <p14:sldIdLst>
            <p14:sldId id="256"/>
            <p14:sldId id="257"/>
          </p14:sldIdLst>
        </p14:section>
        <p14:section name="1 · Airflow" id="{f46967a5-9e2f-1a5c-e535-2e9b7272df6e}">
          <p14:sldIdLst>
            <p14:sldId id="258"/>
            <p14:sldId id="259"/>
            <p14:sldId id="260"/>
          </p14:sldIdLst>
        </p14:section>
        <p14:section name="2 · dbt" id="{a2b49b82-eaa9-f5a4-4de8-2c0ac9cd5b0c}">
          <p14:sldIdLst>
            <p14:sldId id="261"/>
            <p14:sldId id="262"/>
          </p14:sldIdLst>
        </p14:section>
        <p14:section name="3 · Superset" id="{d8d4169c-e1cf-179c-fb73-d9ce91682cbf}">
          <p14:sldIdLst>
            <p14:sldId id="263"/>
            <p14:sldId id="264"/>
          </p14:sldIdLst>
        </p14:section>
        <p14:section name="4 · Insight dashboard" id="{a221fa19-6355-2b48-d827-9774c10dc583}">
          <p14:sldIdLst>
            <p14:sldId id="265"/>
            <p14:sldId id="266"/>
            <p14:sldId id="267"/>
          </p14:sldIdLst>
        </p14:section>
        <p14:section name="5 · Docker Compose" id="{9f48a340-8119-091e-36ff-41620d00e186}">
          <p14:sldIdLst>
            <p14:sldId id="268"/>
            <p14:sldId id="269"/>
          </p14:sldIdLst>
        </p14:section>
        <p14:section name="6 · Medallion &amp; ERD" id="{3bdb14bc-4a42-324e-0b1e-3b7bbd8b164d}">
          <p14:sldIdLst>
            <p14:sldId id="270"/>
            <p14:sldId id="271"/>
            <p14:sldId id="272"/>
          </p14:sldIdLst>
        </p14:section>
        <p14:section name="7 · Data quality" id="{7466936c-35da-ab6a-d99b-f879d27c46e0}">
          <p14:sldIdLst>
            <p14:sldId id="273"/>
            <p14:sldId id="274"/>
            <p14:sldId id="275"/>
          </p14:sldIdLst>
        </p14:section>
        <p14:section name="8 · API &amp; kapasitas" id="{be8c3747-aa00-9cd5-f6e4-45615850cac0}">
          <p14:sldIdLst>
            <p14:sldId id="276"/>
            <p14:sldId id="277"/>
          </p14:sldIdLst>
        </p14:section>
        <p14:section name="9 · Sistem kita" id="{d837c15c-ae00-12c8-e2fc-b68c811bd71e}">
          <p14:sldIdLst>
            <p14:sldId id="278"/>
            <p14:sldId id="279"/>
            <p14:sldId id="280"/>
            <p14:sldId id="281"/>
            <p14:sldId id="282"/>
          </p14:sldIdLst>
        </p14:section>
        <p14:section name="Penutup" id="{4962a7ab-90ef-7eb3-b21e-93c139004d21}">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1F"/>
                </a:solidFill>
                <a:latin typeface="+mn-lt"/>
              </a:defRPr>
            </a:pPr>
            <a:r>
              <a:rPr sz="1300" b="0" i="0" u="none" strike="noStrike">
                <a:solidFill>
                  <a:srgbClr val="1B1B1F"/>
                </a:solidFill>
                <a:latin typeface="+mn-lt"/>
              </a:rPr>
              <a:t>Kandidat Spotify per keputusan (2.747)</a:t>
            </a:r>
          </a:p>
        </c:rich>
      </c:tx>
      <c:layout/>
      <c:overlay val="0"/>
    </c:title>
    <c:autoTitleDeleted val="0"/>
    <c:plotArea>
      <c:layout/>
      <c:barChart>
        <c:barDir val="bar"/>
        <c:grouping val="clustered"/>
        <c:varyColors val="0"/>
        <c:ser>
          <c:idx val="0"/>
          <c:order val="0"/>
          <c:tx>
            <c:strRef>
              <c:f>Sheet1!$B$1</c:f>
              <c:strCache>
                <c:ptCount val="1"/>
                <c:pt idx="0">
                  <c:v>jumlah</c:v>
                </c:pt>
              </c:strCache>
            </c:strRef>
          </c:tx>
          <c:spPr>
            <a:solidFill>
              <a:srgbClr val="E3262E"/>
            </a:solidFill>
            <a:effectLst/>
          </c:spPr>
          <c:invertIfNegative val="0"/>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dPt>
            <c:idx val="0"/>
            <c:invertIfNegative val="0"/>
            <c:bubble3D val="0"/>
            <c:spPr>
              <a:solidFill>
                <a:srgbClr val="E3262E"/>
              </a:solidFill>
              <a:effectLst/>
            </c:spPr>
          </c:dPt>
          <c:dPt>
            <c:idx val="1"/>
            <c:invertIfNegative val="0"/>
            <c:bubble3D val="0"/>
            <c:spPr>
              <a:solidFill>
                <a:srgbClr val="E3262E"/>
              </a:solidFill>
              <a:effectLst/>
            </c:spPr>
          </c:dPt>
          <c:dPt>
            <c:idx val="2"/>
            <c:invertIfNegative val="0"/>
            <c:bubble3D val="0"/>
            <c:spPr>
              <a:solidFill>
                <a:srgbClr val="E3262E"/>
              </a:solidFill>
              <a:effectLst/>
            </c:spPr>
          </c:dPt>
          <c:dPt>
            <c:idx val="3"/>
            <c:invertIfNegative val="0"/>
            <c:bubble3D val="0"/>
            <c:spPr>
              <a:solidFill>
                <a:srgbClr val="9CA3AF"/>
              </a:solidFill>
              <a:effectLst/>
            </c:spPr>
          </c:dPt>
          <c:dPt>
            <c:idx val="4"/>
            <c:invertIfNegative val="0"/>
            <c:bubble3D val="0"/>
            <c:spPr>
              <a:solidFill>
                <a:srgbClr val="9CA3AF"/>
              </a:solidFill>
              <a:effectLst/>
            </c:spPr>
          </c:dPt>
          <c:dPt>
            <c:idx val="5"/>
            <c:invertIfNegative val="0"/>
            <c:bubble3D val="0"/>
            <c:spPr>
              <a:solidFill>
                <a:srgbClr val="9CA3AF"/>
              </a:solidFill>
              <a:effectLst/>
            </c:spPr>
          </c:dPt>
          <c:dPt>
            <c:idx val="6"/>
            <c:invertIfNegative val="0"/>
            <c:bubble3D val="0"/>
            <c:spPr>
              <a:solidFill>
                <a:srgbClr val="9CA3AF"/>
              </a:solidFill>
              <a:effectLst/>
            </c:spPr>
          </c:dPt>
          <c:cat>
            <c:multiLvlStrRef>
              <c:f>Sheet1!$A$2:$A$8</c:f>
              <c:multiLvlStrCache>
                <c:ptCount val="7"/>
                <c:lvl>
                  <c:pt idx="0">
                    <c:v>diterima: artis original</c:v>
                  </c:pt>
                  <c:pt idx="1">
                    <c:v>diterima: cover artis lain</c:v>
                  </c:pt>
                  <c:pt idx="2">
                    <c:v>diterima: artis katalog kosong</c:v>
                  </c:pt>
                  <c:pt idx="3">
                    <c:v>ditolak: judul tidak cocok</c:v>
                  </c:pt>
                  <c:pt idx="4">
                    <c:v>ditolak: original tak ada di Spotify</c:v>
                  </c:pt>
                  <c:pt idx="5">
                    <c:v>ditolak: fuzzy tanpa artis</c:v>
                  </c:pt>
                  <c:pt idx="6">
                    <c:v>ditolak: rilis sebelum original</c:v>
                  </c:pt>
                </c:lvl>
              </c:multiLvlStrCache>
            </c:multiLvlStrRef>
          </c:cat>
          <c:val>
            <c:numRef>
              <c:f>Sheet1!$B$2:$B$8</c:f>
              <c:numCache>
                <c:formatCode>General</c:formatCode>
                <c:ptCount val="7"/>
                <c:pt idx="0">
                  <c:v>70</c:v>
                </c:pt>
                <c:pt idx="1">
                  <c:v>249</c:v>
                </c:pt>
                <c:pt idx="2">
                  <c:v>506</c:v>
                </c:pt>
                <c:pt idx="3">
                  <c:v>1555</c:v>
                </c:pt>
                <c:pt idx="4">
                  <c:v>168</c:v>
                </c:pt>
                <c:pt idx="5">
                  <c:v>102</c:v>
                </c:pt>
                <c:pt idx="6">
                  <c:v>97</c:v>
                </c:pt>
              </c:numCache>
            </c:numRef>
          </c:val>
        </c:ser>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1D5DB"/>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1F"/>
                </a:solidFill>
                <a:latin typeface="+mn-lt"/>
              </a:defRPr>
            </a:pPr>
            <a:r>
              <a:rPr sz="1300" b="0" i="0" u="none" strike="noStrike">
                <a:solidFill>
                  <a:srgbClr val="1B1B1F"/>
                </a:solidFill>
                <a:latin typeface="+mn-lt"/>
              </a:rPr>
              <a:t>Lagu per jumlah ISRC (194 dicari)</a:t>
            </a:r>
          </a:p>
        </c:rich>
      </c:tx>
      <c:layout/>
      <c:overlay val="0"/>
    </c:title>
    <c:autoTitleDeleted val="0"/>
    <c:plotArea>
      <c:layout/>
      <c:barChart>
        <c:barDir val="col"/>
        <c:grouping val="clustered"/>
        <c:varyColors val="0"/>
        <c:ser>
          <c:idx val="0"/>
          <c:order val="0"/>
          <c:tx>
            <c:strRef>
              <c:f>Sheet1!$B$1</c:f>
              <c:strCache>
                <c:ptCount val="1"/>
                <c:pt idx="0">
                  <c:v>jumlah</c:v>
                </c:pt>
              </c:strCache>
            </c:strRef>
          </c:tx>
          <c:spPr>
            <a:solidFill>
              <a:srgbClr val="2B2D33"/>
            </a:solidFill>
            <a:effectLst/>
          </c:spPr>
          <c:invertIfNegative val="0"/>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cat>
            <c:multiLvlStrRef>
              <c:f>Sheet1!$A$2:$A$6</c:f>
              <c:multiLvlStrCache>
                <c:ptCount val="5"/>
                <c:lvl>
                  <c:pt idx="0">
                    <c:v>0</c:v>
                  </c:pt>
                  <c:pt idx="1">
                    <c:v>1</c:v>
                  </c:pt>
                  <c:pt idx="2">
                    <c:v>2–3</c:v>
                  </c:pt>
                  <c:pt idx="3">
                    <c:v>4–6</c:v>
                  </c:pt>
                  <c:pt idx="4">
                    <c:v>7+</c:v>
                  </c:pt>
                </c:lvl>
              </c:multiLvlStrCache>
            </c:multiLvlStrRef>
          </c:cat>
          <c:val>
            <c:numRef>
              <c:f>Sheet1!$B$2:$B$6</c:f>
              <c:numCache>
                <c:formatCode>General</c:formatCode>
                <c:ptCount val="5"/>
                <c:pt idx="0">
                  <c:v>55</c:v>
                </c:pt>
                <c:pt idx="1">
                  <c:v>47</c:v>
                </c:pt>
                <c:pt idx="2">
                  <c:v>31</c:v>
                </c:pt>
                <c:pt idx="3">
                  <c:v>16</c:v>
                </c:pt>
                <c:pt idx="4">
                  <c:v>45</c:v>
                </c:pt>
              </c:numCache>
            </c:numRef>
          </c:val>
        </c:ser>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1D5DB"/>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1F"/>
                </a:solidFill>
                <a:latin typeface="+mn-lt"/>
              </a:defRPr>
            </a:pPr>
            <a:r>
              <a:rPr sz="1300" b="0" i="0" u="none" strike="noStrike">
                <a:solidFill>
                  <a:srgbClr val="1B1B1F"/>
                </a:solidFill>
                <a:latin typeface="+mn-lt"/>
              </a:rPr>
              <a:t>Tautan ISRC per relasi artis</a:t>
            </a:r>
          </a:p>
        </c:rich>
      </c:tx>
      <c:layout/>
      <c:overlay val="0"/>
    </c:title>
    <c:autoTitleDeleted val="0"/>
    <c:plotArea>
      <c:layout/>
      <c:barChart>
        <c:barDir val="bar"/>
        <c:grouping val="clustered"/>
        <c:varyColors val="0"/>
        <c:ser>
          <c:idx val="0"/>
          <c:order val="0"/>
          <c:tx>
            <c:strRef>
              <c:f>Sheet1!$B$1</c:f>
              <c:strCache>
                <c:ptCount val="1"/>
                <c:pt idx="0">
                  <c:v>jumlah</c:v>
                </c:pt>
              </c:strCache>
            </c:strRef>
          </c:tx>
          <c:spPr>
            <a:solidFill>
              <a:srgbClr val="E3262E"/>
            </a:solidFill>
            <a:effectLst/>
          </c:spPr>
          <c:invertIfNegative val="0"/>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dPt>
            <c:idx val="0"/>
            <c:invertIfNegative val="0"/>
            <c:bubble3D val="0"/>
            <c:spPr>
              <a:solidFill>
                <a:srgbClr val="E3262E"/>
              </a:solidFill>
              <a:effectLst/>
            </c:spPr>
          </c:dPt>
          <c:dPt>
            <c:idx val="1"/>
            <c:invertIfNegative val="0"/>
            <c:bubble3D val="0"/>
            <c:spPr>
              <a:solidFill>
                <a:srgbClr val="2B2D33"/>
              </a:solidFill>
              <a:effectLst/>
            </c:spPr>
          </c:dPt>
          <c:dPt>
            <c:idx val="2"/>
            <c:invertIfNegative val="0"/>
            <c:bubble3D val="0"/>
            <c:spPr>
              <a:solidFill>
                <a:srgbClr val="9CA3AF"/>
              </a:solidFill>
              <a:effectLst/>
            </c:spPr>
          </c:dPt>
          <c:cat>
            <c:multiLvlStrRef>
              <c:f>Sheet1!$A$2:$A$4</c:f>
              <c:multiLvlStrCache>
                <c:ptCount val="3"/>
                <c:lvl>
                  <c:pt idx="0">
                    <c:v>artis original</c:v>
                  </c:pt>
                  <c:pt idx="1">
                    <c:v>artis lain (cover)</c:v>
                  </c:pt>
                  <c:pt idx="2">
                    <c:v>artis katalog kosong</c:v>
                  </c:pt>
                </c:lvl>
              </c:multiLvlStrCache>
            </c:multiLvlStrRef>
          </c:cat>
          <c:val>
            <c:numRef>
              <c:f>Sheet1!$B$2:$B$4</c:f>
              <c:numCache>
                <c:formatCode>General</c:formatCode>
                <c:ptCount val="3"/>
                <c:pt idx="0">
                  <c:v>63</c:v>
                </c:pt>
                <c:pt idx="1">
                  <c:v>234</c:v>
                </c:pt>
                <c:pt idx="2">
                  <c:v>476</c:v>
                </c:pt>
              </c:numCache>
            </c:numRef>
          </c:val>
        </c:ser>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1D5DB"/>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1F"/>
                </a:solidFill>
                <a:latin typeface="+mn-lt"/>
              </a:defRPr>
            </a:pPr>
            <a:r>
              <a:rPr sz="1300" b="0" i="0" u="none" strike="noStrike">
                <a:solidFill>
                  <a:srgbClr val="1B1B1F"/>
                </a:solidFill>
                <a:latin typeface="+mn-lt"/>
              </a:rPr>
              <a:t>Lagu per jumlah video (89 dicari)</a:t>
            </a:r>
          </a:p>
        </c:rich>
      </c:tx>
      <c:layout/>
      <c:overlay val="0"/>
    </c:title>
    <c:autoTitleDeleted val="0"/>
    <c:plotArea>
      <c:layout/>
      <c:barChart>
        <c:barDir val="col"/>
        <c:grouping val="clustered"/>
        <c:varyColors val="0"/>
        <c:ser>
          <c:idx val="0"/>
          <c:order val="0"/>
          <c:tx>
            <c:strRef>
              <c:f>Sheet1!$B$1</c:f>
              <c:strCache>
                <c:ptCount val="1"/>
                <c:pt idx="0">
                  <c:v>jumlah</c:v>
                </c:pt>
              </c:strCache>
            </c:strRef>
          </c:tx>
          <c:spPr>
            <a:solidFill>
              <a:srgbClr val="2B2D33"/>
            </a:solidFill>
            <a:effectLst/>
          </c:spPr>
          <c:invertIfNegative val="0"/>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cat>
            <c:multiLvlStrRef>
              <c:f>Sheet1!$A$2:$A$6</c:f>
              <c:multiLvlStrCache>
                <c:ptCount val="5"/>
                <c:lvl>
                  <c:pt idx="0">
                    <c:v>0</c:v>
                  </c:pt>
                  <c:pt idx="1">
                    <c:v>1–3</c:v>
                  </c:pt>
                  <c:pt idx="2">
                    <c:v>4–10</c:v>
                  </c:pt>
                  <c:pt idx="3">
                    <c:v>11–20</c:v>
                  </c:pt>
                  <c:pt idx="4">
                    <c:v>21+</c:v>
                  </c:pt>
                </c:lvl>
              </c:multiLvlStrCache>
            </c:multiLvlStrRef>
          </c:cat>
          <c:val>
            <c:numRef>
              <c:f>Sheet1!$B$2:$B$6</c:f>
              <c:numCache>
                <c:formatCode>General</c:formatCode>
                <c:ptCount val="5"/>
                <c:pt idx="0">
                  <c:v>9</c:v>
                </c:pt>
                <c:pt idx="1">
                  <c:v>27</c:v>
                </c:pt>
                <c:pt idx="2">
                  <c:v>15</c:v>
                </c:pt>
                <c:pt idx="3">
                  <c:v>14</c:v>
                </c:pt>
                <c:pt idx="4">
                  <c:v>24</c:v>
                </c:pt>
              </c:numCache>
            </c:numRef>
          </c:val>
        </c:ser>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1D5DB"/>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1F"/>
                </a:solidFill>
                <a:latin typeface="+mn-lt"/>
              </a:defRPr>
            </a:pPr>
            <a:r>
              <a:rPr sz="1300" b="0" i="0" u="none" strike="noStrike">
                <a:solidFill>
                  <a:srgbClr val="1B1B1F"/>
                </a:solidFill>
                <a:latin typeface="+mn-lt"/>
              </a:rPr>
              <a:t>Video per tipe</a:t>
            </a:r>
          </a:p>
        </c:rich>
      </c:tx>
      <c:layout/>
      <c:overlay val="0"/>
    </c:title>
    <c:autoTitleDeleted val="0"/>
    <c:plotArea>
      <c:layout/>
      <c:barChart>
        <c:barDir val="bar"/>
        <c:grouping val="clustered"/>
        <c:varyColors val="0"/>
        <c:ser>
          <c:idx val="0"/>
          <c:order val="0"/>
          <c:tx>
            <c:strRef>
              <c:f>Sheet1!$B$1</c:f>
              <c:strCache>
                <c:ptCount val="1"/>
                <c:pt idx="0">
                  <c:v>jumlah</c:v>
                </c:pt>
              </c:strCache>
            </c:strRef>
          </c:tx>
          <c:spPr>
            <a:solidFill>
              <a:srgbClr val="2B2D33"/>
            </a:solidFill>
            <a:effectLst/>
          </c:spPr>
          <c:invertIfNegative val="0"/>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dPt>
            <c:idx val="0"/>
            <c:invertIfNegative val="0"/>
            <c:bubble3D val="0"/>
            <c:spPr>
              <a:solidFill>
                <a:srgbClr val="2B2D33"/>
              </a:solidFill>
              <a:effectLst/>
            </c:spPr>
          </c:dPt>
          <c:dPt>
            <c:idx val="1"/>
            <c:invertIfNegative val="0"/>
            <c:bubble3D val="0"/>
            <c:spPr>
              <a:solidFill>
                <a:srgbClr val="2B2D33"/>
              </a:solidFill>
              <a:effectLst/>
            </c:spPr>
          </c:dPt>
          <c:dPt>
            <c:idx val="2"/>
            <c:invertIfNegative val="0"/>
            <c:bubble3D val="0"/>
            <c:spPr>
              <a:solidFill>
                <a:srgbClr val="2B2D33"/>
              </a:solidFill>
              <a:effectLst/>
            </c:spPr>
          </c:dPt>
          <c:dPt>
            <c:idx val="3"/>
            <c:invertIfNegative val="0"/>
            <c:bubble3D val="0"/>
            <c:spPr>
              <a:solidFill>
                <a:srgbClr val="E3262E"/>
              </a:solidFill>
              <a:effectLst/>
            </c:spPr>
          </c:dPt>
          <c:dPt>
            <c:idx val="4"/>
            <c:invertIfNegative val="0"/>
            <c:bubble3D val="0"/>
            <c:spPr>
              <a:solidFill>
                <a:srgbClr val="2B2D33"/>
              </a:solidFill>
              <a:effectLst/>
            </c:spPr>
          </c:dPt>
          <c:dPt>
            <c:idx val="5"/>
            <c:invertIfNegative val="0"/>
            <c:bubble3D val="0"/>
            <c:spPr>
              <a:solidFill>
                <a:srgbClr val="E3262E"/>
              </a:solidFill>
              <a:effectLst/>
            </c:spPr>
          </c:dPt>
          <c:dPt>
            <c:idx val="6"/>
            <c:invertIfNegative val="0"/>
            <c:bubble3D val="0"/>
            <c:spPr>
              <a:solidFill>
                <a:srgbClr val="2B2D33"/>
              </a:solidFill>
              <a:effectLst/>
            </c:spPr>
          </c:dPt>
          <c:dPt>
            <c:idx val="7"/>
            <c:invertIfNegative val="0"/>
            <c:bubble3D val="0"/>
            <c:spPr>
              <a:solidFill>
                <a:srgbClr val="2B2D33"/>
              </a:solidFill>
              <a:effectLst/>
            </c:spPr>
          </c:dPt>
          <c:dPt>
            <c:idx val="8"/>
            <c:invertIfNegative val="0"/>
            <c:bubble3D val="0"/>
            <c:spPr>
              <a:solidFill>
                <a:srgbClr val="2B2D33"/>
              </a:solidFill>
              <a:effectLst/>
            </c:spPr>
          </c:dPt>
          <c:cat>
            <c:multiLvlStrRef>
              <c:f>Sheet1!$A$2:$A$10</c:f>
              <c:multiLvlStrCache>
                <c:ptCount val="9"/>
                <c:lvl>
                  <c:pt idx="0">
                    <c:v>lainnya</c:v>
                  </c:pt>
                  <c:pt idx="1">
                    <c:v>cover</c:v>
                  </c:pt>
                  <c:pt idx="2">
                    <c:v>lirik</c:v>
                  </c:pt>
                  <c:pt idx="3">
                    <c:v>official audio</c:v>
                  </c:pt>
                  <c:pt idx="4">
                    <c:v>karaoke</c:v>
                  </c:pt>
                  <c:pt idx="5">
                    <c:v>official MV</c:v>
                  </c:pt>
                  <c:pt idx="6">
                    <c:v>live</c:v>
                  </c:pt>
                  <c:pt idx="7">
                    <c:v>remix</c:v>
                  </c:pt>
                  <c:pt idx="8">
                    <c:v>instrumental</c:v>
                  </c:pt>
                </c:lvl>
              </c:multiLvlStrCache>
            </c:multiLvlStrRef>
          </c:cat>
          <c:val>
            <c:numRef>
              <c:f>Sheet1!$B$2:$B$10</c:f>
              <c:numCache>
                <c:formatCode>General</c:formatCode>
                <c:ptCount val="9"/>
                <c:pt idx="0">
                  <c:v>477</c:v>
                </c:pt>
                <c:pt idx="1">
                  <c:v>185</c:v>
                </c:pt>
                <c:pt idx="2">
                  <c:v>145</c:v>
                </c:pt>
                <c:pt idx="3">
                  <c:v>144</c:v>
                </c:pt>
                <c:pt idx="4">
                  <c:v>94</c:v>
                </c:pt>
                <c:pt idx="5">
                  <c:v>92</c:v>
                </c:pt>
                <c:pt idx="6">
                  <c:v>70</c:v>
                </c:pt>
                <c:pt idx="7">
                  <c:v>59</c:v>
                </c:pt>
                <c:pt idx="8">
                  <c:v>1</c:v>
                </c:pt>
              </c:numCache>
            </c:numRef>
          </c:val>
        </c:ser>
        <c:dLbls>
          <c:numFmt formatCode="[&gt;=1000]#&quot;.&quot;##0;0" sourceLinked="0"/>
          <c:txPr>
            <a:bodyPr/>
            <a:lstStyle/>
            <a:p>
              <a:pPr>
                <a:defRPr b="0" i="0" strike="noStrike" sz="1100" u="none">
                  <a:solidFill>
                    <a:srgbClr val="1B1B1F"/>
                  </a:solidFill>
                  <a:latin typeface="+mn-lt"/>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1D5DB"/>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Saya akan mempresentasikan solusi technical test Data Engineer untuk Massive Music: pipeline yang mengambil metadata lagu ASLI dari Spotify Web API dan YouTube Data API, membersihkannya dengan pandas, menyimpannya ke ClickHouse dengan metode upsert dan histori SCD Type 2, lalu menjawab dua pertanyaan bisnis di kanan: berapa video per lagu di YouTube, dan berapa ISRC per lagu di Spotify.
Presentasi dibagi sembilan bagian: logika kode Airflow, dbt, dan Superset; insight dari dashboard; service Docker Compose; arsitektur medallion dan ERD; strategi data quality; kendala API dan capacity planning; lalu penjelasan sistem secara keseluruhan.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mengikuti sembilan sudut pandang. Tiga bagian pertama membedah kode: orkestrasi di Airflow, transformasi di dbt, dan dashboard di Superset. Bagian empat membaca insight dari dashboard dengan data asli. Bagian lima sampai tujuh membahas infrastruktur (Docker Compose), arsitektur data (medallion + ERD), dan strategi data quality. Bagian delapan menghitung kapasitas berdasarkan kuota API yang diukur dari data asli, dan bagian sembilan merangkum fitur sistem: alert email, karantina, SCD Type 2, upsert, dan lainnya.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Seluruh orkestrasi ada di SATU DAG bernama music_catalog_elt, dan seluruh kodenya ada di satu file Python yang dibagi 20 section bernomor. Tujuannya debugging: kalau ada error, cukup buka satu file.
Alurnya: preflight memvalidasi konfigurasi, ClickHouse, DDL, dan kredensial Spotify. load_catalog memuat katalog. Lalu cabang Spotify dan YouTube berjalan paralel: extract menyimpan respons API mentah, preprocess membersihkan dengan pandas lalu upsert ke layer clean. Setelah keduanya selesai, dbt_transform membangun model (Cosmos merender 61 task dbt), dq_checks menjalankan 10 cek statistik, dan publish_dashboards memperbarui Superset. notify_quarantine berjalan dengan trigger rule all_done sehingga tetap mengirim email karantina walau ada task yang gagal.
Di kanan: bukti run nyata 15 Oktober — 70 task instance hijau dalam 5 menit 17 detik. DAG dijadwalkan 15:15 WIB, setelah kuota YouTube reset (00:00 waktu Pasifik), hanya incremental, dan setiap task yang gagal setelah retry terakhir mengirim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merangkum tanggung jawab setiap task. Polanya konsisten: setiap task membaca dari satu layer dan menulis ke layer berikutnya, dan setiap task menulis status, jumlah baris, panggilan API, serta error ke ops.pipeline_runs.
Hal yang perlu ditekankan: preflight gagal cepat sebelum kuota API terpakai; ekstraksi hanya menyimpan respons mentah; seluruh pembersihan terjadi di task preprocess dengan pandas; dan dbt dijalankan per model lewat Cosmos sehingga satu test yang gagal tidak menjatuhkan seluruh transformasi. publish_dashboards adalah task terakhir karena dataset Superset menunjuk ke tabel marts yang dibangun dbt.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kiri adalah inti logika incremental: lagu hanya dikirim ke API bila belum pernah dicari, sudah basi (7 hari untuk Spotify, 30 hari untuk YouTube), atau berubah di katalog — yaitu punya versi SCD2 yang lebih baru dari pencarian terakhir. Urutannya: yang belum pernah dicari dulu, lalu yang paling basi, supaya kuota dipakai adil.
Kanan: kebijakan HTTP. HTTP 429 dengan Retry-After pendek di-retry, tapi kalau Retry-After lebih dari 120 detik — seperti kuota harian Spotify yang meminta tunggu 23 jam — task TIDAK menunggu, melainkan selesai sebagai 'partial' dan run berikutnya melanjutkan. Error 5xx di-retry dengan backoff eksponensial, 4xx lain tidak di-retry agar tidak membuang kuota, dan circuit breaker menghentikan task setelah 10 kegagalan beruntun.
Idempotensi: raw diproses sekali lewat watermark, buffer flush tiap 200 baris, dan batch_id sama dengan run_id. Buktinya di bawah kiri: run ulang katalog tanpa perubahan menulis 0 baris, dan run yang terhenti di tengah ekstraksi tidak kehilangan satu pun respons.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dbt adalah lapisan transformasi yang berjalan DI DALAM ClickHouse. Inputnya layer clean (silver) yang ditulis pandas. Ada 28 model: 7 staging, 2 intermediate, dan 19 marts.
Staging mengambil versi SCD2 yang aktif dan menambahkan kunci matching seperti title_base dan artist_tokens. Intermediate adalah otak pencocokan: setiap kandidat dari hasil pencarian dinilai lalu diputuskan diterima atau ditolak beserta alasannya — 2.747 kandidat Spotify dan 4.120 kandidat YouTube pada run terakhir. Marts berisi dimensi, bridge, histori SCD2, mart jawaban, dan view monitoring untuk dashboard.
Empat keputusan desain di bawah: tabel diganti secara atomik sehingga dashboard tidak pernah membaca tabel setengah jadi; setiap model menjadi task Airflow sendiri lewat Cosmos; aturan normalisasi ada di macro sebagai satu sumber kebenaran; dan ambang fuzzy disimpan di vars.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logika terpenting di dbt: memutuskan apakah sebuah track Spotify benar rekaman dari lagu katalog. Ada dua bukti — bukti judul (dari yang paling ketat sampai fuzzy) dan bukti artis — lalu keputusan diambil berurutan dengan multiIf sehingga mudah diaudit.
Dua aturan domain saya ukur di data asli: cover tidak mungkin rilis sebelum original, dan bila artis original tidak ada di Spotify maka rekaman artis lain berjudul sama tidak bisa diverifikasi sebagai cover. Semua kandidat yang ditolak tetap disimpan dengan alasannya — chart di kanan menunjukkan distribusinya: merah diterima, abu-abu ditolak.
Hasil akhirnya dihitung sebagai uniqExact ISRC per lagu, karena rekaman yang sama bisa muncul di beberapa rilis (single, album, kompilasi). Untuk YouTube, judul lagu harus muncul utuh di judul video, video non-musik ditolak, dan setiap video diklasifikasikan tipenya.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Superset terdiri dari tiga file. Dockerfile menambahkan driver yang tidak dibawa image resmi: clickhouse-connect untuk dialek clickhousedb dan psycopg2 untuk metadata di Postgres. superset-init.sh adalah bootstrap sekali jalan: migrasi metadata, membuat admin secara idempoten, dan sinkronisasi role. Dashboard sengaja TIDAK dibuat di sini karena tabel marts baru ada setelah run pertama pipeline.
superset_config.py membaca semua secret dari environment, CSRF tetap aktif, cache data 10 menit, dan zona waktu Asia/Jakarta.
Alur koneksi di bawah: metadata Superset disimpan di Postgres, sedangkan data dibaca dari ClickHouse dengan user superset_ro yang hanya boleh SELECT pada marts, ops, dan dq, serta dibatasi 60 detik dan 600 MB per query — dashboard berat tidak bisa mengganggu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tidak dibuat manual lewat UI, tetapi sebagai kode di SECTION 19 file DAG, dan dipublikasikan oleh task terakhir publish_dashboards lewat REST API Superset.
Alurnya enam langkah: login dengan JWT dan token CSRF, memastikan koneksi database ClickHouse dengan user read-only, membuat atau me-refresh dataset untuk setiap tabel marts, membuat atau memperbarui chart berdasarkan nama, menyusun layout grid, lalu mempublikasikan dashboard dengan slug tetap. Karena setiap objek dicari berdasarkan nama lalu di-update, re-run selalu aman dan tidak menghasilkan duplikat.
Hasilnya tiga dashboard dengan total 27 chart: Song Catalog untuk jawaban bisnis, Pipeline Health untuk operasional, dan Data Quarantine untuk record yang ditolak validasi.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pertanyaan Spotify dari dashboard Song Catalog, berdasarkan data asli. Dari 194 lagu yang sudah dicari (sisanya menunggu kuota harian Spotify), 139 lagu punya minimal satu ISRC dengan total 773 ISRC unik.
Insight pertama: tingkat kecocokan 71,6%. Insight kedua: pada lagu yang artis originalnya diketahui, rekaman artis lain (cover) jauh lebih banyak daripada rekaman original — nilai katalog publishing ada di cover, bukan hanya di rekaman asli. Insight ketiga bersifat actionable: sebagian besar tautan ISRC berasal dari lagu tanpa ORIGINAL ARTIST di katalog, yang hanya bisa dicocokkan dari judul. Melengkapi kolom artis di sheet adalah cara termurah menaikkan presisi, dan pipeline otomatis mencari ulang lagu yang berubah.
Kolom isrc_count dipisah per relasi (original, artis lain, tanpa artis) sehingga bisnis bisa memilih definisi konservatif atau inklusif dari tabel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pertanyaan YouTube. Dari 89 lagu yang sudah dicari pada hari pertama (dibatasi kuota resmi 10.000 unit/hari), 80 lagu punya video yang lolos aturan matching, total 1.267 video unik.
Insight: video yang berasal dari channel resmi artis atau channel Topic hanya sekitar 12%; mayoritas diunggah channel lain — cover, video lirik, dan karaoke. Sekitar separuh video berstatus licensedContent, artinya sudah diklaim pemilik konten — sisanya adalah kandidat yang bisa ditinjau tim publishing untuk klaim Content ID.
Catatan metode: satu pencarian per lagu mengembalikan maksimal 50 video teratas, sehingga lagu yang sangat populer (video_count 50) sebenarnya punya lebih banyak video. Sisa 610 lagu dicari otomatis pada run harian berikutnya, dan status pending_quota membuat angka nol sementara tidak menyesatkan.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dashboard operasional. Pipeline Health menunjukkan kondisi run: data segar, kuota YouTube terpakai 8.982 dari anggaran 9.000 unit — artinya backfill memaksimalkan kuota tanpa pernah melewatinya — dan 7.525 perubahan SCD2 tercatat pada load pertama.
Seluruh 10 cek data quality lulus. Angka satu task gagal dan 17 alert email yang terlihat di screenshot berasal dari periode pengujian, termasuk uji kegagalan yang disengaja (ClickHouse dimatikan untuk memastikan email kegagalan terkirim).
Dashboard Data Quarantine menunjukkan nol: semua data asli lolos validasi. Dashboard dan email tetap siap — begitu ada baris katalog atau respons API yang cacat, record tersebut muncul di sini lengkap dengan alasannya.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docker-compose.yml menjalankan 8 service dalam satu jaringan. Postgres hanya untuk metadata Airflow dan Superset — warehouse-nya ClickHouse. Airflow 3 dipecah menjadi api-server, scheduler, dan dag-processor; dengan LocalExecutor, task dan dbt berjalan di scheduler sehingga tidak perlu Redis atau Celery worker.
Ada dua service sekali jalan: airflow-init yang membangun image dan migrasi database, serta superset-init untuk bootstrap Superset. Service lain menunggu keduanya selesai.
Data persisten disimpan di empat volume bernama, sedangkan folder dags di-mount langsung sehingga perubahan kode DAG dan dbt langsung terbaca tanpa rebuild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start dibuat deterministik dalam tiga fase: database harus sehat dulu (healthcheck), lalu bootstrap sekali jalan, baru service yang berjalan terus. Ini mencegah error klasik seperti Airflow start sebelum database siap.
Enam keputusan desain: tidak ada secret di file compose — semua kredensial wajib ada di .env dan compose menolak start bila kosong; LocalExecutor cukup untuk skala ini; dbt dipasang di virtualenv terpisah karena dbt dan Airflow mem-pin library yang sama; konfigurasi ClickHouse dibuat ramah laptop; image dibangun sekali; dan DAG langsung aktif sehingga satu perintah docker compose up sudah menjalankan pipeline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 medallion diwujudkan sebagai database terpisah di ClickHouse. Bronze adalah database raw: respons API disimpan apa adanya, append-only, terkompresi ZSTD. Karena data mentah selalu tersimpan, bug parsing cukup diperbaiki lalu diproses ulang tanpa memakai kuota API lagi.
Silver adalah database clean: hasil pandas yang sudah divalidasi, distandarkan, dan di-dedup, disimpan dengan ReplacingMergeTree sehingga load bersifat upsert, dan tiga tabel utama memakai SCD Type 2.
Gold adalah database marts yang dibangun dbt melalui staging dan intermediate: model dimensional, bridge, histori, mart jawaban, dan view monitoring. Di samping itu ada database dq untuk karantina dan ops untuk observability. Setiap layer punya satu penulis yang jelas, dan analis hanya bisa membaca Gold, dq, dan 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ERD layer Silver. Tiga tabel utama memakai SCD Type 2 dengan kunci gabungan business key plus version_no: catalog_songs, spotify_tracks, dan youtube_videos. Tabel searches menyimpan status pencarian terakhir per lagu, dan search_hits menyimpan setiap kandidat yang dikembalikan API — inilah input untuk logika matching di dbt.
Perlu dicatat: ClickHouse tidak menegakkan foreign key. Karena itu relasi di ERD bersifat logis dan integritasnya diuji oleh dbt dengan test relationships dan rekonsiliasi pada setiap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ERD layer Gold. Pusatnya dim_song — satu baris per lagu katalog. Cabang Spotify: lagu ke bridge_song_recording ke dim_recording (satu baris per ISRC) ke dim_spotify_track (rilis). Cabang YouTube: lagu ke bridge_song_video ke dim_youtube_video ke dim_youtube_channel.
Bridge bukan sekadar tabel penghubung: ia menyimpan bukti pencocokan — match_type, confidence, tipe video, dan apakah video dari channel resmi — sehingga relasi hasil inferensi bisa diaudit.
mart_song_overview berelasi 1:1 dengan dim_song dan memuat kedua jawaban beserta kolom status yang menjelaskan setiap angka nol. Jadi kedua pertanyaan bisnis dijawab oleh satu query sederhana.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 data quality berlapis tiga, dan setiap lapis punya bukti yang tersimpan. Lapis pertama saat load dengan pandas: kontrak skema sheet, aturan per baris, dedup, dan guard anomali seperti sheet kosong atau lebih dari 20% lagu hilang. Baris yang gagal masuk karantina dan memicu email.
Lapis kedua adalah test dbt yang berjalan setelah setiap model: 76 data test dan 1 unit test, termasuk integritas SCD2 dan rekonsiliasi. Kegagalan disimpan di database dq dan menghentikan model hilir.
Lapis ketiga adalah 10 cek statistik setelah transformasi: error rate API, match rate, drift jumlah rekaman, dan volume perubahan SCD2. Hasilnya disimpan di ops.dq_results dan tampil di Pipeline Health; cek dengan severity error menggagalkan task dan mengirim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atas adalah aturan validasi pandas per entitas. Aturan dievaluasi berurutan dan aturan pertama yang gagal menjadi reject_reason, sehingga setiap record di karantina punya satu alasan yang jelas. Standardisasi dilakukan sebelum validasi: misalnya ISRC dinormalisasi ke huruf besar tanpa tanda hubung, lalu formatnya divalidasi.
Kartu di bawah menjawab langsung penanganan data hilang dan tidak konsisten: nilai yang sekadar kosong disimpan NULL dan dijelaskan kolom status — bukan error; format yang tidak konsisten distandarkan; identifier tidak valid dikarantina; duplikat diselesaikan pada business key; kehilangan data diam-diam dideteksi test; dan kerusakan sumber dideteksi guard dan circuit breaker.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di data asli pada run terakhir. Kesepuluh cek statistik lulus: katalog berisi 699 lagu aktif, tidak ada yang dikarantina, overview mencakup setiap lagu, error rate API nol, dan match rate di atas ambang — Spotify 71,6% dan YouTube 89,9%. Cek drift jumlah rekaman bernilai 17,3%, masih di bawah ambang 30%; tujuannya mendeteksi kehilangan data diam-diam antar run.
Di kanan: 24 dari 24 unit test pytest lulus, dbt build 105 dari 105 lulus (28 model ditambah 77 test), nol record dikarantina, dan empat singular test menjaga integritas SCD2, cakupan, dan rekonsiliasi. Integration test SCD2 dan email karantina dijalankan di engine ClickHouse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Kendala utama pipeline ini bukan compute, melainkan kuota API. YouTube punya kuota resmi 10.000 unit per hari; satu pencarian (search.list) memakan 100 unit berapa pun jumlah hasilnya, sehingga kita selalu mengambil 50 hasil — recall tambahan tanpa biaya. Detail video (videos.list) hanya 1 unit per 50 video.
Untuk Spotify, ini temuan dari data asli, bukan asumsi: aplikasi Development Mode menerima sekitar 600 call per hari, lalu API menjawab HTTP 429 QUOTA_EXCEEDED dengan Retry-After 82.029 detik, sekitar 23 jam. Selain itu limit pencarian maksimal 10 per halaman dan field next/total tidak bisa dipercaya.
Respons pipeline di kanan: kuota diperlakukan sebagai anggaran yang dicek sebelum setiap call, task tidak pernah menunggu 23 jam melainkan berhenti rapi sebagai 'partial', dan run berikutnya melanjutkan backlog dengan prioritas yang adil.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Perhitungan kapasitas. YouTube: anggaran harian 10.000 unit dikali faktor aman 90% = 9.000 unit. Satu lagu butuh 100 unit untuk pencarian ditambah 1 unit detail video, jadi 101 unit. 9.000 dibagi 101 = sekitar 89 lagu per hari, dan 699 lagu katalog terisi penuh dalam sekitar 8 hari. Angka ini terbukti di hari pertama: 89 lagu memakai 8.982 unit.
Spotify: sekitar 600 call per hari sebelum 429 dengan Retry-After 23 jam — ini temuan dari data asli. Rasio aktual 622 call untuk 194 lagu, sekitar 3,2 call per lagu, sehingga sekitar 187 lagu per hari dan katalog penuh dalam sekitar 4 hari. Jadi YouTube adalah bottleneck backfill.
Setelah backfill selesai, beban harian turun: refresh Spotify mingguan butuh sekitar 320 call per hari dan refresh YouTube bulanan sekitar 2.353 unit per hari. Dengan kuota sekarang, katalog bisa tumbuh sampai sekitar 1.300 lagu (batas Spotify). Lebih dari itu: perpanjang refresh window atau ajukan kuota tambahan (Spotify Extended Quota Mode, YouTube quota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Konfigurasi email. Semua alert dikirim ke fachrifa1898@gmail.com. Konfigurasinya hanya di file .env: SMTP Gmail di port 587 dengan STARTTLS, dan password berupa Gmail App Password — tidak ada kredensial di kode.
Ada dua pemicu. Pertama, pipeline error: on_failure_callback dipasang di default_args sehingga berlaku untuk semua task, dan terpicu setelah retry terakhir gagal. Email berisi nama task, run, attempt, waktu WIB, pesan error, dan link log Airflow. Kedua, data dikarantina: task notify_quarantine berjalan dengan trigger rule all_done, jadi tetap mengirim ringkasan walaupun ada task lain yang gagal — berisi jumlah per alasan, record baru versus berulang, dan link dashboard.
Setiap percobaan kirim dicatat di ops.alert_log dengan status sent, skipped, atau failed, dan tampil di dashboard Pipeline Health. Tampilan email di kanan adalah hasil uji (diuji dengan server SMTP lokal); untuk Gmail cukup mengisi App Password di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Karantina data. Setiap record yang gagal validasi tidak dibuang dan tidak dimuat, melainkan disimpan di dq.quarantine_records lengkap dengan sumber, entitas, key, label yang mudah dibaca, alasan, dan isi record sebagai JSON.
Setiap run yang mengkarantina data mengirim email ringkasan, dan semuanya tampil di dashboard Data Quarantine di Superset: jumlah per run, per alasan, per sumber, per hari, dan tabel record. Alurnya ditutup dengan perbaikan di sumber — misalnya sheet katalog — dan run berikutnya memuat ulang baris tersebut secara otomatis.
Pada data asli tidak ada record yang ditolak. Untuk membuktikan alurnya, saya menguji dengan empat baris sheet yang sengaja dibuat cacat: hasilnya empat record karantina dengan alasan masing-masing dan satu email, sementara baris yang valid tetap dimuat.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 load ke ClickHouse adalah UPSERT dengan engine ReplacingMergeTree(updated_at). Caranya: setiap perubahan ditulis sebagai INSERT baris baru dengan ORDER BY key yang sama; ClickHouse menyimpan versi dengan updated_at terbaru — saat merge di background, atau langsung saat dibaca dengan FINAL.
Kenapa bukan UPDATE? Di ClickHouse, ALTER UPDATE adalah mutation yang menulis ulang part data secara asinkron dan mahal. Insert-as-upsert jauh lebih cepat, idempoten, dan aman di-retry — cocok untuk pipeline yang bisa gagal di tengah jalan.
Ada dua jenis: upsert status terbaru untuk tabel seperti hasil pencarian dan run log, dan upsert plus SCD Type 2 untuk tiga tabel utama. Logikanya di SECTION 9: pandas menghitung baris mana yang harus ditulis, sehingga run ulang tanpa perubahan benar-benar menulis nol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SCD Type 2 diterapkan pada tiga tabel: katalog lagu, track Spotify, dan video YouTube. Kuncinya business key plus version_no. Setiap load, pandas membandingkan hash SHA-256 dari kolom yang dilacak dengan versi yang aktif.
Bila atribut yang dilacak berubah, versi lama ditutup — valid_to diisi waktu sekarang dan is_current menjadi 0 — lalu versi baru dibuka. Atribut type-1 seperti jumlah views cukup ditimpa tanpa versi baru. Key yang hilang dari sumber ditutup dengan is_deleted = 1, dan bila data tidak berubah, tidak ada yang ditulis sama sekali.
Contoh di kanan: ketika artis original sebuah lagu dilengkapi di katalog, versi 1 ditutup dan versi 2 dibuka, dan karena versinya baru, lagu itu otomatis dicari ulang ke API. Pengamannya: guard hapus massal 20%, test integritas SCD2 di dbt, dan integration test di ClickHouse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Selain empat fitur utama tadi, ada delapan fitur pendukung. Raw-first membuat pemrosesan ulang tidak pernah memakan kuota. Pipeline hanya incremental dan idempoten, sehingga recovery cukup dengan clear task yang gagal. Kuota diperlakukan sebagai anggaran, bukan error.
Dari sisi keamanan: tidak ada secret di kode, dan akses database dipisah least-privilege antara user ETL dan user BI. Dari sisi maintainability: seluruh logika ada di satu file DAG yang ditulis tanpa class atau comprehension supaya mudah di-step dengan debugger, dan semuanya teruji — unit test, dbt build, dan integration test di ClickHouse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Pipeline ini menjawab kedua pertanyaan dari data asli dalam satu tabel; datanya bisa dipercaya karena divalidasi, dikarantina, dicatat historinya, dan diuji tiga lapis; dan ia berjalan sendiri setiap hari secara incremental dan sadar kuota.
Langkah berikutnya: menambah Content ID sebagai sumber YouTube kelas publisher, membuat golden set untuk mengukur presisi matching, deployment terkelola di cloud, dan mengajukan kuota tambahan saat katalog melewati sekitar 1.300 lagu. Terima kasih, saya siap untuk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M_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6675120" cy="365760"/>
          </a:xfrm>
          <a:prstGeom prst="rect">
            <a:avLst/>
          </a:prstGeom>
          <a:noFill/>
          <a:ln/>
        </p:spPr>
        <p:txBody>
          <a:bodyPr wrap="square" rtlCol="0"/>
          <a:lstStyle>
            <a:lvl1pPr indent="0" marL="0">
              <a:buNone/>
              <a:defRPr lang="en-US" sz="1300" b="1" spc="15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731520" y="1737360"/>
            <a:ext cx="6766560" cy="16002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731520" y="3429000"/>
            <a:ext cx="6400800" cy="146304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M_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chemeClr val="accent5"/>
                </a:solidFill>
              </a:rPr>
              <a:t>Massive Music · Data Engineer Technical Test</a:t>
            </a:r>
            <a:endParaRPr lang="en-US" sz="1000" dirty="0"/>
          </a:p>
        </p:txBody>
      </p:sp>
      <p:sp>
        <p:nvSpPr>
          <p:cNvPr id="3" name="Text 1"/>
          <p:cNvSpPr/>
          <p:nvPr>
            <p:ph idx="101" type="body" hasCustomPrompt="1"/>
          </p:nvPr>
        </p:nvSpPr>
        <p:spPr>
          <a:xfrm>
            <a:off x="548640" y="310896"/>
            <a:ext cx="10058400"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548640" y="566928"/>
            <a:ext cx="1109441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M_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731520"/>
            <a:ext cx="1051560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3.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6675120" cy="365760"/>
          </a:xfrm>
          <a:prstGeom prst="rect">
            <a:avLst/>
          </a:prstGeom>
          <a:noFill/>
          <a:ln/>
        </p:spPr>
        <p:txBody>
          <a:bodyPr wrap="square" lIns="0" tIns="0" rIns="0" bIns="0" rtlCol="0" anchor="t"/>
          <a:lstStyle/>
          <a:p>
            <a:pPr indent="0" marL="0">
              <a:buNone/>
            </a:pPr>
            <a:r>
              <a:rPr lang="en-US" sz="1300" b="1" spc="150" kern="0" dirty="0">
                <a:solidFill>
                  <a:schemeClr val="accent1"/>
                </a:solidFill>
              </a:rPr>
              <a:t>DATA ENGINEER TECHNICAL TEST · MASSIVE MUSIC</a:t>
            </a:r>
            <a:endParaRPr lang="en-US" sz="1300" dirty="0"/>
          </a:p>
        </p:txBody>
      </p:sp>
      <p:sp>
        <p:nvSpPr>
          <p:cNvPr id="3" name="Text 0"/>
          <p:cNvSpPr/>
          <p:nvPr>
            <p:ph idx="101" type="title" hasCustomPrompt="1"/>
          </p:nvPr>
        </p:nvSpPr>
        <p:spPr>
          <a:xfrm>
            <a:off x="731520" y="1737360"/>
            <a:ext cx="6766560" cy="1600200"/>
          </a:xfrm>
          <a:prstGeom prst="rect">
            <a:avLst/>
          </a:prstGeom>
          <a:noFill/>
          <a:ln/>
        </p:spPr>
        <p:txBody>
          <a:bodyPr wrap="square" lIns="0" tIns="0" rIns="0" bIns="0" rtlCol="0" anchor="t"/>
          <a:lstStyle/>
          <a:p>
            <a:pPr algn="l" indent="0" marL="0">
              <a:buNone/>
            </a:pPr>
            <a:r>
              <a:rPr lang="en-US" sz="4600" b="1" dirty="0">
                <a:solidFill>
                  <a:schemeClr val="bg1"/>
                </a:solidFill>
              </a:rPr>
              <a:t>Song Metadata Pipeline</a:t>
            </a:r>
            <a:endParaRPr lang="en-US" sz="4600" dirty="0"/>
          </a:p>
        </p:txBody>
      </p:sp>
      <p:sp>
        <p:nvSpPr>
          <p:cNvPr id="4" name="Text 0"/>
          <p:cNvSpPr/>
          <p:nvPr>
            <p:ph idx="102" type="body" hasCustomPrompt="1"/>
          </p:nvPr>
        </p:nvSpPr>
        <p:spPr>
          <a:xfrm>
            <a:off x="731520" y="3429000"/>
            <a:ext cx="6400800" cy="1463040"/>
          </a:xfrm>
          <a:prstGeom prst="rect">
            <a:avLst/>
          </a:prstGeom>
          <a:noFill/>
          <a:ln/>
        </p:spPr>
        <p:txBody>
          <a:bodyPr wrap="square" lIns="0" tIns="0" rIns="0" bIns="0" rtlCol="0" anchor="t"/>
          <a:lstStyle/>
          <a:p>
            <a:pPr indent="0" marL="0">
              <a:buNone/>
            </a:pPr>
            <a:r>
              <a:rPr lang="en-US" sz="1800" dirty="0">
                <a:solidFill>
                  <a:schemeClr val="accent5"/>
                </a:solidFill>
              </a:rPr>
              <a:t>Metadata asli Spotify &amp; YouTube untuk setiap lagu katalog — dibersihkan dengan pandas, di-upsert ke ClickHouse dengan histori SCD Type 2, dijaga karantina data dan alert email.</a:t>
            </a:r>
            <a:endParaRPr lang="en-US" sz="1800" dirty="0"/>
          </a:p>
        </p:txBody>
      </p:sp>
      <p:sp>
        <p:nvSpPr>
          <p:cNvPr id="5" name="question card"/>
          <p:cNvSpPr/>
          <p:nvPr/>
        </p:nvSpPr>
        <p:spPr>
          <a:xfrm>
            <a:off x="7818120" y="1371600"/>
            <a:ext cx="3840480" cy="1600200"/>
          </a:xfrm>
          <a:prstGeom prst="roundRect">
            <a:avLst>
              <a:gd name="adj" fmla="val 4571"/>
            </a:avLst>
          </a:prstGeom>
          <a:solidFill>
            <a:schemeClr val="tx2"/>
          </a:solidFill>
          <a:ln/>
        </p:spPr>
      </p:sp>
      <p:sp>
        <p:nvSpPr>
          <p:cNvPr id="6" name="Text 4"/>
          <p:cNvSpPr txBox="1"/>
          <p:nvPr/>
        </p:nvSpPr>
        <p:spPr>
          <a:xfrm>
            <a:off x="8092440" y="1645920"/>
            <a:ext cx="256032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Q1 · YOUTUBE</a:t>
            </a:r>
            <a:endParaRPr lang="en-US" sz="1100" dirty="0"/>
          </a:p>
        </p:txBody>
      </p:sp>
      <p:sp>
        <p:nvSpPr>
          <p:cNvPr id="7" name="Text 5"/>
          <p:cNvSpPr txBox="1"/>
          <p:nvPr/>
        </p:nvSpPr>
        <p:spPr>
          <a:xfrm>
            <a:off x="8092440" y="1993392"/>
            <a:ext cx="3291840" cy="868680"/>
          </a:xfrm>
          <a:prstGeom prst="rect">
            <a:avLst/>
          </a:prstGeom>
          <a:noFill/>
          <a:ln/>
        </p:spPr>
        <p:txBody>
          <a:bodyPr wrap="square" lIns="0" tIns="0" rIns="0" bIns="0" rtlCol="0" anchor="t"/>
          <a:lstStyle/>
          <a:p>
            <a:pPr indent="0" marL="0">
              <a:buNone/>
            </a:pPr>
            <a:r>
              <a:rPr lang="en-US" sz="1800" b="1" dirty="0">
                <a:solidFill>
                  <a:schemeClr val="bg1"/>
                </a:solidFill>
              </a:rPr>
              <a:t>Berapa video yang dimiliki setiap lagu di YouTube?</a:t>
            </a:r>
            <a:endParaRPr lang="en-US" sz="1800" dirty="0"/>
          </a:p>
        </p:txBody>
      </p:sp>
      <p:sp>
        <p:nvSpPr>
          <p:cNvPr id="8" name="icon circle"/>
          <p:cNvSpPr/>
          <p:nvPr/>
        </p:nvSpPr>
        <p:spPr>
          <a:xfrm>
            <a:off x="10972800" y="1572768"/>
            <a:ext cx="457200" cy="457200"/>
          </a:xfrm>
          <a:prstGeom prst="ellipse">
            <a:avLst/>
          </a:prstGeom>
          <a:solidFill>
            <a:schemeClr val="accent1"/>
          </a:solidFill>
          <a:ln/>
        </p:spPr>
      </p:sp>
      <p:pic>
        <p:nvPicPr>
          <p:cNvPr id="9" name="icon" descr="preencoded.png">    </p:cNvPr>
          <p:cNvPicPr>
            <a:picLocks noChangeAspect="1"/>
          </p:cNvPicPr>
          <p:nvPr/>
        </p:nvPicPr>
        <p:blipFill>
          <a:blip r:embed="rId1"/>
          <a:stretch>
            <a:fillRect/>
          </a:stretch>
        </p:blipFill>
        <p:spPr>
          <a:xfrm>
            <a:off x="11082528" y="1682496"/>
            <a:ext cx="237744" cy="237744"/>
          </a:xfrm>
          <a:prstGeom prst="rect">
            <a:avLst/>
          </a:prstGeom>
        </p:spPr>
      </p:pic>
      <p:sp>
        <p:nvSpPr>
          <p:cNvPr id="10" name="question card"/>
          <p:cNvSpPr/>
          <p:nvPr/>
        </p:nvSpPr>
        <p:spPr>
          <a:xfrm>
            <a:off x="7818120" y="3200400"/>
            <a:ext cx="3840480" cy="1600200"/>
          </a:xfrm>
          <a:prstGeom prst="roundRect">
            <a:avLst>
              <a:gd name="adj" fmla="val 4571"/>
            </a:avLst>
          </a:prstGeom>
          <a:solidFill>
            <a:schemeClr val="tx2"/>
          </a:solidFill>
          <a:ln/>
        </p:spPr>
      </p:sp>
      <p:sp>
        <p:nvSpPr>
          <p:cNvPr id="11" name="Text 8"/>
          <p:cNvSpPr txBox="1"/>
          <p:nvPr/>
        </p:nvSpPr>
        <p:spPr>
          <a:xfrm>
            <a:off x="8092440" y="3474720"/>
            <a:ext cx="256032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Q2 · SPOTIFY</a:t>
            </a:r>
            <a:endParaRPr lang="en-US" sz="1100" dirty="0"/>
          </a:p>
        </p:txBody>
      </p:sp>
      <p:sp>
        <p:nvSpPr>
          <p:cNvPr id="12" name="Text 9"/>
          <p:cNvSpPr txBox="1"/>
          <p:nvPr/>
        </p:nvSpPr>
        <p:spPr>
          <a:xfrm>
            <a:off x="8092440" y="3822192"/>
            <a:ext cx="3291840" cy="868680"/>
          </a:xfrm>
          <a:prstGeom prst="rect">
            <a:avLst/>
          </a:prstGeom>
          <a:noFill/>
          <a:ln/>
        </p:spPr>
        <p:txBody>
          <a:bodyPr wrap="square" lIns="0" tIns="0" rIns="0" bIns="0" rtlCol="0" anchor="t"/>
          <a:lstStyle/>
          <a:p>
            <a:pPr indent="0" marL="0">
              <a:buNone/>
            </a:pPr>
            <a:r>
              <a:rPr lang="en-US" sz="1800" b="1" dirty="0">
                <a:solidFill>
                  <a:schemeClr val="bg1"/>
                </a:solidFill>
              </a:rPr>
              <a:t>Berapa ISRC yang dimiliki setiap lagu di Spotify?</a:t>
            </a:r>
            <a:endParaRPr lang="en-US" sz="1800" dirty="0"/>
          </a:p>
        </p:txBody>
      </p:sp>
      <p:sp>
        <p:nvSpPr>
          <p:cNvPr id="13" name="icon circle"/>
          <p:cNvSpPr/>
          <p:nvPr/>
        </p:nvSpPr>
        <p:spPr>
          <a:xfrm>
            <a:off x="10972800" y="3401568"/>
            <a:ext cx="457200" cy="457200"/>
          </a:xfrm>
          <a:prstGeom prst="ellipse">
            <a:avLst/>
          </a:prstGeom>
          <a:solidFill>
            <a:schemeClr val="accent1"/>
          </a:solidFill>
          <a:ln/>
        </p:spPr>
      </p:sp>
      <p:pic>
        <p:nvPicPr>
          <p:cNvPr id="14" name="icon" descr="preencoded.png">    </p:cNvPr>
          <p:cNvPicPr>
            <a:picLocks noChangeAspect="1"/>
          </p:cNvPicPr>
          <p:nvPr/>
        </p:nvPicPr>
        <p:blipFill>
          <a:blip r:embed="rId2"/>
          <a:stretch>
            <a:fillRect/>
          </a:stretch>
        </p:blipFill>
        <p:spPr>
          <a:xfrm>
            <a:off x="11082528" y="3511296"/>
            <a:ext cx="237744" cy="237744"/>
          </a:xfrm>
          <a:prstGeom prst="rect">
            <a:avLst/>
          </a:prstGeom>
        </p:spPr>
      </p:pic>
      <p:sp>
        <p:nvSpPr>
          <p:cNvPr id="15" name="Text 11"/>
          <p:cNvSpPr txBox="1"/>
          <p:nvPr/>
        </p:nvSpPr>
        <p:spPr>
          <a:xfrm>
            <a:off x="731520" y="5897880"/>
            <a:ext cx="8229600" cy="320040"/>
          </a:xfrm>
          <a:prstGeom prst="rect">
            <a:avLst/>
          </a:prstGeom>
          <a:noFill/>
          <a:ln/>
        </p:spPr>
        <p:txBody>
          <a:bodyPr wrap="square" lIns="0" tIns="0" rIns="0" bIns="0" rtlCol="0" anchor="t"/>
          <a:lstStyle/>
          <a:p>
            <a:pPr indent="0" marL="0">
              <a:buNone/>
            </a:pPr>
            <a:r>
              <a:rPr lang="en-US" sz="1200" dirty="0">
                <a:solidFill>
                  <a:schemeClr val="accent5"/>
                </a:solidFill>
              </a:rPr>
              <a:t>Airflow 3.3 · pandas · ClickHouse 26.8 · dbt 1.11 + Cosmos · Superset 6 · Docker Compose</a:t>
            </a:r>
            <a:endParaRPr lang="en-US" sz="1200" dirty="0"/>
          </a:p>
        </p:txBody>
      </p:sp>
      <p:sp>
        <p:nvSpPr>
          <p:cNvPr id="16" name="Text 12"/>
          <p:cNvSpPr txBox="1"/>
          <p:nvPr/>
        </p:nvSpPr>
        <p:spPr>
          <a:xfrm>
            <a:off x="9601200" y="5897880"/>
            <a:ext cx="2057400" cy="320040"/>
          </a:xfrm>
          <a:prstGeom prst="rect">
            <a:avLst/>
          </a:prstGeom>
          <a:noFill/>
          <a:ln/>
        </p:spPr>
        <p:txBody>
          <a:bodyPr wrap="square" lIns="0" tIns="0" rIns="0" bIns="0" rtlCol="0" anchor="t"/>
          <a:lstStyle/>
          <a:p>
            <a:pPr algn="r" indent="0" marL="0">
              <a:buNone/>
            </a:pPr>
            <a:r>
              <a:rPr lang="en-US" sz="1200" dirty="0">
                <a:solidFill>
                  <a:schemeClr val="accent5"/>
                </a:solidFill>
              </a:rPr>
              <a:t>Oktober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AGENDA</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Sembilan bagian, satu pipeline end-to-end</a:t>
            </a:r>
            <a:endParaRPr lang="en-US" sz="3000" dirty="0"/>
          </a:p>
        </p:txBody>
      </p:sp>
      <p:sp>
        <p:nvSpPr>
          <p:cNvPr id="4" name="agenda card"/>
          <p:cNvSpPr/>
          <p:nvPr/>
        </p:nvSpPr>
        <p:spPr>
          <a:xfrm>
            <a:off x="548640" y="1417320"/>
            <a:ext cx="3515258" cy="1463040"/>
          </a:xfrm>
          <a:prstGeom prst="roundRect">
            <a:avLst>
              <a:gd name="adj" fmla="val 5000"/>
            </a:avLst>
          </a:prstGeom>
          <a:solidFill>
            <a:schemeClr val="bg2"/>
          </a:solidFill>
          <a:ln/>
        </p:spPr>
      </p:sp>
      <p:sp>
        <p:nvSpPr>
          <p:cNvPr id="5" name="step number"/>
          <p:cNvSpPr/>
          <p:nvPr/>
        </p:nvSpPr>
        <p:spPr>
          <a:xfrm>
            <a:off x="777240" y="1645920"/>
            <a:ext cx="438912" cy="438912"/>
          </a:xfrm>
          <a:prstGeom prst="ellipse">
            <a:avLst/>
          </a:prstGeom>
          <a:solidFill>
            <a:schemeClr val="accent1"/>
          </a:solidFill>
          <a:ln/>
        </p:spPr>
      </p:sp>
      <p:sp>
        <p:nvSpPr>
          <p:cNvPr id="6" name="Text 4"/>
          <p:cNvSpPr txBox="1"/>
          <p:nvPr/>
        </p:nvSpPr>
        <p:spPr>
          <a:xfrm>
            <a:off x="777240" y="164592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1371600" y="166420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Logika Airflow</a:t>
            </a:r>
            <a:endParaRPr lang="en-US" sz="1600" dirty="0"/>
          </a:p>
        </p:txBody>
      </p:sp>
      <p:sp>
        <p:nvSpPr>
          <p:cNvPr id="8" name="Text 6"/>
          <p:cNvSpPr txBox="1"/>
          <p:nvPr/>
        </p:nvSpPr>
        <p:spPr>
          <a:xfrm>
            <a:off x="777240" y="222199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Satu DAG di satu file: 9 langkah incremental, retry, dan alert email</a:t>
            </a:r>
            <a:endParaRPr lang="en-US" sz="1300" dirty="0"/>
          </a:p>
        </p:txBody>
      </p:sp>
      <p:sp>
        <p:nvSpPr>
          <p:cNvPr id="9" name="agenda card"/>
          <p:cNvSpPr/>
          <p:nvPr/>
        </p:nvSpPr>
        <p:spPr>
          <a:xfrm>
            <a:off x="4338218" y="1417320"/>
            <a:ext cx="3515258" cy="1463040"/>
          </a:xfrm>
          <a:prstGeom prst="roundRect">
            <a:avLst>
              <a:gd name="adj" fmla="val 5000"/>
            </a:avLst>
          </a:prstGeom>
          <a:solidFill>
            <a:schemeClr val="bg2"/>
          </a:solidFill>
          <a:ln/>
        </p:spPr>
      </p:sp>
      <p:sp>
        <p:nvSpPr>
          <p:cNvPr id="10" name="step number"/>
          <p:cNvSpPr/>
          <p:nvPr/>
        </p:nvSpPr>
        <p:spPr>
          <a:xfrm>
            <a:off x="4566818" y="1645920"/>
            <a:ext cx="438912" cy="438912"/>
          </a:xfrm>
          <a:prstGeom prst="ellipse">
            <a:avLst/>
          </a:prstGeom>
          <a:solidFill>
            <a:schemeClr val="accent1"/>
          </a:solidFill>
          <a:ln/>
        </p:spPr>
      </p:sp>
      <p:sp>
        <p:nvSpPr>
          <p:cNvPr id="11" name="Text 9"/>
          <p:cNvSpPr txBox="1"/>
          <p:nvPr/>
        </p:nvSpPr>
        <p:spPr>
          <a:xfrm>
            <a:off x="4566818" y="164592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5161178" y="166420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Logika dbt</a:t>
            </a:r>
            <a:endParaRPr lang="en-US" sz="1600" dirty="0"/>
          </a:p>
        </p:txBody>
      </p:sp>
      <p:sp>
        <p:nvSpPr>
          <p:cNvPr id="13" name="Text 11"/>
          <p:cNvSpPr txBox="1"/>
          <p:nvPr/>
        </p:nvSpPr>
        <p:spPr>
          <a:xfrm>
            <a:off x="4566818" y="222199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28 model di ClickHouse: staging → intermediate → marts, diuji tiap run</a:t>
            </a:r>
            <a:endParaRPr lang="en-US" sz="1300" dirty="0"/>
          </a:p>
        </p:txBody>
      </p:sp>
      <p:sp>
        <p:nvSpPr>
          <p:cNvPr id="14" name="agenda card"/>
          <p:cNvSpPr/>
          <p:nvPr/>
        </p:nvSpPr>
        <p:spPr>
          <a:xfrm>
            <a:off x="8127797" y="1417320"/>
            <a:ext cx="3515258" cy="1463040"/>
          </a:xfrm>
          <a:prstGeom prst="roundRect">
            <a:avLst>
              <a:gd name="adj" fmla="val 5000"/>
            </a:avLst>
          </a:prstGeom>
          <a:solidFill>
            <a:schemeClr val="bg2"/>
          </a:solidFill>
          <a:ln/>
        </p:spPr>
      </p:sp>
      <p:sp>
        <p:nvSpPr>
          <p:cNvPr id="15" name="step number"/>
          <p:cNvSpPr/>
          <p:nvPr/>
        </p:nvSpPr>
        <p:spPr>
          <a:xfrm>
            <a:off x="8356397" y="1645920"/>
            <a:ext cx="438912" cy="438912"/>
          </a:xfrm>
          <a:prstGeom prst="ellipse">
            <a:avLst/>
          </a:prstGeom>
          <a:solidFill>
            <a:schemeClr val="accent1"/>
          </a:solidFill>
          <a:ln/>
        </p:spPr>
      </p:sp>
      <p:sp>
        <p:nvSpPr>
          <p:cNvPr id="16" name="Text 14"/>
          <p:cNvSpPr txBox="1"/>
          <p:nvPr/>
        </p:nvSpPr>
        <p:spPr>
          <a:xfrm>
            <a:off x="8356397" y="164592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5"/>
          <p:cNvSpPr txBox="1"/>
          <p:nvPr/>
        </p:nvSpPr>
        <p:spPr>
          <a:xfrm>
            <a:off x="8950757" y="166420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Logika Superset</a:t>
            </a:r>
            <a:endParaRPr lang="en-US" sz="1600" dirty="0"/>
          </a:p>
        </p:txBody>
      </p:sp>
      <p:sp>
        <p:nvSpPr>
          <p:cNvPr id="18" name="Text 16"/>
          <p:cNvSpPr txBox="1"/>
          <p:nvPr/>
        </p:nvSpPr>
        <p:spPr>
          <a:xfrm>
            <a:off x="8356397" y="222199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3 dashboard (27 chart) dipublikasikan sebagai kode lewat REST API</a:t>
            </a:r>
            <a:endParaRPr lang="en-US" sz="1300" dirty="0"/>
          </a:p>
        </p:txBody>
      </p:sp>
      <p:sp>
        <p:nvSpPr>
          <p:cNvPr id="19" name="agenda card"/>
          <p:cNvSpPr/>
          <p:nvPr/>
        </p:nvSpPr>
        <p:spPr>
          <a:xfrm>
            <a:off x="548640" y="3108960"/>
            <a:ext cx="3515258" cy="1463040"/>
          </a:xfrm>
          <a:prstGeom prst="roundRect">
            <a:avLst>
              <a:gd name="adj" fmla="val 5000"/>
            </a:avLst>
          </a:prstGeom>
          <a:solidFill>
            <a:schemeClr val="bg2"/>
          </a:solidFill>
          <a:ln/>
        </p:spPr>
      </p:sp>
      <p:sp>
        <p:nvSpPr>
          <p:cNvPr id="20" name="step number"/>
          <p:cNvSpPr/>
          <p:nvPr/>
        </p:nvSpPr>
        <p:spPr>
          <a:xfrm>
            <a:off x="777240" y="3337560"/>
            <a:ext cx="438912" cy="438912"/>
          </a:xfrm>
          <a:prstGeom prst="ellipse">
            <a:avLst/>
          </a:prstGeom>
          <a:solidFill>
            <a:schemeClr val="accent1"/>
          </a:solidFill>
          <a:ln/>
        </p:spPr>
      </p:sp>
      <p:sp>
        <p:nvSpPr>
          <p:cNvPr id="21" name="Text 19"/>
          <p:cNvSpPr txBox="1"/>
          <p:nvPr/>
        </p:nvSpPr>
        <p:spPr>
          <a:xfrm>
            <a:off x="777240" y="333756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2" name="Text 20"/>
          <p:cNvSpPr txBox="1"/>
          <p:nvPr/>
        </p:nvSpPr>
        <p:spPr>
          <a:xfrm>
            <a:off x="1371600" y="335584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Insight dashboard</a:t>
            </a:r>
            <a:endParaRPr lang="en-US" sz="1600" dirty="0"/>
          </a:p>
        </p:txBody>
      </p:sp>
      <p:sp>
        <p:nvSpPr>
          <p:cNvPr id="23" name="Text 21"/>
          <p:cNvSpPr txBox="1"/>
          <p:nvPr/>
        </p:nvSpPr>
        <p:spPr>
          <a:xfrm>
            <a:off x="777240" y="391363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773 ISRC dan 1.267 video dari data asli; 0 record dikarantina</a:t>
            </a:r>
            <a:endParaRPr lang="en-US" sz="1300" dirty="0"/>
          </a:p>
        </p:txBody>
      </p:sp>
      <p:sp>
        <p:nvSpPr>
          <p:cNvPr id="24" name="agenda card"/>
          <p:cNvSpPr/>
          <p:nvPr/>
        </p:nvSpPr>
        <p:spPr>
          <a:xfrm>
            <a:off x="4338218" y="3108960"/>
            <a:ext cx="3515258" cy="1463040"/>
          </a:xfrm>
          <a:prstGeom prst="roundRect">
            <a:avLst>
              <a:gd name="adj" fmla="val 5000"/>
            </a:avLst>
          </a:prstGeom>
          <a:solidFill>
            <a:schemeClr val="bg2"/>
          </a:solidFill>
          <a:ln/>
        </p:spPr>
      </p:sp>
      <p:sp>
        <p:nvSpPr>
          <p:cNvPr id="25" name="step number"/>
          <p:cNvSpPr/>
          <p:nvPr/>
        </p:nvSpPr>
        <p:spPr>
          <a:xfrm>
            <a:off x="4566818" y="3337560"/>
            <a:ext cx="438912" cy="438912"/>
          </a:xfrm>
          <a:prstGeom prst="ellipse">
            <a:avLst/>
          </a:prstGeom>
          <a:solidFill>
            <a:schemeClr val="accent1"/>
          </a:solidFill>
          <a:ln/>
        </p:spPr>
      </p:sp>
      <p:sp>
        <p:nvSpPr>
          <p:cNvPr id="26" name="Text 24"/>
          <p:cNvSpPr txBox="1"/>
          <p:nvPr/>
        </p:nvSpPr>
        <p:spPr>
          <a:xfrm>
            <a:off x="4566818" y="333756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7" name="Text 25"/>
          <p:cNvSpPr txBox="1"/>
          <p:nvPr/>
        </p:nvSpPr>
        <p:spPr>
          <a:xfrm>
            <a:off x="5161178" y="335584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Docker Compose</a:t>
            </a:r>
            <a:endParaRPr lang="en-US" sz="1600" dirty="0"/>
          </a:p>
        </p:txBody>
      </p:sp>
      <p:sp>
        <p:nvSpPr>
          <p:cNvPr id="28" name="Text 26"/>
          <p:cNvSpPr txBox="1"/>
          <p:nvPr/>
        </p:nvSpPr>
        <p:spPr>
          <a:xfrm>
            <a:off x="4566818" y="391363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8 service, 4 volume, semua kredensial dari .env, satu perintah up</a:t>
            </a:r>
            <a:endParaRPr lang="en-US" sz="1300" dirty="0"/>
          </a:p>
        </p:txBody>
      </p:sp>
      <p:sp>
        <p:nvSpPr>
          <p:cNvPr id="29" name="agenda card"/>
          <p:cNvSpPr/>
          <p:nvPr/>
        </p:nvSpPr>
        <p:spPr>
          <a:xfrm>
            <a:off x="8127797" y="3108960"/>
            <a:ext cx="3515258" cy="1463040"/>
          </a:xfrm>
          <a:prstGeom prst="roundRect">
            <a:avLst>
              <a:gd name="adj" fmla="val 5000"/>
            </a:avLst>
          </a:prstGeom>
          <a:solidFill>
            <a:schemeClr val="bg2"/>
          </a:solidFill>
          <a:ln/>
        </p:spPr>
      </p:sp>
      <p:sp>
        <p:nvSpPr>
          <p:cNvPr id="30" name="step number"/>
          <p:cNvSpPr/>
          <p:nvPr/>
        </p:nvSpPr>
        <p:spPr>
          <a:xfrm>
            <a:off x="8356397" y="3337560"/>
            <a:ext cx="438912" cy="438912"/>
          </a:xfrm>
          <a:prstGeom prst="ellipse">
            <a:avLst/>
          </a:prstGeom>
          <a:solidFill>
            <a:schemeClr val="accent1"/>
          </a:solidFill>
          <a:ln/>
        </p:spPr>
      </p:sp>
      <p:sp>
        <p:nvSpPr>
          <p:cNvPr id="31" name="Text 29"/>
          <p:cNvSpPr txBox="1"/>
          <p:nvPr/>
        </p:nvSpPr>
        <p:spPr>
          <a:xfrm>
            <a:off x="8356397" y="333756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2" name="Text 30"/>
          <p:cNvSpPr txBox="1"/>
          <p:nvPr/>
        </p:nvSpPr>
        <p:spPr>
          <a:xfrm>
            <a:off x="8950757" y="335584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Medallion &amp; ERD</a:t>
            </a:r>
            <a:endParaRPr lang="en-US" sz="1600" dirty="0"/>
          </a:p>
        </p:txBody>
      </p:sp>
      <p:sp>
        <p:nvSpPr>
          <p:cNvPr id="33" name="Text 31"/>
          <p:cNvSpPr txBox="1"/>
          <p:nvPr/>
        </p:nvSpPr>
        <p:spPr>
          <a:xfrm>
            <a:off x="8356397" y="391363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Bronze (raw) → Silver (clean) → Gold (marts) dengan model dimensional</a:t>
            </a:r>
            <a:endParaRPr lang="en-US" sz="1300" dirty="0"/>
          </a:p>
        </p:txBody>
      </p:sp>
      <p:sp>
        <p:nvSpPr>
          <p:cNvPr id="34" name="agenda card"/>
          <p:cNvSpPr/>
          <p:nvPr/>
        </p:nvSpPr>
        <p:spPr>
          <a:xfrm>
            <a:off x="548640" y="4800600"/>
            <a:ext cx="3515258" cy="1463040"/>
          </a:xfrm>
          <a:prstGeom prst="roundRect">
            <a:avLst>
              <a:gd name="adj" fmla="val 5000"/>
            </a:avLst>
          </a:prstGeom>
          <a:solidFill>
            <a:schemeClr val="bg2"/>
          </a:solidFill>
          <a:ln/>
        </p:spPr>
      </p:sp>
      <p:sp>
        <p:nvSpPr>
          <p:cNvPr id="35" name="step number"/>
          <p:cNvSpPr/>
          <p:nvPr/>
        </p:nvSpPr>
        <p:spPr>
          <a:xfrm>
            <a:off x="777240" y="5029200"/>
            <a:ext cx="438912" cy="438912"/>
          </a:xfrm>
          <a:prstGeom prst="ellipse">
            <a:avLst/>
          </a:prstGeom>
          <a:solidFill>
            <a:schemeClr val="accent1"/>
          </a:solidFill>
          <a:ln/>
        </p:spPr>
      </p:sp>
      <p:sp>
        <p:nvSpPr>
          <p:cNvPr id="36" name="Text 34"/>
          <p:cNvSpPr txBox="1"/>
          <p:nvPr/>
        </p:nvSpPr>
        <p:spPr>
          <a:xfrm>
            <a:off x="777240" y="502920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7" name="Text 35"/>
          <p:cNvSpPr txBox="1"/>
          <p:nvPr/>
        </p:nvSpPr>
        <p:spPr>
          <a:xfrm>
            <a:off x="1371600" y="504748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Data quality</a:t>
            </a:r>
            <a:endParaRPr lang="en-US" sz="1600" dirty="0"/>
          </a:p>
        </p:txBody>
      </p:sp>
      <p:sp>
        <p:nvSpPr>
          <p:cNvPr id="38" name="Text 36"/>
          <p:cNvSpPr txBox="1"/>
          <p:nvPr/>
        </p:nvSpPr>
        <p:spPr>
          <a:xfrm>
            <a:off x="777240" y="560527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3 lapis: validasi pandas, 77 test dbt, 10 cek statistik pasca-load</a:t>
            </a:r>
            <a:endParaRPr lang="en-US" sz="1300" dirty="0"/>
          </a:p>
        </p:txBody>
      </p:sp>
      <p:sp>
        <p:nvSpPr>
          <p:cNvPr id="39" name="agenda card"/>
          <p:cNvSpPr/>
          <p:nvPr/>
        </p:nvSpPr>
        <p:spPr>
          <a:xfrm>
            <a:off x="4338218" y="4800600"/>
            <a:ext cx="3515258" cy="1463040"/>
          </a:xfrm>
          <a:prstGeom prst="roundRect">
            <a:avLst>
              <a:gd name="adj" fmla="val 5000"/>
            </a:avLst>
          </a:prstGeom>
          <a:solidFill>
            <a:schemeClr val="bg2"/>
          </a:solidFill>
          <a:ln/>
        </p:spPr>
      </p:sp>
      <p:sp>
        <p:nvSpPr>
          <p:cNvPr id="40" name="step number"/>
          <p:cNvSpPr/>
          <p:nvPr/>
        </p:nvSpPr>
        <p:spPr>
          <a:xfrm>
            <a:off x="4566818" y="5029200"/>
            <a:ext cx="438912" cy="438912"/>
          </a:xfrm>
          <a:prstGeom prst="ellipse">
            <a:avLst/>
          </a:prstGeom>
          <a:solidFill>
            <a:schemeClr val="accent1"/>
          </a:solidFill>
          <a:ln/>
        </p:spPr>
      </p:sp>
      <p:sp>
        <p:nvSpPr>
          <p:cNvPr id="41" name="Text 39"/>
          <p:cNvSpPr txBox="1"/>
          <p:nvPr/>
        </p:nvSpPr>
        <p:spPr>
          <a:xfrm>
            <a:off x="4566818" y="502920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2" name="Text 40"/>
          <p:cNvSpPr txBox="1"/>
          <p:nvPr/>
        </p:nvSpPr>
        <p:spPr>
          <a:xfrm>
            <a:off x="5161178" y="504748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API &amp; kapasitas</a:t>
            </a:r>
            <a:endParaRPr lang="en-US" sz="1600" dirty="0"/>
          </a:p>
        </p:txBody>
      </p:sp>
      <p:sp>
        <p:nvSpPr>
          <p:cNvPr id="43" name="Text 41"/>
          <p:cNvSpPr txBox="1"/>
          <p:nvPr/>
        </p:nvSpPr>
        <p:spPr>
          <a:xfrm>
            <a:off x="4566818" y="560527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YouTube ±89 lagu/hari (penuh ±8 hari); Spotify ±600 call/hari</a:t>
            </a:r>
            <a:endParaRPr lang="en-US" sz="1300" dirty="0"/>
          </a:p>
        </p:txBody>
      </p:sp>
      <p:sp>
        <p:nvSpPr>
          <p:cNvPr id="44" name="agenda card"/>
          <p:cNvSpPr/>
          <p:nvPr/>
        </p:nvSpPr>
        <p:spPr>
          <a:xfrm>
            <a:off x="8127797" y="4800600"/>
            <a:ext cx="3515258" cy="1463040"/>
          </a:xfrm>
          <a:prstGeom prst="roundRect">
            <a:avLst>
              <a:gd name="adj" fmla="val 5000"/>
            </a:avLst>
          </a:prstGeom>
          <a:solidFill>
            <a:schemeClr val="bg2"/>
          </a:solidFill>
          <a:ln/>
        </p:spPr>
      </p:sp>
      <p:sp>
        <p:nvSpPr>
          <p:cNvPr id="45" name="step number"/>
          <p:cNvSpPr/>
          <p:nvPr/>
        </p:nvSpPr>
        <p:spPr>
          <a:xfrm>
            <a:off x="8356397" y="5029200"/>
            <a:ext cx="438912" cy="438912"/>
          </a:xfrm>
          <a:prstGeom prst="ellipse">
            <a:avLst/>
          </a:prstGeom>
          <a:solidFill>
            <a:schemeClr val="accent1"/>
          </a:solidFill>
          <a:ln/>
        </p:spPr>
      </p:sp>
      <p:sp>
        <p:nvSpPr>
          <p:cNvPr id="46" name="Text 44"/>
          <p:cNvSpPr txBox="1"/>
          <p:nvPr/>
        </p:nvSpPr>
        <p:spPr>
          <a:xfrm>
            <a:off x="8356397" y="502920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47" name="Text 45"/>
          <p:cNvSpPr txBox="1"/>
          <p:nvPr/>
        </p:nvSpPr>
        <p:spPr>
          <a:xfrm>
            <a:off x="8950757" y="5047488"/>
            <a:ext cx="2509418" cy="402336"/>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Sistem kita</a:t>
            </a:r>
            <a:endParaRPr lang="en-US" sz="1600" dirty="0"/>
          </a:p>
        </p:txBody>
      </p:sp>
      <p:sp>
        <p:nvSpPr>
          <p:cNvPr id="48" name="Text 46"/>
          <p:cNvSpPr txBox="1"/>
          <p:nvPr/>
        </p:nvSpPr>
        <p:spPr>
          <a:xfrm>
            <a:off x="8356397" y="5605272"/>
            <a:ext cx="3058058" cy="566928"/>
          </a:xfrm>
          <a:prstGeom prst="rect">
            <a:avLst/>
          </a:prstGeom>
          <a:noFill/>
          <a:ln/>
        </p:spPr>
        <p:txBody>
          <a:bodyPr wrap="square" lIns="0" tIns="0" rIns="0" bIns="0" rtlCol="0" anchor="t"/>
          <a:lstStyle/>
          <a:p>
            <a:pPr indent="0" marL="0">
              <a:buNone/>
            </a:pPr>
            <a:r>
              <a:rPr lang="en-US" sz="1300" dirty="0">
                <a:solidFill>
                  <a:schemeClr val="accent2"/>
                </a:solidFill>
              </a:rPr>
              <a:t>Alert email, dashboard karantina, SCD Type 2, upsert, dan lainnya</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1 · LOGIKA AIRFLOW</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Satu DAG, sembilan langkah, semua dalam satu file</a:t>
            </a:r>
            <a:endParaRPr lang="en-US" sz="3000" dirty="0"/>
          </a:p>
        </p:txBody>
      </p:sp>
      <p:sp>
        <p:nvSpPr>
          <p:cNvPr id="4" name="flow box"/>
          <p:cNvSpPr/>
          <p:nvPr/>
        </p:nvSpPr>
        <p:spPr>
          <a:xfrm>
            <a:off x="1577340" y="1417320"/>
            <a:ext cx="2377440" cy="475488"/>
          </a:xfrm>
          <a:prstGeom prst="roundRect">
            <a:avLst>
              <a:gd name="adj" fmla="val 11538"/>
            </a:avLst>
          </a:prstGeom>
          <a:solidFill>
            <a:srgbClr val="F3F4F6"/>
          </a:solidFill>
          <a:ln w="9525">
            <a:solidFill>
              <a:srgbClr val="D1D5DB"/>
            </a:solidFill>
            <a:prstDash val="solid"/>
          </a:ln>
        </p:spPr>
      </p:sp>
      <p:sp>
        <p:nvSpPr>
          <p:cNvPr id="5" name="Text 3"/>
          <p:cNvSpPr txBox="1"/>
          <p:nvPr/>
        </p:nvSpPr>
        <p:spPr>
          <a:xfrm>
            <a:off x="1632204" y="1417320"/>
            <a:ext cx="226771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preflight</a:t>
            </a:r>
            <a:endParaRPr lang="en-US" sz="1200" dirty="0"/>
          </a:p>
          <a:p>
            <a:pPr algn="ctr" indent="0" marL="0">
              <a:buNone/>
            </a:pPr>
            <a:r>
              <a:rPr lang="en-US" sz="1100" dirty="0">
                <a:solidFill>
                  <a:srgbClr val="4B5563"/>
                </a:solidFill>
              </a:rPr>
              <a:t>cek .env · DDL · token Spotify</a:t>
            </a:r>
            <a:endParaRPr lang="en-US" sz="1200" dirty="0"/>
          </a:p>
        </p:txBody>
      </p:sp>
      <p:sp>
        <p:nvSpPr>
          <p:cNvPr id="6" name="flow box"/>
          <p:cNvSpPr/>
          <p:nvPr/>
        </p:nvSpPr>
        <p:spPr>
          <a:xfrm>
            <a:off x="1577340" y="2145792"/>
            <a:ext cx="2377440" cy="475488"/>
          </a:xfrm>
          <a:prstGeom prst="roundRect">
            <a:avLst>
              <a:gd name="adj" fmla="val 11538"/>
            </a:avLst>
          </a:prstGeom>
          <a:solidFill>
            <a:srgbClr val="F3F4F6"/>
          </a:solidFill>
          <a:ln w="9525">
            <a:solidFill>
              <a:srgbClr val="D1D5DB"/>
            </a:solidFill>
            <a:prstDash val="solid"/>
          </a:ln>
        </p:spPr>
      </p:sp>
      <p:sp>
        <p:nvSpPr>
          <p:cNvPr id="7" name="Text 5"/>
          <p:cNvSpPr txBox="1"/>
          <p:nvPr/>
        </p:nvSpPr>
        <p:spPr>
          <a:xfrm>
            <a:off x="1632204" y="2145792"/>
            <a:ext cx="226771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load_catalog</a:t>
            </a:r>
            <a:endParaRPr lang="en-US" sz="1200" dirty="0"/>
          </a:p>
          <a:p>
            <a:pPr algn="ctr" indent="0" marL="0">
              <a:buNone/>
            </a:pPr>
            <a:r>
              <a:rPr lang="en-US" sz="1100" dirty="0">
                <a:solidFill>
                  <a:srgbClr val="4B5563"/>
                </a:solidFill>
              </a:rPr>
              <a:t>sheet → pandas → SCD2</a:t>
            </a:r>
            <a:endParaRPr lang="en-US" sz="1200" dirty="0"/>
          </a:p>
        </p:txBody>
      </p:sp>
      <p:sp>
        <p:nvSpPr>
          <p:cNvPr id="8" name="flow box"/>
          <p:cNvSpPr/>
          <p:nvPr/>
        </p:nvSpPr>
        <p:spPr>
          <a:xfrm>
            <a:off x="548640" y="2874264"/>
            <a:ext cx="2057400" cy="475488"/>
          </a:xfrm>
          <a:prstGeom prst="roundRect">
            <a:avLst>
              <a:gd name="adj" fmla="val 11538"/>
            </a:avLst>
          </a:prstGeom>
          <a:solidFill>
            <a:srgbClr val="F3F4F6"/>
          </a:solidFill>
          <a:ln w="9525">
            <a:solidFill>
              <a:srgbClr val="D1D5DB"/>
            </a:solidFill>
            <a:prstDash val="solid"/>
          </a:ln>
        </p:spPr>
      </p:sp>
      <p:sp>
        <p:nvSpPr>
          <p:cNvPr id="9" name="Text 7"/>
          <p:cNvSpPr txBox="1"/>
          <p:nvPr/>
        </p:nvSpPr>
        <p:spPr>
          <a:xfrm>
            <a:off x="603504" y="2874264"/>
            <a:ext cx="194767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extract_spotify</a:t>
            </a:r>
            <a:endParaRPr lang="en-US" sz="1200" dirty="0"/>
          </a:p>
          <a:p>
            <a:pPr algn="ctr" indent="0" marL="0">
              <a:buNone/>
            </a:pPr>
            <a:r>
              <a:rPr lang="en-US" sz="1100" dirty="0">
                <a:solidFill>
                  <a:srgbClr val="4B5563"/>
                </a:solidFill>
              </a:rPr>
              <a:t>Web API → raw</a:t>
            </a:r>
            <a:endParaRPr lang="en-US" sz="1200" dirty="0"/>
          </a:p>
        </p:txBody>
      </p:sp>
      <p:sp>
        <p:nvSpPr>
          <p:cNvPr id="10" name="flow box"/>
          <p:cNvSpPr/>
          <p:nvPr/>
        </p:nvSpPr>
        <p:spPr>
          <a:xfrm>
            <a:off x="2926080" y="2874264"/>
            <a:ext cx="2057400" cy="475488"/>
          </a:xfrm>
          <a:prstGeom prst="roundRect">
            <a:avLst>
              <a:gd name="adj" fmla="val 11538"/>
            </a:avLst>
          </a:prstGeom>
          <a:solidFill>
            <a:srgbClr val="F3F4F6"/>
          </a:solidFill>
          <a:ln w="9525">
            <a:solidFill>
              <a:srgbClr val="D1D5DB"/>
            </a:solidFill>
            <a:prstDash val="solid"/>
          </a:ln>
        </p:spPr>
      </p:sp>
      <p:sp>
        <p:nvSpPr>
          <p:cNvPr id="11" name="Text 9"/>
          <p:cNvSpPr txBox="1"/>
          <p:nvPr/>
        </p:nvSpPr>
        <p:spPr>
          <a:xfrm>
            <a:off x="2980944" y="2874264"/>
            <a:ext cx="194767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extract_youtube</a:t>
            </a:r>
            <a:endParaRPr lang="en-US" sz="1200" dirty="0"/>
          </a:p>
          <a:p>
            <a:pPr algn="ctr" indent="0" marL="0">
              <a:buNone/>
            </a:pPr>
            <a:r>
              <a:rPr lang="en-US" sz="1100" dirty="0">
                <a:solidFill>
                  <a:srgbClr val="4B5563"/>
                </a:solidFill>
              </a:rPr>
              <a:t>Data API → raw · kuota</a:t>
            </a:r>
            <a:endParaRPr lang="en-US" sz="1200" dirty="0"/>
          </a:p>
        </p:txBody>
      </p:sp>
      <p:sp>
        <p:nvSpPr>
          <p:cNvPr id="12" name="flow box"/>
          <p:cNvSpPr/>
          <p:nvPr/>
        </p:nvSpPr>
        <p:spPr>
          <a:xfrm>
            <a:off x="548640" y="3602736"/>
            <a:ext cx="2057400" cy="475488"/>
          </a:xfrm>
          <a:prstGeom prst="roundRect">
            <a:avLst>
              <a:gd name="adj" fmla="val 11538"/>
            </a:avLst>
          </a:prstGeom>
          <a:solidFill>
            <a:srgbClr val="F3F4F6"/>
          </a:solidFill>
          <a:ln w="9525">
            <a:solidFill>
              <a:srgbClr val="D1D5DB"/>
            </a:solidFill>
            <a:prstDash val="solid"/>
          </a:ln>
        </p:spPr>
      </p:sp>
      <p:sp>
        <p:nvSpPr>
          <p:cNvPr id="13" name="Text 11"/>
          <p:cNvSpPr txBox="1"/>
          <p:nvPr/>
        </p:nvSpPr>
        <p:spPr>
          <a:xfrm>
            <a:off x="603504" y="3602736"/>
            <a:ext cx="194767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preprocess_spotify</a:t>
            </a:r>
            <a:endParaRPr lang="en-US" sz="1200" dirty="0"/>
          </a:p>
          <a:p>
            <a:pPr algn="ctr" indent="0" marL="0">
              <a:buNone/>
            </a:pPr>
            <a:r>
              <a:rPr lang="en-US" sz="1100" dirty="0">
                <a:solidFill>
                  <a:srgbClr val="4B5563"/>
                </a:solidFill>
              </a:rPr>
              <a:t>pandas → upsert + SCD2</a:t>
            </a:r>
            <a:endParaRPr lang="en-US" sz="1200" dirty="0"/>
          </a:p>
        </p:txBody>
      </p:sp>
      <p:sp>
        <p:nvSpPr>
          <p:cNvPr id="14" name="flow box"/>
          <p:cNvSpPr/>
          <p:nvPr/>
        </p:nvSpPr>
        <p:spPr>
          <a:xfrm>
            <a:off x="2926080" y="3602736"/>
            <a:ext cx="2057400" cy="475488"/>
          </a:xfrm>
          <a:prstGeom prst="roundRect">
            <a:avLst>
              <a:gd name="adj" fmla="val 11538"/>
            </a:avLst>
          </a:prstGeom>
          <a:solidFill>
            <a:srgbClr val="F3F4F6"/>
          </a:solidFill>
          <a:ln w="9525">
            <a:solidFill>
              <a:srgbClr val="D1D5DB"/>
            </a:solidFill>
            <a:prstDash val="solid"/>
          </a:ln>
        </p:spPr>
      </p:sp>
      <p:sp>
        <p:nvSpPr>
          <p:cNvPr id="15" name="Text 13"/>
          <p:cNvSpPr txBox="1"/>
          <p:nvPr/>
        </p:nvSpPr>
        <p:spPr>
          <a:xfrm>
            <a:off x="2980944" y="3602736"/>
            <a:ext cx="194767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preprocess_youtube</a:t>
            </a:r>
            <a:endParaRPr lang="en-US" sz="1200" dirty="0"/>
          </a:p>
          <a:p>
            <a:pPr algn="ctr" indent="0" marL="0">
              <a:buNone/>
            </a:pPr>
            <a:r>
              <a:rPr lang="en-US" sz="1100" dirty="0">
                <a:solidFill>
                  <a:srgbClr val="4B5563"/>
                </a:solidFill>
              </a:rPr>
              <a:t>pandas → upsert + SCD2</a:t>
            </a:r>
            <a:endParaRPr lang="en-US" sz="1200" dirty="0"/>
          </a:p>
        </p:txBody>
      </p:sp>
      <p:sp>
        <p:nvSpPr>
          <p:cNvPr id="16" name="flow box"/>
          <p:cNvSpPr/>
          <p:nvPr/>
        </p:nvSpPr>
        <p:spPr>
          <a:xfrm>
            <a:off x="548640" y="4331208"/>
            <a:ext cx="2057400" cy="475488"/>
          </a:xfrm>
          <a:prstGeom prst="roundRect">
            <a:avLst>
              <a:gd name="adj" fmla="val 11538"/>
            </a:avLst>
          </a:prstGeom>
          <a:solidFill>
            <a:srgbClr val="FDECEC"/>
          </a:solidFill>
          <a:ln w="9525">
            <a:solidFill>
              <a:srgbClr val="E3262E"/>
            </a:solidFill>
            <a:prstDash val="solid"/>
          </a:ln>
        </p:spPr>
      </p:sp>
      <p:sp>
        <p:nvSpPr>
          <p:cNvPr id="17" name="Text 15"/>
          <p:cNvSpPr txBox="1"/>
          <p:nvPr/>
        </p:nvSpPr>
        <p:spPr>
          <a:xfrm>
            <a:off x="603504" y="4331208"/>
            <a:ext cx="194767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dbt_transform</a:t>
            </a:r>
            <a:endParaRPr lang="en-US" sz="1200" dirty="0"/>
          </a:p>
          <a:p>
            <a:pPr algn="ctr" indent="0" marL="0">
              <a:buNone/>
            </a:pPr>
            <a:r>
              <a:rPr lang="en-US" sz="1100" dirty="0">
                <a:solidFill>
                  <a:srgbClr val="4B5563"/>
                </a:solidFill>
              </a:rPr>
              <a:t>Cosmos · 61 task dbt</a:t>
            </a:r>
            <a:endParaRPr lang="en-US" sz="1200" dirty="0"/>
          </a:p>
        </p:txBody>
      </p:sp>
      <p:sp>
        <p:nvSpPr>
          <p:cNvPr id="18" name="flow box"/>
          <p:cNvSpPr/>
          <p:nvPr/>
        </p:nvSpPr>
        <p:spPr>
          <a:xfrm>
            <a:off x="2926080" y="4331208"/>
            <a:ext cx="2057400" cy="475488"/>
          </a:xfrm>
          <a:prstGeom prst="roundRect">
            <a:avLst>
              <a:gd name="adj" fmla="val 11538"/>
            </a:avLst>
          </a:prstGeom>
          <a:solidFill>
            <a:srgbClr val="FFF7E6"/>
          </a:solidFill>
          <a:ln w="9525">
            <a:solidFill>
              <a:srgbClr val="F2A900"/>
            </a:solidFill>
            <a:prstDash val="solid"/>
          </a:ln>
        </p:spPr>
      </p:sp>
      <p:sp>
        <p:nvSpPr>
          <p:cNvPr id="19" name="Text 17"/>
          <p:cNvSpPr txBox="1"/>
          <p:nvPr/>
        </p:nvSpPr>
        <p:spPr>
          <a:xfrm>
            <a:off x="2980944" y="4331208"/>
            <a:ext cx="194767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notify_quarantine</a:t>
            </a:r>
            <a:endParaRPr lang="en-US" sz="1200" dirty="0"/>
          </a:p>
          <a:p>
            <a:pPr algn="ctr" indent="0" marL="0">
              <a:buNone/>
            </a:pPr>
            <a:r>
              <a:rPr lang="en-US" sz="1100" dirty="0">
                <a:solidFill>
                  <a:srgbClr val="4B5563"/>
                </a:solidFill>
              </a:rPr>
              <a:t>all_done · email karantina</a:t>
            </a:r>
            <a:endParaRPr lang="en-US" sz="1200" dirty="0"/>
          </a:p>
        </p:txBody>
      </p:sp>
      <p:sp>
        <p:nvSpPr>
          <p:cNvPr id="20" name="flow box"/>
          <p:cNvSpPr/>
          <p:nvPr/>
        </p:nvSpPr>
        <p:spPr>
          <a:xfrm>
            <a:off x="548640" y="5059680"/>
            <a:ext cx="2057400" cy="475488"/>
          </a:xfrm>
          <a:prstGeom prst="roundRect">
            <a:avLst>
              <a:gd name="adj" fmla="val 11538"/>
            </a:avLst>
          </a:prstGeom>
          <a:solidFill>
            <a:srgbClr val="F3F4F6"/>
          </a:solidFill>
          <a:ln w="9525">
            <a:solidFill>
              <a:srgbClr val="D1D5DB"/>
            </a:solidFill>
            <a:prstDash val="solid"/>
          </a:ln>
        </p:spPr>
      </p:sp>
      <p:sp>
        <p:nvSpPr>
          <p:cNvPr id="21" name="Text 19"/>
          <p:cNvSpPr txBox="1"/>
          <p:nvPr/>
        </p:nvSpPr>
        <p:spPr>
          <a:xfrm>
            <a:off x="603504" y="5059680"/>
            <a:ext cx="194767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dq_checks</a:t>
            </a:r>
            <a:endParaRPr lang="en-US" sz="1200" dirty="0"/>
          </a:p>
          <a:p>
            <a:pPr algn="ctr" indent="0" marL="0">
              <a:buNone/>
            </a:pPr>
            <a:r>
              <a:rPr lang="en-US" sz="1100" dirty="0">
                <a:solidFill>
                  <a:srgbClr val="4B5563"/>
                </a:solidFill>
              </a:rPr>
              <a:t>10 cek statistik</a:t>
            </a:r>
            <a:endParaRPr lang="en-US" sz="1200" dirty="0"/>
          </a:p>
        </p:txBody>
      </p:sp>
      <p:sp>
        <p:nvSpPr>
          <p:cNvPr id="22" name="flow box"/>
          <p:cNvSpPr/>
          <p:nvPr/>
        </p:nvSpPr>
        <p:spPr>
          <a:xfrm>
            <a:off x="548640" y="5788152"/>
            <a:ext cx="2057400" cy="475488"/>
          </a:xfrm>
          <a:prstGeom prst="roundRect">
            <a:avLst>
              <a:gd name="adj" fmla="val 11538"/>
            </a:avLst>
          </a:prstGeom>
          <a:solidFill>
            <a:srgbClr val="F3F4F6"/>
          </a:solidFill>
          <a:ln w="9525">
            <a:solidFill>
              <a:srgbClr val="D1D5DB"/>
            </a:solidFill>
            <a:prstDash val="solid"/>
          </a:ln>
        </p:spPr>
      </p:sp>
      <p:sp>
        <p:nvSpPr>
          <p:cNvPr id="23" name="Text 21"/>
          <p:cNvSpPr txBox="1"/>
          <p:nvPr/>
        </p:nvSpPr>
        <p:spPr>
          <a:xfrm>
            <a:off x="603504" y="5788152"/>
            <a:ext cx="1947672" cy="475488"/>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publish_dashboards</a:t>
            </a:r>
            <a:endParaRPr lang="en-US" sz="1200" dirty="0"/>
          </a:p>
          <a:p>
            <a:pPr algn="ctr" indent="0" marL="0">
              <a:buNone/>
            </a:pPr>
            <a:r>
              <a:rPr lang="en-US" sz="1100" dirty="0">
                <a:solidFill>
                  <a:srgbClr val="4B5563"/>
                </a:solidFill>
              </a:rPr>
              <a:t>3 dashboard Superset</a:t>
            </a:r>
            <a:endParaRPr lang="en-US" sz="1200" dirty="0"/>
          </a:p>
        </p:txBody>
      </p:sp>
      <p:sp>
        <p:nvSpPr>
          <p:cNvPr id="24" name="email box"/>
          <p:cNvSpPr/>
          <p:nvPr/>
        </p:nvSpPr>
        <p:spPr>
          <a:xfrm>
            <a:off x="2926080" y="5059680"/>
            <a:ext cx="2057400" cy="1203960"/>
          </a:xfrm>
          <a:prstGeom prst="roundRect">
            <a:avLst>
              <a:gd name="adj" fmla="val 6076"/>
            </a:avLst>
          </a:prstGeom>
          <a:solidFill>
            <a:srgbClr val="FFF7E6"/>
          </a:solidFill>
          <a:ln w="9525">
            <a:solidFill>
              <a:srgbClr val="F2A900"/>
            </a:solidFill>
            <a:prstDash val="solid"/>
          </a:ln>
        </p:spPr>
      </p:sp>
      <p:sp>
        <p:nvSpPr>
          <p:cNvPr id="25" name="icon circle"/>
          <p:cNvSpPr/>
          <p:nvPr/>
        </p:nvSpPr>
        <p:spPr>
          <a:xfrm>
            <a:off x="3063240" y="5196840"/>
            <a:ext cx="365760" cy="365760"/>
          </a:xfrm>
          <a:prstGeom prst="ellipse">
            <a:avLst/>
          </a:prstGeom>
          <a:solidFill>
            <a:srgbClr val="F2A900"/>
          </a:solidFill>
          <a:ln/>
        </p:spPr>
      </p:sp>
      <p:pic>
        <p:nvPicPr>
          <p:cNvPr id="26" name="icon" descr="preencoded.png">    </p:cNvPr>
          <p:cNvPicPr>
            <a:picLocks noChangeAspect="1"/>
          </p:cNvPicPr>
          <p:nvPr/>
        </p:nvPicPr>
        <p:blipFill>
          <a:blip r:embed="rId1"/>
          <a:stretch>
            <a:fillRect/>
          </a:stretch>
        </p:blipFill>
        <p:spPr>
          <a:xfrm>
            <a:off x="3151022" y="5284622"/>
            <a:ext cx="190195" cy="190195"/>
          </a:xfrm>
          <a:prstGeom prst="rect">
            <a:avLst/>
          </a:prstGeom>
        </p:spPr>
      </p:pic>
      <p:sp>
        <p:nvSpPr>
          <p:cNvPr id="27" name="Text 24"/>
          <p:cNvSpPr txBox="1"/>
          <p:nvPr/>
        </p:nvSpPr>
        <p:spPr>
          <a:xfrm>
            <a:off x="3520440" y="5196840"/>
            <a:ext cx="1371600" cy="365760"/>
          </a:xfrm>
          <a:prstGeom prst="rect">
            <a:avLst/>
          </a:prstGeom>
          <a:noFill/>
          <a:ln/>
        </p:spPr>
        <p:txBody>
          <a:bodyPr wrap="square" lIns="0" tIns="0" rIns="0" bIns="0" rtlCol="0" anchor="ctr"/>
          <a:lstStyle/>
          <a:p>
            <a:pPr indent="0" marL="0">
              <a:buNone/>
            </a:pPr>
            <a:r>
              <a:rPr lang="en-US" sz="1300" b="1" dirty="0">
                <a:solidFill>
                  <a:schemeClr val="tx1"/>
                </a:solidFill>
              </a:rPr>
              <a:t>Email alert</a:t>
            </a:r>
            <a:endParaRPr lang="en-US" sz="1300" dirty="0"/>
          </a:p>
        </p:txBody>
      </p:sp>
      <p:sp>
        <p:nvSpPr>
          <p:cNvPr id="28" name="Text 25"/>
          <p:cNvSpPr txBox="1"/>
          <p:nvPr/>
        </p:nvSpPr>
        <p:spPr>
          <a:xfrm>
            <a:off x="3063240" y="5626608"/>
            <a:ext cx="1783080" cy="563880"/>
          </a:xfrm>
          <a:prstGeom prst="rect">
            <a:avLst/>
          </a:prstGeom>
          <a:noFill/>
          <a:ln/>
        </p:spPr>
        <p:txBody>
          <a:bodyPr wrap="square" lIns="0" tIns="0" rIns="0" bIns="0" rtlCol="0" anchor="t"/>
          <a:lstStyle/>
          <a:p>
            <a:pPr indent="0" marL="0">
              <a:buNone/>
            </a:pPr>
            <a:r>
              <a:rPr lang="en-US" sz="1100" b="1" dirty="0">
                <a:solidFill>
                  <a:schemeClr val="tx1"/>
                </a:solidFill>
              </a:rPr>
              <a:t>fachrifa1898@gmail.com</a:t>
            </a:r>
            <a:endParaRPr lang="en-US" sz="1100" dirty="0"/>
          </a:p>
          <a:p>
            <a:pPr indent="0" marL="0">
              <a:buNone/>
            </a:pPr>
            <a:r>
              <a:rPr lang="en-US" sz="1100" dirty="0">
                <a:solidFill>
                  <a:srgbClr val="4B5563"/>
                </a:solidFill>
              </a:rPr>
              <a:t>karantina + setiap task gagal (on_failure_callback)</a:t>
            </a:r>
            <a:endParaRPr lang="en-US" sz="1100" dirty="0"/>
          </a:p>
        </p:txBody>
      </p:sp>
      <p:sp>
        <p:nvSpPr>
          <p:cNvPr id="29" name="connector"/>
          <p:cNvSpPr/>
          <p:nvPr/>
        </p:nvSpPr>
        <p:spPr>
          <a:xfrm>
            <a:off x="2766060" y="1892808"/>
            <a:ext cx="0" cy="252984"/>
          </a:xfrm>
          <a:prstGeom prst="line">
            <a:avLst/>
          </a:prstGeom>
          <a:noFill/>
          <a:ln w="15875">
            <a:solidFill>
              <a:srgbClr val="6B7280"/>
            </a:solidFill>
            <a:prstDash val="solid"/>
            <a:tailEnd type="triangle"/>
          </a:ln>
        </p:spPr>
      </p:sp>
      <p:sp>
        <p:nvSpPr>
          <p:cNvPr id="30" name="connector"/>
          <p:cNvSpPr/>
          <p:nvPr/>
        </p:nvSpPr>
        <p:spPr>
          <a:xfrm>
            <a:off x="2766060" y="2621280"/>
            <a:ext cx="0" cy="126492"/>
          </a:xfrm>
          <a:prstGeom prst="line">
            <a:avLst/>
          </a:prstGeom>
          <a:noFill/>
          <a:ln w="15875">
            <a:solidFill>
              <a:srgbClr val="6B7280"/>
            </a:solidFill>
            <a:prstDash val="solid"/>
          </a:ln>
        </p:spPr>
      </p:sp>
      <p:sp>
        <p:nvSpPr>
          <p:cNvPr id="31" name="connector"/>
          <p:cNvSpPr/>
          <p:nvPr/>
        </p:nvSpPr>
        <p:spPr>
          <a:xfrm>
            <a:off x="1577340" y="2747772"/>
            <a:ext cx="2377440" cy="0"/>
          </a:xfrm>
          <a:prstGeom prst="line">
            <a:avLst/>
          </a:prstGeom>
          <a:noFill/>
          <a:ln w="15875">
            <a:solidFill>
              <a:srgbClr val="6B7280"/>
            </a:solidFill>
            <a:prstDash val="solid"/>
          </a:ln>
        </p:spPr>
      </p:sp>
      <p:sp>
        <p:nvSpPr>
          <p:cNvPr id="32" name="connector"/>
          <p:cNvSpPr/>
          <p:nvPr/>
        </p:nvSpPr>
        <p:spPr>
          <a:xfrm>
            <a:off x="1577340" y="2747772"/>
            <a:ext cx="0" cy="126492"/>
          </a:xfrm>
          <a:prstGeom prst="line">
            <a:avLst/>
          </a:prstGeom>
          <a:noFill/>
          <a:ln w="15875">
            <a:solidFill>
              <a:srgbClr val="6B7280"/>
            </a:solidFill>
            <a:prstDash val="solid"/>
            <a:tailEnd type="triangle"/>
          </a:ln>
        </p:spPr>
      </p:sp>
      <p:sp>
        <p:nvSpPr>
          <p:cNvPr id="33" name="connector"/>
          <p:cNvSpPr/>
          <p:nvPr/>
        </p:nvSpPr>
        <p:spPr>
          <a:xfrm>
            <a:off x="3954780" y="2747772"/>
            <a:ext cx="0" cy="126492"/>
          </a:xfrm>
          <a:prstGeom prst="line">
            <a:avLst/>
          </a:prstGeom>
          <a:noFill/>
          <a:ln w="15875">
            <a:solidFill>
              <a:srgbClr val="6B7280"/>
            </a:solidFill>
            <a:prstDash val="solid"/>
            <a:tailEnd type="triangle"/>
          </a:ln>
        </p:spPr>
      </p:sp>
      <p:sp>
        <p:nvSpPr>
          <p:cNvPr id="34" name="connector"/>
          <p:cNvSpPr/>
          <p:nvPr/>
        </p:nvSpPr>
        <p:spPr>
          <a:xfrm>
            <a:off x="1577340" y="3349752"/>
            <a:ext cx="0" cy="252984"/>
          </a:xfrm>
          <a:prstGeom prst="line">
            <a:avLst/>
          </a:prstGeom>
          <a:noFill/>
          <a:ln w="15875">
            <a:solidFill>
              <a:srgbClr val="6B7280"/>
            </a:solidFill>
            <a:prstDash val="solid"/>
            <a:tailEnd type="triangle"/>
          </a:ln>
        </p:spPr>
      </p:sp>
      <p:sp>
        <p:nvSpPr>
          <p:cNvPr id="35" name="connector"/>
          <p:cNvSpPr/>
          <p:nvPr/>
        </p:nvSpPr>
        <p:spPr>
          <a:xfrm>
            <a:off x="3954780" y="3349752"/>
            <a:ext cx="0" cy="252984"/>
          </a:xfrm>
          <a:prstGeom prst="line">
            <a:avLst/>
          </a:prstGeom>
          <a:noFill/>
          <a:ln w="15875">
            <a:solidFill>
              <a:srgbClr val="6B7280"/>
            </a:solidFill>
            <a:prstDash val="solid"/>
            <a:tailEnd type="triangle"/>
          </a:ln>
        </p:spPr>
      </p:sp>
      <p:sp>
        <p:nvSpPr>
          <p:cNvPr id="36" name="connector"/>
          <p:cNvSpPr/>
          <p:nvPr/>
        </p:nvSpPr>
        <p:spPr>
          <a:xfrm>
            <a:off x="1577340" y="4078224"/>
            <a:ext cx="0" cy="252984"/>
          </a:xfrm>
          <a:prstGeom prst="line">
            <a:avLst/>
          </a:prstGeom>
          <a:noFill/>
          <a:ln w="15875">
            <a:solidFill>
              <a:srgbClr val="6B7280"/>
            </a:solidFill>
            <a:prstDash val="solid"/>
            <a:tailEnd type="triangle"/>
          </a:ln>
        </p:spPr>
      </p:sp>
      <p:sp>
        <p:nvSpPr>
          <p:cNvPr id="37" name="connector"/>
          <p:cNvSpPr/>
          <p:nvPr/>
        </p:nvSpPr>
        <p:spPr>
          <a:xfrm>
            <a:off x="3954780" y="4078224"/>
            <a:ext cx="0" cy="252984"/>
          </a:xfrm>
          <a:prstGeom prst="line">
            <a:avLst/>
          </a:prstGeom>
          <a:noFill/>
          <a:ln w="15875">
            <a:solidFill>
              <a:srgbClr val="6B7280"/>
            </a:solidFill>
            <a:prstDash val="solid"/>
            <a:tailEnd type="triangle"/>
          </a:ln>
        </p:spPr>
      </p:sp>
      <p:sp>
        <p:nvSpPr>
          <p:cNvPr id="38" name="connector"/>
          <p:cNvSpPr/>
          <p:nvPr/>
        </p:nvSpPr>
        <p:spPr>
          <a:xfrm>
            <a:off x="1577340" y="4204716"/>
            <a:ext cx="2377440" cy="0"/>
          </a:xfrm>
          <a:prstGeom prst="line">
            <a:avLst/>
          </a:prstGeom>
          <a:noFill/>
          <a:ln w="15875">
            <a:solidFill>
              <a:srgbClr val="6B7280"/>
            </a:solidFill>
            <a:prstDash val="solid"/>
          </a:ln>
        </p:spPr>
      </p:sp>
      <p:sp>
        <p:nvSpPr>
          <p:cNvPr id="39" name="connector"/>
          <p:cNvSpPr/>
          <p:nvPr/>
        </p:nvSpPr>
        <p:spPr>
          <a:xfrm>
            <a:off x="1577340" y="4806696"/>
            <a:ext cx="0" cy="252984"/>
          </a:xfrm>
          <a:prstGeom prst="line">
            <a:avLst/>
          </a:prstGeom>
          <a:noFill/>
          <a:ln w="15875">
            <a:solidFill>
              <a:srgbClr val="6B7280"/>
            </a:solidFill>
            <a:prstDash val="solid"/>
            <a:tailEnd type="triangle"/>
          </a:ln>
        </p:spPr>
      </p:sp>
      <p:sp>
        <p:nvSpPr>
          <p:cNvPr id="40" name="connector"/>
          <p:cNvSpPr/>
          <p:nvPr/>
        </p:nvSpPr>
        <p:spPr>
          <a:xfrm>
            <a:off x="1577340" y="5535168"/>
            <a:ext cx="0" cy="252984"/>
          </a:xfrm>
          <a:prstGeom prst="line">
            <a:avLst/>
          </a:prstGeom>
          <a:noFill/>
          <a:ln w="15875">
            <a:solidFill>
              <a:srgbClr val="6B7280"/>
            </a:solidFill>
            <a:prstDash val="solid"/>
            <a:tailEnd type="triangle"/>
          </a:ln>
        </p:spPr>
      </p:sp>
      <p:sp>
        <p:nvSpPr>
          <p:cNvPr id="41" name="connector"/>
          <p:cNvSpPr/>
          <p:nvPr/>
        </p:nvSpPr>
        <p:spPr>
          <a:xfrm>
            <a:off x="3954780" y="4806696"/>
            <a:ext cx="0" cy="252984"/>
          </a:xfrm>
          <a:prstGeom prst="line">
            <a:avLst/>
          </a:prstGeom>
          <a:noFill/>
          <a:ln w="15875">
            <a:solidFill>
              <a:srgbClr val="F2A900"/>
            </a:solidFill>
            <a:prstDash val="solid"/>
            <a:tailEnd type="triangle"/>
          </a:ln>
        </p:spPr>
      </p:sp>
      <p:sp>
        <p:nvSpPr>
          <p:cNvPr id="42" name="Text 39"/>
          <p:cNvSpPr txBox="1"/>
          <p:nvPr/>
        </p:nvSpPr>
        <p:spPr>
          <a:xfrm>
            <a:off x="5349240" y="1417320"/>
            <a:ext cx="629381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RUN NYATA · 15 OKT 2026</a:t>
            </a:r>
            <a:endParaRPr lang="en-US" sz="1100" dirty="0"/>
          </a:p>
        </p:txBody>
      </p:sp>
      <p:sp>
        <p:nvSpPr>
          <p:cNvPr id="43" name="image frame"/>
          <p:cNvSpPr/>
          <p:nvPr/>
        </p:nvSpPr>
        <p:spPr>
          <a:xfrm>
            <a:off x="5321808" y="1682496"/>
            <a:ext cx="6348679" cy="1558841"/>
          </a:xfrm>
          <a:prstGeom prst="rect">
            <a:avLst/>
          </a:prstGeom>
          <a:solidFill>
            <a:srgbClr val="FFFFFF"/>
          </a:solidFill>
          <a:ln w="9525">
            <a:solidFill>
              <a:srgbClr val="D1D5DB"/>
            </a:solidFill>
            <a:prstDash val="solid"/>
          </a:ln>
        </p:spPr>
      </p:sp>
      <p:pic>
        <p:nvPicPr>
          <p:cNvPr id="44" name="airflow_run_top.png" descr="C:\Users\CODE.ID\AppData\Local\Temp\claude\c--pribadi-technical-test-massive-music-massive-music-elt\52e738a4-6aae-4658-ba81-31638200b1b2\scratchpad\deck\crops\airflow_run_top.png">    </p:cNvPr>
          <p:cNvPicPr>
            <a:picLocks noChangeAspect="1"/>
          </p:cNvPicPr>
          <p:nvPr/>
        </p:nvPicPr>
        <p:blipFill>
          <a:blip r:embed="rId2"/>
          <a:stretch>
            <a:fillRect/>
          </a:stretch>
        </p:blipFill>
        <p:spPr>
          <a:xfrm>
            <a:off x="5349240" y="1709928"/>
            <a:ext cx="6293815" cy="1503977"/>
          </a:xfrm>
          <a:prstGeom prst="rect">
            <a:avLst/>
          </a:prstGeom>
        </p:spPr>
      </p:pic>
      <p:sp>
        <p:nvSpPr>
          <p:cNvPr id="45" name="Text 41"/>
          <p:cNvSpPr txBox="1"/>
          <p:nvPr/>
        </p:nvSpPr>
        <p:spPr>
          <a:xfrm>
            <a:off x="5349240" y="3310128"/>
            <a:ext cx="6293815" cy="274320"/>
          </a:xfrm>
          <a:prstGeom prst="rect">
            <a:avLst/>
          </a:prstGeom>
          <a:noFill/>
          <a:ln/>
        </p:spPr>
        <p:txBody>
          <a:bodyPr wrap="square" lIns="0" tIns="0" rIns="0" bIns="0" rtlCol="0" anchor="t"/>
          <a:lstStyle/>
          <a:p>
            <a:pPr indent="0" marL="0">
              <a:buNone/>
            </a:pPr>
            <a:r>
              <a:rPr lang="en-US" sz="1100" i="1" dirty="0">
                <a:solidFill>
                  <a:schemeClr val="accent2"/>
                </a:solidFill>
              </a:rPr>
              <a:t>70 task instance hijau (9 task Python + 61 task dbt) dalam 5 menit 17 detik.</a:t>
            </a:r>
            <a:endParaRPr lang="en-US" sz="1100" dirty="0"/>
          </a:p>
        </p:txBody>
      </p:sp>
      <p:sp>
        <p:nvSpPr>
          <p:cNvPr id="46" name="info card"/>
          <p:cNvSpPr/>
          <p:nvPr/>
        </p:nvSpPr>
        <p:spPr>
          <a:xfrm>
            <a:off x="5349240" y="3657600"/>
            <a:ext cx="3032608" cy="1280160"/>
          </a:xfrm>
          <a:prstGeom prst="roundRect">
            <a:avLst>
              <a:gd name="adj" fmla="val 5714"/>
            </a:avLst>
          </a:prstGeom>
          <a:solidFill>
            <a:schemeClr val="bg2"/>
          </a:solidFill>
          <a:ln/>
        </p:spPr>
      </p:sp>
      <p:sp>
        <p:nvSpPr>
          <p:cNvPr id="47" name="icon circle"/>
          <p:cNvSpPr/>
          <p:nvPr/>
        </p:nvSpPr>
        <p:spPr>
          <a:xfrm>
            <a:off x="5532120" y="3840480"/>
            <a:ext cx="365760" cy="365760"/>
          </a:xfrm>
          <a:prstGeom prst="ellipse">
            <a:avLst/>
          </a:prstGeom>
          <a:solidFill>
            <a:schemeClr val="accent1"/>
          </a:solidFill>
          <a:ln/>
        </p:spPr>
      </p:sp>
      <p:pic>
        <p:nvPicPr>
          <p:cNvPr id="48" name="icon" descr="preencoded.png">    </p:cNvPr>
          <p:cNvPicPr>
            <a:picLocks noChangeAspect="1"/>
          </p:cNvPicPr>
          <p:nvPr/>
        </p:nvPicPr>
        <p:blipFill>
          <a:blip r:embed="rId3"/>
          <a:stretch>
            <a:fillRect/>
          </a:stretch>
        </p:blipFill>
        <p:spPr>
          <a:xfrm>
            <a:off x="5619902" y="3928262"/>
            <a:ext cx="190195" cy="190195"/>
          </a:xfrm>
          <a:prstGeom prst="rect">
            <a:avLst/>
          </a:prstGeom>
        </p:spPr>
      </p:pic>
      <p:sp>
        <p:nvSpPr>
          <p:cNvPr id="49" name="Text 44"/>
          <p:cNvSpPr txBox="1"/>
          <p:nvPr/>
        </p:nvSpPr>
        <p:spPr>
          <a:xfrm>
            <a:off x="5989320" y="3840480"/>
            <a:ext cx="2209648" cy="365760"/>
          </a:xfrm>
          <a:prstGeom prst="rect">
            <a:avLst/>
          </a:prstGeom>
          <a:noFill/>
          <a:ln/>
        </p:spPr>
        <p:txBody>
          <a:bodyPr wrap="square" lIns="0" tIns="0" rIns="0" bIns="0" rtlCol="0" anchor="ctr"/>
          <a:lstStyle/>
          <a:p>
            <a:pPr indent="0" marL="0">
              <a:buNone/>
            </a:pPr>
            <a:r>
              <a:rPr lang="en-US" sz="1400" b="1" dirty="0">
                <a:solidFill>
                  <a:schemeClr val="tx1"/>
                </a:solidFill>
              </a:rPr>
              <a:t>Satu file, 20 section</a:t>
            </a:r>
            <a:endParaRPr lang="en-US" sz="1400" dirty="0"/>
          </a:p>
        </p:txBody>
      </p:sp>
      <p:sp>
        <p:nvSpPr>
          <p:cNvPr id="50" name="Text 45"/>
          <p:cNvSpPr txBox="1"/>
          <p:nvPr/>
        </p:nvSpPr>
        <p:spPr>
          <a:xfrm>
            <a:off x="5532120" y="4315968"/>
            <a:ext cx="2666848" cy="530352"/>
          </a:xfrm>
          <a:prstGeom prst="rect">
            <a:avLst/>
          </a:prstGeom>
          <a:noFill/>
          <a:ln/>
        </p:spPr>
        <p:txBody>
          <a:bodyPr wrap="square" lIns="0" tIns="0" rIns="0" bIns="0" rtlCol="0" anchor="t"/>
          <a:lstStyle/>
          <a:p>
            <a:pPr indent="0" marL="0">
              <a:buNone/>
            </a:pPr>
            <a:r>
              <a:rPr lang="en-US" sz="1250" dirty="0">
                <a:solidFill>
                  <a:schemeClr val="tx1"/>
                </a:solidFill>
              </a:rPr>
              <a:t>Config, email, ekstraksi, pandas, SCD2, DQ, Superset di satu .py</a:t>
            </a:r>
            <a:endParaRPr lang="en-US" sz="1250" dirty="0"/>
          </a:p>
        </p:txBody>
      </p:sp>
      <p:sp>
        <p:nvSpPr>
          <p:cNvPr id="51" name="info card"/>
          <p:cNvSpPr/>
          <p:nvPr/>
        </p:nvSpPr>
        <p:spPr>
          <a:xfrm>
            <a:off x="8610448" y="3657600"/>
            <a:ext cx="3032608" cy="1280160"/>
          </a:xfrm>
          <a:prstGeom prst="roundRect">
            <a:avLst>
              <a:gd name="adj" fmla="val 5714"/>
            </a:avLst>
          </a:prstGeom>
          <a:solidFill>
            <a:schemeClr val="bg2"/>
          </a:solidFill>
          <a:ln/>
        </p:spPr>
      </p:sp>
      <p:sp>
        <p:nvSpPr>
          <p:cNvPr id="52" name="icon circle"/>
          <p:cNvSpPr/>
          <p:nvPr/>
        </p:nvSpPr>
        <p:spPr>
          <a:xfrm>
            <a:off x="8793328" y="3840480"/>
            <a:ext cx="365760" cy="365760"/>
          </a:xfrm>
          <a:prstGeom prst="ellipse">
            <a:avLst/>
          </a:prstGeom>
          <a:solidFill>
            <a:schemeClr val="accent1"/>
          </a:solidFill>
          <a:ln/>
        </p:spPr>
      </p:sp>
      <p:pic>
        <p:nvPicPr>
          <p:cNvPr id="53" name="icon" descr="preencoded.png">    </p:cNvPr>
          <p:cNvPicPr>
            <a:picLocks noChangeAspect="1"/>
          </p:cNvPicPr>
          <p:nvPr/>
        </p:nvPicPr>
        <p:blipFill>
          <a:blip r:embed="rId4"/>
          <a:stretch>
            <a:fillRect/>
          </a:stretch>
        </p:blipFill>
        <p:spPr>
          <a:xfrm>
            <a:off x="8881110" y="3928262"/>
            <a:ext cx="190195" cy="190195"/>
          </a:xfrm>
          <a:prstGeom prst="rect">
            <a:avLst/>
          </a:prstGeom>
        </p:spPr>
      </p:pic>
      <p:sp>
        <p:nvSpPr>
          <p:cNvPr id="54" name="Text 48"/>
          <p:cNvSpPr txBox="1"/>
          <p:nvPr/>
        </p:nvSpPr>
        <p:spPr>
          <a:xfrm>
            <a:off x="9250528" y="3840480"/>
            <a:ext cx="2209648" cy="365760"/>
          </a:xfrm>
          <a:prstGeom prst="rect">
            <a:avLst/>
          </a:prstGeom>
          <a:noFill/>
          <a:ln/>
        </p:spPr>
        <p:txBody>
          <a:bodyPr wrap="square" lIns="0" tIns="0" rIns="0" bIns="0" rtlCol="0" anchor="ctr"/>
          <a:lstStyle/>
          <a:p>
            <a:pPr indent="0" marL="0">
              <a:buNone/>
            </a:pPr>
            <a:r>
              <a:rPr lang="en-US" sz="1400" b="1" dirty="0">
                <a:solidFill>
                  <a:schemeClr val="tx1"/>
                </a:solidFill>
              </a:rPr>
              <a:t>Jadwal 15:15 WIB</a:t>
            </a:r>
            <a:endParaRPr lang="en-US" sz="1400" dirty="0"/>
          </a:p>
        </p:txBody>
      </p:sp>
      <p:sp>
        <p:nvSpPr>
          <p:cNvPr id="55" name="Text 49"/>
          <p:cNvSpPr txBox="1"/>
          <p:nvPr/>
        </p:nvSpPr>
        <p:spPr>
          <a:xfrm>
            <a:off x="8793328" y="4315968"/>
            <a:ext cx="2666848" cy="530352"/>
          </a:xfrm>
          <a:prstGeom prst="rect">
            <a:avLst/>
          </a:prstGeom>
          <a:noFill/>
          <a:ln/>
        </p:spPr>
        <p:txBody>
          <a:bodyPr wrap="square" lIns="0" tIns="0" rIns="0" bIns="0" rtlCol="0" anchor="t"/>
          <a:lstStyle/>
          <a:p>
            <a:pPr indent="0" marL="0">
              <a:buNone/>
            </a:pPr>
            <a:r>
              <a:rPr lang="en-US" sz="1250" dirty="0">
                <a:solidFill>
                  <a:schemeClr val="tx1"/>
                </a:solidFill>
              </a:rPr>
              <a:t>Setelah reset kuota YouTube; catchup=False, max_active_runs=1</a:t>
            </a:r>
            <a:endParaRPr lang="en-US" sz="1250" dirty="0"/>
          </a:p>
        </p:txBody>
      </p:sp>
      <p:sp>
        <p:nvSpPr>
          <p:cNvPr id="56" name="info card"/>
          <p:cNvSpPr/>
          <p:nvPr/>
        </p:nvSpPr>
        <p:spPr>
          <a:xfrm>
            <a:off x="5349240" y="4983480"/>
            <a:ext cx="3032608" cy="1280160"/>
          </a:xfrm>
          <a:prstGeom prst="roundRect">
            <a:avLst>
              <a:gd name="adj" fmla="val 5714"/>
            </a:avLst>
          </a:prstGeom>
          <a:solidFill>
            <a:schemeClr val="bg2"/>
          </a:solidFill>
          <a:ln/>
        </p:spPr>
      </p:sp>
      <p:sp>
        <p:nvSpPr>
          <p:cNvPr id="57" name="icon circle"/>
          <p:cNvSpPr/>
          <p:nvPr/>
        </p:nvSpPr>
        <p:spPr>
          <a:xfrm>
            <a:off x="5532120" y="5166360"/>
            <a:ext cx="365760" cy="365760"/>
          </a:xfrm>
          <a:prstGeom prst="ellipse">
            <a:avLst/>
          </a:prstGeom>
          <a:solidFill>
            <a:schemeClr val="accent1"/>
          </a:solidFill>
          <a:ln/>
        </p:spPr>
      </p:sp>
      <p:pic>
        <p:nvPicPr>
          <p:cNvPr id="58" name="icon" descr="preencoded.png">    </p:cNvPr>
          <p:cNvPicPr>
            <a:picLocks noChangeAspect="1"/>
          </p:cNvPicPr>
          <p:nvPr/>
        </p:nvPicPr>
        <p:blipFill>
          <a:blip r:embed="rId5"/>
          <a:stretch>
            <a:fillRect/>
          </a:stretch>
        </p:blipFill>
        <p:spPr>
          <a:xfrm>
            <a:off x="5619902" y="5254142"/>
            <a:ext cx="190195" cy="190195"/>
          </a:xfrm>
          <a:prstGeom prst="rect">
            <a:avLst/>
          </a:prstGeom>
        </p:spPr>
      </p:pic>
      <p:sp>
        <p:nvSpPr>
          <p:cNvPr id="59" name="Text 52"/>
          <p:cNvSpPr txBox="1"/>
          <p:nvPr/>
        </p:nvSpPr>
        <p:spPr>
          <a:xfrm>
            <a:off x="5989320" y="5166360"/>
            <a:ext cx="2209648" cy="365760"/>
          </a:xfrm>
          <a:prstGeom prst="rect">
            <a:avLst/>
          </a:prstGeom>
          <a:noFill/>
          <a:ln/>
        </p:spPr>
        <p:txBody>
          <a:bodyPr wrap="square" lIns="0" tIns="0" rIns="0" bIns="0" rtlCol="0" anchor="ctr"/>
          <a:lstStyle/>
          <a:p>
            <a:pPr indent="0" marL="0">
              <a:buNone/>
            </a:pPr>
            <a:r>
              <a:rPr lang="en-US" sz="1400" b="1" dirty="0">
                <a:solidFill>
                  <a:schemeClr val="tx1"/>
                </a:solidFill>
              </a:rPr>
              <a:t>Hanya incremental</a:t>
            </a:r>
            <a:endParaRPr lang="en-US" sz="1400" dirty="0"/>
          </a:p>
        </p:txBody>
      </p:sp>
      <p:sp>
        <p:nvSpPr>
          <p:cNvPr id="60" name="Text 53"/>
          <p:cNvSpPr txBox="1"/>
          <p:nvPr/>
        </p:nvSpPr>
        <p:spPr>
          <a:xfrm>
            <a:off x="5532120" y="5641848"/>
            <a:ext cx="2666848" cy="530352"/>
          </a:xfrm>
          <a:prstGeom prst="rect">
            <a:avLst/>
          </a:prstGeom>
          <a:noFill/>
          <a:ln/>
        </p:spPr>
        <p:txBody>
          <a:bodyPr wrap="square" lIns="0" tIns="0" rIns="0" bIns="0" rtlCol="0" anchor="t"/>
          <a:lstStyle/>
          <a:p>
            <a:pPr indent="0" marL="0">
              <a:buNone/>
            </a:pPr>
            <a:r>
              <a:rPr lang="en-US" sz="1250" dirty="0">
                <a:solidFill>
                  <a:schemeClr val="tx1"/>
                </a:solidFill>
              </a:rPr>
              <a:t>Tanpa full refresh: lagu baru, basi (7/30 hari), atau berubah</a:t>
            </a:r>
            <a:endParaRPr lang="en-US" sz="1250" dirty="0"/>
          </a:p>
        </p:txBody>
      </p:sp>
      <p:sp>
        <p:nvSpPr>
          <p:cNvPr id="61" name="info card"/>
          <p:cNvSpPr/>
          <p:nvPr/>
        </p:nvSpPr>
        <p:spPr>
          <a:xfrm>
            <a:off x="8610448" y="4983480"/>
            <a:ext cx="3032608" cy="1280160"/>
          </a:xfrm>
          <a:prstGeom prst="roundRect">
            <a:avLst>
              <a:gd name="adj" fmla="val 5714"/>
            </a:avLst>
          </a:prstGeom>
          <a:solidFill>
            <a:schemeClr val="bg2"/>
          </a:solidFill>
          <a:ln/>
        </p:spPr>
      </p:sp>
      <p:sp>
        <p:nvSpPr>
          <p:cNvPr id="62" name="icon circle"/>
          <p:cNvSpPr/>
          <p:nvPr/>
        </p:nvSpPr>
        <p:spPr>
          <a:xfrm>
            <a:off x="8793328" y="5166360"/>
            <a:ext cx="365760" cy="365760"/>
          </a:xfrm>
          <a:prstGeom prst="ellipse">
            <a:avLst/>
          </a:prstGeom>
          <a:solidFill>
            <a:schemeClr val="accent1"/>
          </a:solidFill>
          <a:ln/>
        </p:spPr>
      </p:sp>
      <p:pic>
        <p:nvPicPr>
          <p:cNvPr id="63" name="icon" descr="preencoded.png">    </p:cNvPr>
          <p:cNvPicPr>
            <a:picLocks noChangeAspect="1"/>
          </p:cNvPicPr>
          <p:nvPr/>
        </p:nvPicPr>
        <p:blipFill>
          <a:blip r:embed="rId6"/>
          <a:stretch>
            <a:fillRect/>
          </a:stretch>
        </p:blipFill>
        <p:spPr>
          <a:xfrm>
            <a:off x="8881110" y="5254142"/>
            <a:ext cx="190195" cy="190195"/>
          </a:xfrm>
          <a:prstGeom prst="rect">
            <a:avLst/>
          </a:prstGeom>
        </p:spPr>
      </p:pic>
      <p:sp>
        <p:nvSpPr>
          <p:cNvPr id="64" name="Text 56"/>
          <p:cNvSpPr txBox="1"/>
          <p:nvPr/>
        </p:nvSpPr>
        <p:spPr>
          <a:xfrm>
            <a:off x="9250528" y="5166360"/>
            <a:ext cx="2209648" cy="365760"/>
          </a:xfrm>
          <a:prstGeom prst="rect">
            <a:avLst/>
          </a:prstGeom>
          <a:noFill/>
          <a:ln/>
        </p:spPr>
        <p:txBody>
          <a:bodyPr wrap="square" lIns="0" tIns="0" rIns="0" bIns="0" rtlCol="0" anchor="ctr"/>
          <a:lstStyle/>
          <a:p>
            <a:pPr indent="0" marL="0">
              <a:buNone/>
            </a:pPr>
            <a:r>
              <a:rPr lang="en-US" sz="1400" b="1" dirty="0">
                <a:solidFill>
                  <a:schemeClr val="tx1"/>
                </a:solidFill>
              </a:rPr>
              <a:t>Retry lalu alert</a:t>
            </a:r>
            <a:endParaRPr lang="en-US" sz="1400" dirty="0"/>
          </a:p>
        </p:txBody>
      </p:sp>
      <p:sp>
        <p:nvSpPr>
          <p:cNvPr id="65" name="Text 57"/>
          <p:cNvSpPr txBox="1"/>
          <p:nvPr/>
        </p:nvSpPr>
        <p:spPr>
          <a:xfrm>
            <a:off x="8793328" y="5641848"/>
            <a:ext cx="2666848" cy="530352"/>
          </a:xfrm>
          <a:prstGeom prst="rect">
            <a:avLst/>
          </a:prstGeom>
          <a:noFill/>
          <a:ln/>
        </p:spPr>
        <p:txBody>
          <a:bodyPr wrap="square" lIns="0" tIns="0" rIns="0" bIns="0" rtlCol="0" anchor="t"/>
          <a:lstStyle/>
          <a:p>
            <a:pPr indent="0" marL="0">
              <a:buNone/>
            </a:pPr>
            <a:r>
              <a:rPr lang="en-US" sz="1250" dirty="0">
                <a:solidFill>
                  <a:schemeClr val="tx1"/>
                </a:solidFill>
              </a:rPr>
              <a:t>2× retry eksponensial, timeout 1 jam; gagal → email otomatis</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1 · LOGIKA AIRFLOW</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Apa yang dikerjakan setiap task</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48840"/>
                <a:gridCol w="2788920"/>
                <a:gridCol w="6156655"/>
              </a:tblGrid>
              <a:tr h="457200">
                <a:tc>
                  <a:txBody>
                    <a:bodyPr/>
                    <a:lstStyle/>
                    <a:p>
                      <a:pPr indent="0" marL="0">
                        <a:buNone/>
                      </a:pPr>
                      <a:r>
                        <a:rPr lang="en-US" sz="1200" b="1" dirty="0">
                          <a:solidFill>
                            <a:srgbClr val="FFFFFF"/>
                          </a:solidFill>
                        </a:rPr>
                        <a:t>Task</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Input → output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Logika inti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preflight</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.env → koneksi &amp; tabel siap</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Validasi variabel wajib di .env, cek ClickHouse, terapkan DDL (CREATE … IF NOT EXISTS), uji token Spotify — gagal cepat dengan pesan jelas</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load_catalog</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sheet/xlsx → clean.catalog_songs</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pandas: standardisasi teks, validasi CODE &amp; judul, dedup; baris cacat → karantina; sisanya upsert SCD2 dengan guard hapus &gt; 20%</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extract_spotify</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Web API → raw.spotify_*</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Pilih lagu jatuh tempo; query judul+artis dan judul saja; fallback GET /tracks/{id} untuk ISRC; HTTP 429 → berhenti 'partial'</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extract_youtube</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Data API v3 → raw.youtube_*</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Ledger kuota dicek sebelum setiap call; search.list (100 unit) lalu videos.list per 50 id (1 unit)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preprocess_spotify</a:t>
                      </a:r>
                      <a:endParaRPr lang="en-US" sz="1200" dirty="0">
                        <a:latin typeface="Consolas" charset="0"/>
                        <a:ea typeface="Consolas" charset="0"/>
                        <a:cs typeface="Consolas" charset="0"/>
                      </a:endParaRPr>
                    </a:p>
                    <a:p>
                      <a:pPr indent="0" marL="0">
                        <a:buNone/>
                      </a:pPr>
                      <a:r>
                        <a:rPr lang="en-US" sz="1200" b="1" dirty="0">
                          <a:solidFill>
                            <a:srgbClr val="1B1B1F"/>
                          </a:solidFill>
                          <a:latin typeface="Consolas" pitchFamily="34" charset="0"/>
                          <a:ea typeface="Consolas" pitchFamily="34" charset="-122"/>
                          <a:cs typeface="Consolas" pitchFamily="34" charset="-120"/>
                        </a:rPr>
                        <a:t>preprocess_youtube</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raw (&gt; watermark) → clean.*</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pandas: flatten JSON, standardisasi ISRC/tanggal/durasi, validasi, dedup; karantina; upsert + SCD2; geser watermark</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dbt_transform</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clean.* → staging → marts</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Cosmos: setiap model menjadi task + test-nya; test gagal hanya menghentikan model hilirnya</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dq_checks</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marts &amp; ops → ops.dq_results</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10 cek statistik; severity error → task gagal setelah semua hasil disimpan</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notify_quarantine</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dq.quarantine_records → email</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trigger_rule all_done: tetap jalan walau task hulu gagal; ringkasan per alasan + link dashboard</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57200">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publish_dashboards</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marts → Superset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REST API idempoten: database, dataset, 27 chart, 3 dashboard</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1 · LOGIKA AIRFLOW</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Incremental, idempoten, dan tahan gagal</a:t>
            </a:r>
            <a:endParaRPr lang="en-US" sz="3000" dirty="0"/>
          </a:p>
        </p:txBody>
      </p:sp>
      <p:sp>
        <p:nvSpPr>
          <p:cNvPr id="4" name="code box"/>
          <p:cNvSpPr/>
          <p:nvPr/>
        </p:nvSpPr>
        <p:spPr>
          <a:xfrm>
            <a:off x="548640" y="1417320"/>
            <a:ext cx="5806440" cy="3200400"/>
          </a:xfrm>
          <a:prstGeom prst="roundRect">
            <a:avLst>
              <a:gd name="adj" fmla="val 1714"/>
            </a:avLst>
          </a:prstGeom>
          <a:solidFill>
            <a:srgbClr val="1B1B1F"/>
          </a:solidFill>
          <a:ln/>
        </p:spPr>
      </p:sp>
      <p:sp>
        <p:nvSpPr>
          <p:cNvPr id="5" name="Text 3"/>
          <p:cNvSpPr txBox="1"/>
          <p:nvPr/>
        </p:nvSpPr>
        <p:spPr>
          <a:xfrm>
            <a:off x="777240" y="1563624"/>
            <a:ext cx="53492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SELEKSI LAGU INCREMENTAL</a:t>
            </a:r>
            <a:endParaRPr lang="en-US" sz="1100" dirty="0"/>
          </a:p>
        </p:txBody>
      </p:sp>
      <p:sp>
        <p:nvSpPr>
          <p:cNvPr id="6" name="Text 4"/>
          <p:cNvSpPr txBox="1"/>
          <p:nvPr/>
        </p:nvSpPr>
        <p:spPr>
          <a:xfrm>
            <a:off x="777240" y="1892808"/>
            <a:ext cx="5349240" cy="2615184"/>
          </a:xfrm>
          <a:prstGeom prst="rect">
            <a:avLst/>
          </a:prstGeom>
          <a:noFill/>
          <a:ln/>
        </p:spPr>
        <p:txBody>
          <a:bodyPr wrap="square" lIns="0" tIns="0" rIns="0" bIns="0" rtlCol="0" anchor="t"/>
          <a:lstStyle/>
          <a:p>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SECTION 12: lagu mana yang dikirim ke API?</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SELECT c.song_code, c.song_title, c.original_artist</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FROM   clean.catalog_songs FINAL AS c</a:t>
            </a:r>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 versi SCD2 aktif</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LEFT JOIN done AS d                   </a:t>
            </a:r>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 sukses terakhir</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       ON d.song_code = c.song_code</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WHERE  d.last_ok IS NULL              </a:t>
            </a:r>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 belum pernah dicari</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   OR  d.last_ok &lt; now() - INTERVAL 7 DAY</a:t>
            </a:r>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 basi</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   OR  c.valid_from &gt; d.last_ok       </a:t>
            </a:r>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 berubah di katalog</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ORDER  BY d.last_ok ASC NULLS FIRST   </a:t>
            </a:r>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 yang belum dulu</a:t>
            </a:r>
            <a:endParaRPr lang="en-US" sz="1200" dirty="0"/>
          </a:p>
          <a:p>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YouTube: INTERVAL 30 DAY</a:t>
            </a:r>
            <a:endParaRPr lang="en-US" sz="1200" dirty="0"/>
          </a:p>
        </p:txBody>
      </p:sp>
      <p:sp>
        <p:nvSpPr>
          <p:cNvPr id="7" name="stat tile"/>
          <p:cNvSpPr/>
          <p:nvPr/>
        </p:nvSpPr>
        <p:spPr>
          <a:xfrm>
            <a:off x="548640" y="4800600"/>
            <a:ext cx="2788920" cy="1463040"/>
          </a:xfrm>
          <a:prstGeom prst="roundRect">
            <a:avLst>
              <a:gd name="adj" fmla="val 5000"/>
            </a:avLst>
          </a:prstGeom>
          <a:solidFill>
            <a:schemeClr val="bg2"/>
          </a:solidFill>
          <a:ln/>
        </p:spPr>
      </p:sp>
      <p:sp>
        <p:nvSpPr>
          <p:cNvPr id="8" name="Text 6"/>
          <p:cNvSpPr txBox="1"/>
          <p:nvPr/>
        </p:nvSpPr>
        <p:spPr>
          <a:xfrm>
            <a:off x="731520" y="4928616"/>
            <a:ext cx="2423160"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0 baris ditulis</a:t>
            </a:r>
            <a:endParaRPr lang="en-US" sz="2000" dirty="0"/>
          </a:p>
        </p:txBody>
      </p:sp>
      <p:sp>
        <p:nvSpPr>
          <p:cNvPr id="9" name="Text 7"/>
          <p:cNvSpPr txBox="1"/>
          <p:nvPr/>
        </p:nvSpPr>
        <p:spPr>
          <a:xfrm>
            <a:off x="731520" y="5404104"/>
            <a:ext cx="2423160" cy="786384"/>
          </a:xfrm>
          <a:prstGeom prst="rect">
            <a:avLst/>
          </a:prstGeom>
          <a:noFill/>
          <a:ln/>
        </p:spPr>
        <p:txBody>
          <a:bodyPr wrap="square" lIns="0" tIns="0" rIns="0" bIns="0" rtlCol="0" anchor="t"/>
          <a:lstStyle/>
          <a:p>
            <a:pPr indent="0" marL="0">
              <a:buNone/>
            </a:pPr>
            <a:r>
              <a:rPr lang="en-US" sz="1200" dirty="0">
                <a:solidFill>
                  <a:schemeClr val="tx1"/>
                </a:solidFill>
              </a:rPr>
              <a:t>saat run ulang katalog tanpa perubahan (699 lagu unchanged)</a:t>
            </a:r>
            <a:endParaRPr lang="en-US" sz="1200" dirty="0"/>
          </a:p>
        </p:txBody>
      </p:sp>
      <p:sp>
        <p:nvSpPr>
          <p:cNvPr id="10" name="stat tile"/>
          <p:cNvSpPr/>
          <p:nvPr/>
        </p:nvSpPr>
        <p:spPr>
          <a:xfrm>
            <a:off x="3566160" y="4800600"/>
            <a:ext cx="2788920" cy="1463040"/>
          </a:xfrm>
          <a:prstGeom prst="roundRect">
            <a:avLst>
              <a:gd name="adj" fmla="val 5000"/>
            </a:avLst>
          </a:prstGeom>
          <a:solidFill>
            <a:schemeClr val="bg2"/>
          </a:solidFill>
          <a:ln/>
        </p:spPr>
      </p:sp>
      <p:sp>
        <p:nvSpPr>
          <p:cNvPr id="11" name="Text 9"/>
          <p:cNvSpPr txBox="1"/>
          <p:nvPr/>
        </p:nvSpPr>
        <p:spPr>
          <a:xfrm>
            <a:off x="3749040" y="4928616"/>
            <a:ext cx="2423160"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0 respons hilang</a:t>
            </a:r>
            <a:endParaRPr lang="en-US" sz="2000" dirty="0"/>
          </a:p>
        </p:txBody>
      </p:sp>
      <p:sp>
        <p:nvSpPr>
          <p:cNvPr id="12" name="Text 10"/>
          <p:cNvSpPr txBox="1"/>
          <p:nvPr/>
        </p:nvSpPr>
        <p:spPr>
          <a:xfrm>
            <a:off x="3749040" y="5404104"/>
            <a:ext cx="2423160" cy="786384"/>
          </a:xfrm>
          <a:prstGeom prst="rect">
            <a:avLst/>
          </a:prstGeom>
          <a:noFill/>
          <a:ln/>
        </p:spPr>
        <p:txBody>
          <a:bodyPr wrap="square" lIns="0" tIns="0" rIns="0" bIns="0" rtlCol="0" anchor="t"/>
          <a:lstStyle/>
          <a:p>
            <a:pPr indent="0" marL="0">
              <a:buNone/>
            </a:pPr>
            <a:r>
              <a:rPr lang="en-US" sz="1200" dirty="0">
                <a:solidFill>
                  <a:schemeClr val="tx1"/>
                </a:solidFill>
              </a:rPr>
              <a:t>run berhenti di tengah ekstraksi; run berikutnya memproses raw yang sudah mendarat</a:t>
            </a:r>
            <a:endParaRPr lang="en-US" sz="1200" dirty="0"/>
          </a:p>
        </p:txBody>
      </p:sp>
      <p:sp>
        <p:nvSpPr>
          <p:cNvPr id="13" name="Text 11"/>
          <p:cNvSpPr txBox="1"/>
          <p:nvPr/>
        </p:nvSpPr>
        <p:spPr>
          <a:xfrm>
            <a:off x="6583680" y="1417320"/>
            <a:ext cx="505937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SECTION 7 · KEBIJAKAN HTTP</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0" y="1719072"/>
          <a:ext cx="5059375" cy="914400"/>
        </p:xfrm>
        <a:graphic>
          <a:graphicData uri="http://schemas.openxmlformats.org/drawingml/2006/table">
            <a:tbl>
              <a:tblPr/>
              <a:tblGrid>
                <a:gridCol w="2057400"/>
                <a:gridCol w="3001975"/>
              </a:tblGrid>
              <a:tr h="384048">
                <a:tc>
                  <a:txBody>
                    <a:bodyPr/>
                    <a:lstStyle/>
                    <a:p>
                      <a:pPr indent="0" marL="0">
                        <a:buNone/>
                      </a:pPr>
                      <a:r>
                        <a:rPr lang="en-US" sz="1200" b="1" dirty="0">
                          <a:solidFill>
                            <a:srgbClr val="FFFFFF"/>
                          </a:solidFill>
                        </a:rPr>
                        <a:t>Kondisi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Respons pipeline</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384048">
                <a:tc>
                  <a:txBody>
                    <a:bodyPr/>
                    <a:lstStyle/>
                    <a:p>
                      <a:pPr indent="0" marL="0">
                        <a:buNone/>
                      </a:pPr>
                      <a:r>
                        <a:rPr lang="en-US" sz="1200" dirty="0">
                          <a:solidFill>
                            <a:srgbClr val="1B1B1F"/>
                          </a:solidFill>
                        </a:rPr>
                        <a:t>429, Retry-After ≤ 120 dtk</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retry, menghormati Retry-After</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F"/>
                          </a:solidFill>
                        </a:rPr>
                        <a:t>429, Retry-After &gt; 120 dtk</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tidak menunggu; task selesai 'partial'</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84048">
                <a:tc>
                  <a:txBody>
                    <a:bodyPr/>
                    <a:lstStyle/>
                    <a:p>
                      <a:pPr indent="0" marL="0">
                        <a:buNone/>
                      </a:pPr>
                      <a:r>
                        <a:rPr lang="en-US" sz="1200" dirty="0">
                          <a:solidFill>
                            <a:srgbClr val="1B1B1F"/>
                          </a:solidFill>
                        </a:rPr>
                        <a:t>5xx / jaringan / timeout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retry + backoff eksponensial (maks 5×)</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F"/>
                          </a:solidFill>
                        </a:rPr>
                        <a:t>4xx lain</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tidak di-retry (hemat kuota), disimpan dengan status</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84048">
                <a:tc>
                  <a:txBody>
                    <a:bodyPr/>
                    <a:lstStyle/>
                    <a:p>
                      <a:pPr indent="0" marL="0">
                        <a:buNone/>
                      </a:pPr>
                      <a:r>
                        <a:rPr lang="en-US" sz="1200" dirty="0">
                          <a:solidFill>
                            <a:srgbClr val="1B1B1F"/>
                          </a:solidFill>
                        </a:rPr>
                        <a:t>10 gagal berturut-turut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circuit breaker menghentikan task</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15" name="icon circle"/>
          <p:cNvSpPr/>
          <p:nvPr/>
        </p:nvSpPr>
        <p:spPr>
          <a:xfrm>
            <a:off x="6583680" y="4379976"/>
            <a:ext cx="384048" cy="384048"/>
          </a:xfrm>
          <a:prstGeom prst="ellipse">
            <a:avLst/>
          </a:prstGeom>
          <a:solidFill>
            <a:schemeClr val="accent1"/>
          </a:solidFill>
          <a:ln/>
        </p:spPr>
      </p:sp>
      <p:pic>
        <p:nvPicPr>
          <p:cNvPr id="16" name="icon" descr="preencoded.png">    </p:cNvPr>
          <p:cNvPicPr>
            <a:picLocks noChangeAspect="1"/>
          </p:cNvPicPr>
          <p:nvPr/>
        </p:nvPicPr>
        <p:blipFill>
          <a:blip r:embed="rId1"/>
          <a:stretch>
            <a:fillRect/>
          </a:stretch>
        </p:blipFill>
        <p:spPr>
          <a:xfrm>
            <a:off x="6675852" y="4472148"/>
            <a:ext cx="199705" cy="199705"/>
          </a:xfrm>
          <a:prstGeom prst="rect">
            <a:avLst/>
          </a:prstGeom>
        </p:spPr>
      </p:pic>
      <p:sp>
        <p:nvSpPr>
          <p:cNvPr id="17" name="Text 13"/>
          <p:cNvSpPr txBox="1"/>
          <p:nvPr/>
        </p:nvSpPr>
        <p:spPr>
          <a:xfrm>
            <a:off x="7114032" y="4343400"/>
            <a:ext cx="4529023" cy="256032"/>
          </a:xfrm>
          <a:prstGeom prst="rect">
            <a:avLst/>
          </a:prstGeom>
          <a:noFill/>
          <a:ln/>
        </p:spPr>
        <p:txBody>
          <a:bodyPr wrap="square" lIns="0" tIns="0" rIns="0" bIns="0" rtlCol="0" anchor="t"/>
          <a:lstStyle/>
          <a:p>
            <a:pPr indent="0" marL="0">
              <a:buNone/>
            </a:pPr>
            <a:r>
              <a:rPr lang="en-US" sz="1350" b="1" dirty="0">
                <a:solidFill>
                  <a:schemeClr val="tx1"/>
                </a:solidFill>
              </a:rPr>
              <a:t>Watermark raw → clean</a:t>
            </a:r>
            <a:endParaRPr lang="en-US" sz="1350" dirty="0"/>
          </a:p>
        </p:txBody>
      </p:sp>
      <p:sp>
        <p:nvSpPr>
          <p:cNvPr id="18" name="Text 14"/>
          <p:cNvSpPr txBox="1"/>
          <p:nvPr/>
        </p:nvSpPr>
        <p:spPr>
          <a:xfrm>
            <a:off x="7114032" y="4608576"/>
            <a:ext cx="4529023" cy="411480"/>
          </a:xfrm>
          <a:prstGeom prst="rect">
            <a:avLst/>
          </a:prstGeom>
          <a:noFill/>
          <a:ln/>
        </p:spPr>
        <p:txBody>
          <a:bodyPr wrap="square" lIns="0" tIns="0" rIns="0" bIns="0" rtlCol="0" anchor="t"/>
          <a:lstStyle/>
          <a:p>
            <a:pPr indent="0" marL="0">
              <a:buNone/>
            </a:pPr>
            <a:r>
              <a:rPr lang="en-US" sz="1200" dirty="0">
                <a:solidFill>
                  <a:schemeClr val="accent2"/>
                </a:solidFill>
              </a:rPr>
              <a:t>hanya raw dengan ingested_at &gt; watermark, diproses sekali</a:t>
            </a:r>
            <a:endParaRPr lang="en-US" sz="1200" dirty="0"/>
          </a:p>
        </p:txBody>
      </p:sp>
      <p:sp>
        <p:nvSpPr>
          <p:cNvPr id="19" name="icon circle"/>
          <p:cNvSpPr/>
          <p:nvPr/>
        </p:nvSpPr>
        <p:spPr>
          <a:xfrm>
            <a:off x="6583680" y="5001768"/>
            <a:ext cx="384048" cy="384048"/>
          </a:xfrm>
          <a:prstGeom prst="ellipse">
            <a:avLst/>
          </a:prstGeom>
          <a:solidFill>
            <a:schemeClr val="accent1"/>
          </a:solidFill>
          <a:ln/>
        </p:spPr>
      </p:sp>
      <p:pic>
        <p:nvPicPr>
          <p:cNvPr id="20" name="icon" descr="preencoded.png">    </p:cNvPr>
          <p:cNvPicPr>
            <a:picLocks noChangeAspect="1"/>
          </p:cNvPicPr>
          <p:nvPr/>
        </p:nvPicPr>
        <p:blipFill>
          <a:blip r:embed="rId2"/>
          <a:stretch>
            <a:fillRect/>
          </a:stretch>
        </p:blipFill>
        <p:spPr>
          <a:xfrm>
            <a:off x="6675852" y="5093940"/>
            <a:ext cx="199705" cy="199705"/>
          </a:xfrm>
          <a:prstGeom prst="rect">
            <a:avLst/>
          </a:prstGeom>
        </p:spPr>
      </p:pic>
      <p:sp>
        <p:nvSpPr>
          <p:cNvPr id="21" name="Text 16"/>
          <p:cNvSpPr txBox="1"/>
          <p:nvPr/>
        </p:nvSpPr>
        <p:spPr>
          <a:xfrm>
            <a:off x="7114032" y="4965192"/>
            <a:ext cx="4529023" cy="256032"/>
          </a:xfrm>
          <a:prstGeom prst="rect">
            <a:avLst/>
          </a:prstGeom>
          <a:noFill/>
          <a:ln/>
        </p:spPr>
        <p:txBody>
          <a:bodyPr wrap="square" lIns="0" tIns="0" rIns="0" bIns="0" rtlCol="0" anchor="t"/>
          <a:lstStyle/>
          <a:p>
            <a:pPr indent="0" marL="0">
              <a:buNone/>
            </a:pPr>
            <a:r>
              <a:rPr lang="en-US" sz="1350" b="1" dirty="0">
                <a:solidFill>
                  <a:schemeClr val="tx1"/>
                </a:solidFill>
              </a:rPr>
              <a:t>Buffer 200 baris</a:t>
            </a:r>
            <a:endParaRPr lang="en-US" sz="1350" dirty="0"/>
          </a:p>
        </p:txBody>
      </p:sp>
      <p:sp>
        <p:nvSpPr>
          <p:cNvPr id="22" name="Text 17"/>
          <p:cNvSpPr txBox="1"/>
          <p:nvPr/>
        </p:nvSpPr>
        <p:spPr>
          <a:xfrm>
            <a:off x="7114032" y="5230368"/>
            <a:ext cx="4529023" cy="411480"/>
          </a:xfrm>
          <a:prstGeom prst="rect">
            <a:avLst/>
          </a:prstGeom>
          <a:noFill/>
          <a:ln/>
        </p:spPr>
        <p:txBody>
          <a:bodyPr wrap="square" lIns="0" tIns="0" rIns="0" bIns="0" rtlCol="0" anchor="t"/>
          <a:lstStyle/>
          <a:p>
            <a:pPr indent="0" marL="0">
              <a:buNone/>
            </a:pPr>
            <a:r>
              <a:rPr lang="en-US" sz="1200" dirty="0">
                <a:solidFill>
                  <a:schemeClr val="accent2"/>
                </a:solidFill>
              </a:rPr>
              <a:t>raw ditulis per 200 baris; progres aman bila task mati</a:t>
            </a:r>
            <a:endParaRPr lang="en-US" sz="1200" dirty="0"/>
          </a:p>
        </p:txBody>
      </p:sp>
      <p:sp>
        <p:nvSpPr>
          <p:cNvPr id="23" name="icon circle"/>
          <p:cNvSpPr/>
          <p:nvPr/>
        </p:nvSpPr>
        <p:spPr>
          <a:xfrm>
            <a:off x="6583680" y="5623560"/>
            <a:ext cx="384048" cy="384048"/>
          </a:xfrm>
          <a:prstGeom prst="ellipse">
            <a:avLst/>
          </a:prstGeom>
          <a:solidFill>
            <a:schemeClr val="accent1"/>
          </a:solidFill>
          <a:ln/>
        </p:spPr>
      </p:sp>
      <p:pic>
        <p:nvPicPr>
          <p:cNvPr id="24" name="icon" descr="preencoded.png">    </p:cNvPr>
          <p:cNvPicPr>
            <a:picLocks noChangeAspect="1"/>
          </p:cNvPicPr>
          <p:nvPr/>
        </p:nvPicPr>
        <p:blipFill>
          <a:blip r:embed="rId3"/>
          <a:stretch>
            <a:fillRect/>
          </a:stretch>
        </p:blipFill>
        <p:spPr>
          <a:xfrm>
            <a:off x="6675852" y="5715732"/>
            <a:ext cx="199705" cy="199705"/>
          </a:xfrm>
          <a:prstGeom prst="rect">
            <a:avLst/>
          </a:prstGeom>
        </p:spPr>
      </p:pic>
      <p:sp>
        <p:nvSpPr>
          <p:cNvPr id="25" name="Text 19"/>
          <p:cNvSpPr txBox="1"/>
          <p:nvPr/>
        </p:nvSpPr>
        <p:spPr>
          <a:xfrm>
            <a:off x="7114032" y="5586984"/>
            <a:ext cx="4529023" cy="256032"/>
          </a:xfrm>
          <a:prstGeom prst="rect">
            <a:avLst/>
          </a:prstGeom>
          <a:noFill/>
          <a:ln/>
        </p:spPr>
        <p:txBody>
          <a:bodyPr wrap="square" lIns="0" tIns="0" rIns="0" bIns="0" rtlCol="0" anchor="t"/>
          <a:lstStyle/>
          <a:p>
            <a:pPr indent="0" marL="0">
              <a:buNone/>
            </a:pPr>
            <a:r>
              <a:rPr lang="en-US" sz="1350" b="1" dirty="0">
                <a:solidFill>
                  <a:schemeClr val="tx1"/>
                </a:solidFill>
              </a:rPr>
              <a:t>batch_id = run_id</a:t>
            </a:r>
            <a:endParaRPr lang="en-US" sz="1350" dirty="0"/>
          </a:p>
        </p:txBody>
      </p:sp>
      <p:sp>
        <p:nvSpPr>
          <p:cNvPr id="26" name="Text 20"/>
          <p:cNvSpPr txBox="1"/>
          <p:nvPr/>
        </p:nvSpPr>
        <p:spPr>
          <a:xfrm>
            <a:off x="7114032" y="5852160"/>
            <a:ext cx="4529023" cy="411480"/>
          </a:xfrm>
          <a:prstGeom prst="rect">
            <a:avLst/>
          </a:prstGeom>
          <a:noFill/>
          <a:ln/>
        </p:spPr>
        <p:txBody>
          <a:bodyPr wrap="square" lIns="0" tIns="0" rIns="0" bIns="0" rtlCol="0" anchor="t"/>
          <a:lstStyle/>
          <a:p>
            <a:pPr indent="0" marL="0">
              <a:buNone/>
            </a:pPr>
            <a:r>
              <a:rPr lang="en-US" sz="1200" dirty="0">
                <a:solidFill>
                  <a:schemeClr val="accent2"/>
                </a:solidFill>
              </a:rPr>
              <a:t>retry merencanakan ulang upsert — tidak ada duplikat</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2 · LOGIKA DBT</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dbt: 28 model berlapis yang dijalankan di dalam ClickHouse</a:t>
            </a:r>
            <a:endParaRPr lang="en-US" sz="3000" dirty="0"/>
          </a:p>
        </p:txBody>
      </p:sp>
      <p:sp>
        <p:nvSpPr>
          <p:cNvPr id="4" name="dbt layer"/>
          <p:cNvSpPr/>
          <p:nvPr/>
        </p:nvSpPr>
        <p:spPr>
          <a:xfrm>
            <a:off x="548640" y="1417320"/>
            <a:ext cx="2148840" cy="3200400"/>
          </a:xfrm>
          <a:prstGeom prst="roundRect">
            <a:avLst>
              <a:gd name="adj" fmla="val 3404"/>
            </a:avLst>
          </a:prstGeom>
          <a:solidFill>
            <a:schemeClr val="bg2"/>
          </a:solidFill>
          <a:ln/>
        </p:spPr>
      </p:sp>
      <p:sp>
        <p:nvSpPr>
          <p:cNvPr id="5" name="Text 3"/>
          <p:cNvSpPr txBox="1"/>
          <p:nvPr/>
        </p:nvSpPr>
        <p:spPr>
          <a:xfrm>
            <a:off x="713232" y="1563624"/>
            <a:ext cx="187452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SUMBER</a:t>
            </a:r>
            <a:endParaRPr lang="en-US" sz="1100" dirty="0"/>
          </a:p>
        </p:txBody>
      </p:sp>
      <p:sp>
        <p:nvSpPr>
          <p:cNvPr id="6" name="Text 4"/>
          <p:cNvSpPr txBox="1"/>
          <p:nvPr/>
        </p:nvSpPr>
        <p:spPr>
          <a:xfrm>
            <a:off x="713232" y="1819656"/>
            <a:ext cx="1874520" cy="29260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Silver: clean.*</a:t>
            </a:r>
            <a:endParaRPr lang="en-US" sz="1500" dirty="0"/>
          </a:p>
        </p:txBody>
      </p:sp>
      <p:sp>
        <p:nvSpPr>
          <p:cNvPr id="7" name="Text 5"/>
          <p:cNvSpPr txBox="1"/>
          <p:nvPr/>
        </p:nvSpPr>
        <p:spPr>
          <a:xfrm>
            <a:off x="713232" y="2130552"/>
            <a:ext cx="1874520" cy="411480"/>
          </a:xfrm>
          <a:prstGeom prst="rect">
            <a:avLst/>
          </a:prstGeom>
          <a:noFill/>
          <a:ln/>
        </p:spPr>
        <p:txBody>
          <a:bodyPr wrap="square" lIns="0" tIns="0" rIns="0" bIns="0" rtlCol="0" anchor="t"/>
          <a:lstStyle/>
          <a:p>
            <a:pPr indent="0" marL="0">
              <a:buNone/>
            </a:pPr>
            <a:r>
              <a:rPr lang="en-US" sz="1100" i="1" dirty="0">
                <a:solidFill>
                  <a:schemeClr val="accent2"/>
                </a:solidFill>
              </a:rPr>
              <a:t>output pandas, dibaca dengan FINAL</a:t>
            </a:r>
            <a:endParaRPr lang="en-US" sz="1100" dirty="0"/>
          </a:p>
        </p:txBody>
      </p:sp>
      <p:sp>
        <p:nvSpPr>
          <p:cNvPr id="8" name="Text 6"/>
          <p:cNvSpPr txBox="1"/>
          <p:nvPr/>
        </p:nvSpPr>
        <p:spPr>
          <a:xfrm>
            <a:off x="713232" y="2587752"/>
            <a:ext cx="1874520" cy="1920240"/>
          </a:xfrm>
          <a:prstGeom prst="rect">
            <a:avLst/>
          </a:prstGeom>
          <a:noFill/>
          <a:ln/>
        </p:spPr>
        <p:txBody>
          <a:bodyPr wrap="square" lIns="0" tIns="0" rIns="0" bIns="0" rtlCol="0" anchor="t"/>
          <a:lstStyle/>
          <a:p>
            <a:pPr indent="0" marL="0">
              <a:lnSpc>
                <a:spcPct val="112000"/>
              </a:lnSpc>
              <a:buNone/>
            </a:pPr>
            <a:r>
              <a:rPr lang="en-US" sz="1100" dirty="0">
                <a:solidFill>
                  <a:srgbClr val="1B1B1F"/>
                </a:solidFill>
              </a:rPr>
              <a:t>catalog_songs</a:t>
            </a:r>
            <a:endParaRPr lang="en-US" sz="1100" dirty="0"/>
          </a:p>
          <a:p>
            <a:pPr indent="0" marL="0">
              <a:lnSpc>
                <a:spcPct val="112000"/>
              </a:lnSpc>
              <a:buNone/>
            </a:pPr>
            <a:r>
              <a:rPr lang="en-US" sz="1100" dirty="0">
                <a:solidFill>
                  <a:srgbClr val="1B1B1F"/>
                </a:solidFill>
              </a:rPr>
              <a:t>spotify_tracks</a:t>
            </a:r>
            <a:endParaRPr lang="en-US" sz="1100" dirty="0"/>
          </a:p>
          <a:p>
            <a:pPr indent="0" marL="0">
              <a:lnSpc>
                <a:spcPct val="112000"/>
              </a:lnSpc>
              <a:buNone/>
            </a:pPr>
            <a:r>
              <a:rPr lang="en-US" sz="1100" dirty="0">
                <a:solidFill>
                  <a:srgbClr val="1B1B1F"/>
                </a:solidFill>
              </a:rPr>
              <a:t>spotify_searches</a:t>
            </a:r>
            <a:endParaRPr lang="en-US" sz="1100" dirty="0"/>
          </a:p>
          <a:p>
            <a:pPr indent="0" marL="0">
              <a:lnSpc>
                <a:spcPct val="112000"/>
              </a:lnSpc>
              <a:buNone/>
            </a:pPr>
            <a:r>
              <a:rPr lang="en-US" sz="1100" dirty="0">
                <a:solidFill>
                  <a:srgbClr val="1B1B1F"/>
                </a:solidFill>
              </a:rPr>
              <a:t>spotify_search_hits</a:t>
            </a:r>
            <a:endParaRPr lang="en-US" sz="1100" dirty="0"/>
          </a:p>
          <a:p>
            <a:pPr indent="0" marL="0">
              <a:lnSpc>
                <a:spcPct val="112000"/>
              </a:lnSpc>
              <a:buNone/>
            </a:pPr>
            <a:r>
              <a:rPr lang="en-US" sz="1100" dirty="0">
                <a:solidFill>
                  <a:srgbClr val="1B1B1F"/>
                </a:solidFill>
              </a:rPr>
              <a:t>youtube_videos</a:t>
            </a:r>
            <a:endParaRPr lang="en-US" sz="1100" dirty="0"/>
          </a:p>
          <a:p>
            <a:pPr indent="0" marL="0">
              <a:lnSpc>
                <a:spcPct val="112000"/>
              </a:lnSpc>
              <a:buNone/>
            </a:pPr>
            <a:r>
              <a:rPr lang="en-US" sz="1100" dirty="0">
                <a:solidFill>
                  <a:srgbClr val="1B1B1F"/>
                </a:solidFill>
              </a:rPr>
              <a:t>youtube_searches</a:t>
            </a:r>
            <a:endParaRPr lang="en-US" sz="1100" dirty="0"/>
          </a:p>
          <a:p>
            <a:pPr indent="0" marL="0">
              <a:lnSpc>
                <a:spcPct val="112000"/>
              </a:lnSpc>
              <a:buNone/>
            </a:pPr>
            <a:r>
              <a:rPr lang="en-US" sz="1100" dirty="0">
                <a:solidFill>
                  <a:srgbClr val="1B1B1F"/>
                </a:solidFill>
              </a:rPr>
              <a:t>youtube_search_hits</a:t>
            </a:r>
            <a:endParaRPr lang="en-US" sz="1100" dirty="0"/>
          </a:p>
          <a:p>
            <a:pPr indent="0" marL="0">
              <a:lnSpc>
                <a:spcPct val="112000"/>
              </a:lnSpc>
              <a:buNone/>
            </a:pPr>
            <a:r>
              <a:rPr lang="en-US" sz="1100" dirty="0">
                <a:solidFill>
                  <a:srgbClr val="4B5563"/>
                </a:solidFill>
              </a:rPr>
              <a:t>+ dq.quarantine_records</a:t>
            </a:r>
            <a:endParaRPr lang="en-US" sz="1100" dirty="0"/>
          </a:p>
          <a:p>
            <a:pPr indent="0" marL="0">
              <a:lnSpc>
                <a:spcPct val="112000"/>
              </a:lnSpc>
              <a:buNone/>
            </a:pPr>
            <a:r>
              <a:rPr lang="en-US" sz="1100" dirty="0">
                <a:solidFill>
                  <a:srgbClr val="4B5563"/>
                </a:solidFill>
              </a:rPr>
              <a:t>+ ops.* (4 tabel)</a:t>
            </a:r>
            <a:endParaRPr lang="en-US" sz="1100" dirty="0"/>
          </a:p>
        </p:txBody>
      </p:sp>
      <p:sp>
        <p:nvSpPr>
          <p:cNvPr id="9" name="dbt layer"/>
          <p:cNvSpPr/>
          <p:nvPr/>
        </p:nvSpPr>
        <p:spPr>
          <a:xfrm>
            <a:off x="2907792" y="1417320"/>
            <a:ext cx="2240280" cy="3200400"/>
          </a:xfrm>
          <a:prstGeom prst="roundRect">
            <a:avLst>
              <a:gd name="adj" fmla="val 3265"/>
            </a:avLst>
          </a:prstGeom>
          <a:solidFill>
            <a:schemeClr val="bg2"/>
          </a:solidFill>
          <a:ln/>
        </p:spPr>
      </p:sp>
      <p:sp>
        <p:nvSpPr>
          <p:cNvPr id="10" name="Text 8"/>
          <p:cNvSpPr txBox="1"/>
          <p:nvPr/>
        </p:nvSpPr>
        <p:spPr>
          <a:xfrm>
            <a:off x="3072384" y="1563624"/>
            <a:ext cx="196596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STAGING · 7 MODEL</a:t>
            </a:r>
            <a:endParaRPr lang="en-US" sz="1100" dirty="0"/>
          </a:p>
        </p:txBody>
      </p:sp>
      <p:sp>
        <p:nvSpPr>
          <p:cNvPr id="11" name="Text 9"/>
          <p:cNvSpPr txBox="1"/>
          <p:nvPr/>
        </p:nvSpPr>
        <p:spPr>
          <a:xfrm>
            <a:off x="3072384" y="1819656"/>
            <a:ext cx="1965960" cy="29260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stg_*</a:t>
            </a:r>
            <a:endParaRPr lang="en-US" sz="1500" dirty="0"/>
          </a:p>
        </p:txBody>
      </p:sp>
      <p:sp>
        <p:nvSpPr>
          <p:cNvPr id="12" name="Text 10"/>
          <p:cNvSpPr txBox="1"/>
          <p:nvPr/>
        </p:nvSpPr>
        <p:spPr>
          <a:xfrm>
            <a:off x="3072384" y="2130552"/>
            <a:ext cx="1965960" cy="411480"/>
          </a:xfrm>
          <a:prstGeom prst="rect">
            <a:avLst/>
          </a:prstGeom>
          <a:noFill/>
          <a:ln/>
        </p:spPr>
        <p:txBody>
          <a:bodyPr wrap="square" lIns="0" tIns="0" rIns="0" bIns="0" rtlCol="0" anchor="t"/>
          <a:lstStyle/>
          <a:p>
            <a:pPr indent="0" marL="0">
              <a:buNone/>
            </a:pPr>
            <a:r>
              <a:rPr lang="en-US" sz="1100" i="1" dirty="0">
                <a:solidFill>
                  <a:schemeClr val="accent2"/>
                </a:solidFill>
              </a:rPr>
              <a:t>versi SCD2 aktif + kunci matching</a:t>
            </a:r>
            <a:endParaRPr lang="en-US" sz="1100" dirty="0"/>
          </a:p>
        </p:txBody>
      </p:sp>
      <p:sp>
        <p:nvSpPr>
          <p:cNvPr id="13" name="Text 11"/>
          <p:cNvSpPr txBox="1"/>
          <p:nvPr/>
        </p:nvSpPr>
        <p:spPr>
          <a:xfrm>
            <a:off x="3072384" y="2587752"/>
            <a:ext cx="1965960" cy="1920240"/>
          </a:xfrm>
          <a:prstGeom prst="rect">
            <a:avLst/>
          </a:prstGeom>
          <a:noFill/>
          <a:ln/>
        </p:spPr>
        <p:txBody>
          <a:bodyPr wrap="square" lIns="0" tIns="0" rIns="0" bIns="0" rtlCol="0" anchor="t"/>
          <a:lstStyle/>
          <a:p>
            <a:pPr indent="0" marL="0">
              <a:lnSpc>
                <a:spcPct val="112000"/>
              </a:lnSpc>
              <a:buNone/>
            </a:pPr>
            <a:r>
              <a:rPr lang="en-US" sz="1100" dirty="0">
                <a:solidFill>
                  <a:srgbClr val="1B1B1F"/>
                </a:solidFill>
              </a:rPr>
              <a:t>stg_catalog__songs</a:t>
            </a:r>
            <a:endParaRPr lang="en-US" sz="1100" dirty="0"/>
          </a:p>
          <a:p>
            <a:pPr indent="0" marL="0">
              <a:lnSpc>
                <a:spcPct val="112000"/>
              </a:lnSpc>
              <a:buNone/>
            </a:pPr>
            <a:r>
              <a:rPr lang="en-US" sz="1100" dirty="0">
                <a:solidFill>
                  <a:srgbClr val="1B1B1F"/>
                </a:solidFill>
              </a:rPr>
              <a:t>stg_spotify__searches</a:t>
            </a:r>
            <a:endParaRPr lang="en-US" sz="1100" dirty="0"/>
          </a:p>
          <a:p>
            <a:pPr indent="0" marL="0">
              <a:lnSpc>
                <a:spcPct val="112000"/>
              </a:lnSpc>
              <a:buNone/>
            </a:pPr>
            <a:r>
              <a:rPr lang="en-US" sz="1100" dirty="0">
                <a:solidFill>
                  <a:srgbClr val="1B1B1F"/>
                </a:solidFill>
              </a:rPr>
              <a:t>stg_spotify__search_hits</a:t>
            </a:r>
            <a:endParaRPr lang="en-US" sz="1100" dirty="0"/>
          </a:p>
          <a:p>
            <a:pPr indent="0" marL="0">
              <a:lnSpc>
                <a:spcPct val="112000"/>
              </a:lnSpc>
              <a:buNone/>
            </a:pPr>
            <a:r>
              <a:rPr lang="en-US" sz="1100" dirty="0">
                <a:solidFill>
                  <a:srgbClr val="1B1B1F"/>
                </a:solidFill>
              </a:rPr>
              <a:t>stg_spotify__tracks</a:t>
            </a:r>
            <a:endParaRPr lang="en-US" sz="1100" dirty="0"/>
          </a:p>
          <a:p>
            <a:pPr indent="0" marL="0">
              <a:lnSpc>
                <a:spcPct val="112000"/>
              </a:lnSpc>
              <a:buNone/>
            </a:pPr>
            <a:r>
              <a:rPr lang="en-US" sz="1100" dirty="0">
                <a:solidFill>
                  <a:srgbClr val="1B1B1F"/>
                </a:solidFill>
              </a:rPr>
              <a:t>stg_youtube__searches</a:t>
            </a:r>
            <a:endParaRPr lang="en-US" sz="1100" dirty="0"/>
          </a:p>
          <a:p>
            <a:pPr indent="0" marL="0">
              <a:lnSpc>
                <a:spcPct val="112000"/>
              </a:lnSpc>
              <a:buNone/>
            </a:pPr>
            <a:r>
              <a:rPr lang="en-US" sz="1100" dirty="0">
                <a:solidFill>
                  <a:srgbClr val="1B1B1F"/>
                </a:solidFill>
              </a:rPr>
              <a:t>stg_youtube__search_hits</a:t>
            </a:r>
            <a:endParaRPr lang="en-US" sz="1100" dirty="0"/>
          </a:p>
          <a:p>
            <a:pPr indent="0" marL="0">
              <a:lnSpc>
                <a:spcPct val="112000"/>
              </a:lnSpc>
              <a:buNone/>
            </a:pPr>
            <a:r>
              <a:rPr lang="en-US" sz="1100" dirty="0">
                <a:solidFill>
                  <a:srgbClr val="1B1B1F"/>
                </a:solidFill>
              </a:rPr>
              <a:t>stg_youtube__videos</a:t>
            </a:r>
            <a:endParaRPr lang="en-US" sz="1100" dirty="0"/>
          </a:p>
        </p:txBody>
      </p:sp>
      <p:sp>
        <p:nvSpPr>
          <p:cNvPr id="14" name="dbt layer"/>
          <p:cNvSpPr/>
          <p:nvPr/>
        </p:nvSpPr>
        <p:spPr>
          <a:xfrm>
            <a:off x="5358384" y="1417320"/>
            <a:ext cx="2331720" cy="3200400"/>
          </a:xfrm>
          <a:prstGeom prst="roundRect">
            <a:avLst>
              <a:gd name="adj" fmla="val 3137"/>
            </a:avLst>
          </a:prstGeom>
          <a:solidFill>
            <a:schemeClr val="bg2"/>
          </a:solidFill>
          <a:ln/>
        </p:spPr>
      </p:sp>
      <p:sp>
        <p:nvSpPr>
          <p:cNvPr id="15" name="Text 13"/>
          <p:cNvSpPr txBox="1"/>
          <p:nvPr/>
        </p:nvSpPr>
        <p:spPr>
          <a:xfrm>
            <a:off x="5522976" y="1563624"/>
            <a:ext cx="2057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INTERMEDIATE · 2 MODEL</a:t>
            </a:r>
            <a:endParaRPr lang="en-US" sz="1100" dirty="0"/>
          </a:p>
        </p:txBody>
      </p:sp>
      <p:sp>
        <p:nvSpPr>
          <p:cNvPr id="16" name="Text 14"/>
          <p:cNvSpPr txBox="1"/>
          <p:nvPr/>
        </p:nvSpPr>
        <p:spPr>
          <a:xfrm>
            <a:off x="5522976" y="1819656"/>
            <a:ext cx="2057400" cy="29260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int_*</a:t>
            </a:r>
            <a:endParaRPr lang="en-US" sz="1500" dirty="0"/>
          </a:p>
        </p:txBody>
      </p:sp>
      <p:sp>
        <p:nvSpPr>
          <p:cNvPr id="17" name="Text 15"/>
          <p:cNvSpPr txBox="1"/>
          <p:nvPr/>
        </p:nvSpPr>
        <p:spPr>
          <a:xfrm>
            <a:off x="5522976" y="2130552"/>
            <a:ext cx="2057400" cy="411480"/>
          </a:xfrm>
          <a:prstGeom prst="rect">
            <a:avLst/>
          </a:prstGeom>
          <a:noFill/>
          <a:ln/>
        </p:spPr>
        <p:txBody>
          <a:bodyPr wrap="square" lIns="0" tIns="0" rIns="0" bIns="0" rtlCol="0" anchor="t"/>
          <a:lstStyle/>
          <a:p>
            <a:pPr indent="0" marL="0">
              <a:buNone/>
            </a:pPr>
            <a:r>
              <a:rPr lang="en-US" sz="1100" i="1" dirty="0">
                <a:solidFill>
                  <a:schemeClr val="accent2"/>
                </a:solidFill>
              </a:rPr>
              <a:t>setiap kandidat dinilai &amp; diputuskan</a:t>
            </a:r>
            <a:endParaRPr lang="en-US" sz="1100" dirty="0"/>
          </a:p>
        </p:txBody>
      </p:sp>
      <p:sp>
        <p:nvSpPr>
          <p:cNvPr id="18" name="Text 16"/>
          <p:cNvSpPr txBox="1"/>
          <p:nvPr/>
        </p:nvSpPr>
        <p:spPr>
          <a:xfrm>
            <a:off x="5522976" y="2587752"/>
            <a:ext cx="2057400" cy="1920240"/>
          </a:xfrm>
          <a:prstGeom prst="rect">
            <a:avLst/>
          </a:prstGeom>
          <a:noFill/>
          <a:ln/>
        </p:spPr>
        <p:txBody>
          <a:bodyPr wrap="square" lIns="0" tIns="0" rIns="0" bIns="0" rtlCol="0" anchor="t"/>
          <a:lstStyle/>
          <a:p>
            <a:pPr indent="0" marL="0">
              <a:lnSpc>
                <a:spcPct val="112000"/>
              </a:lnSpc>
              <a:buNone/>
            </a:pPr>
            <a:r>
              <a:rPr lang="en-US" sz="1100" dirty="0">
                <a:solidFill>
                  <a:srgbClr val="1B1B1F"/>
                </a:solidFill>
              </a:rPr>
              <a:t>int_song_recording_candidates</a:t>
            </a:r>
            <a:endParaRPr lang="en-US" sz="1100" dirty="0"/>
          </a:p>
          <a:p>
            <a:pPr indent="0" marL="0">
              <a:lnSpc>
                <a:spcPct val="112000"/>
              </a:lnSpc>
              <a:buNone/>
            </a:pPr>
            <a:r>
              <a:rPr lang="en-US" sz="1100" dirty="0">
                <a:solidFill>
                  <a:srgbClr val="1B1B1F"/>
                </a:solidFill>
              </a:rPr>
              <a:t>int_song_video_candidates</a:t>
            </a:r>
            <a:endParaRPr lang="en-US" sz="1100" dirty="0"/>
          </a:p>
        </p:txBody>
      </p:sp>
      <p:sp>
        <p:nvSpPr>
          <p:cNvPr id="19" name="Text 17"/>
          <p:cNvSpPr txBox="1"/>
          <p:nvPr/>
        </p:nvSpPr>
        <p:spPr>
          <a:xfrm>
            <a:off x="5522976" y="3200400"/>
            <a:ext cx="2011680" cy="1325880"/>
          </a:xfrm>
          <a:prstGeom prst="rect">
            <a:avLst/>
          </a:prstGeom>
          <a:noFill/>
          <a:ln/>
        </p:spPr>
        <p:txBody>
          <a:bodyPr wrap="square" lIns="0" tIns="0" rIns="0" bIns="0" rtlCol="0" anchor="t"/>
          <a:lstStyle/>
          <a:p>
            <a:pPr indent="0" marL="0">
              <a:buNone/>
            </a:pPr>
            <a:r>
              <a:rPr lang="en-US" sz="2000" b="1" dirty="0">
                <a:solidFill>
                  <a:srgbClr val="E3262E"/>
                </a:solidFill>
              </a:rPr>
              <a:t>2.747</a:t>
            </a:r>
            <a:endParaRPr lang="en-US" sz="1400" dirty="0"/>
          </a:p>
          <a:p>
            <a:pPr indent="0" marL="0">
              <a:buNone/>
            </a:pPr>
            <a:r>
              <a:rPr lang="en-US" sz="1100" dirty="0">
                <a:solidFill>
                  <a:srgbClr val="4B5563"/>
                </a:solidFill>
              </a:rPr>
              <a:t>kandidat Spotify dinilai</a:t>
            </a:r>
            <a:endParaRPr lang="en-US" sz="1400" dirty="0"/>
          </a:p>
          <a:p>
            <a:pPr indent="0" marL="0">
              <a:buNone/>
            </a:pPr>
            <a:r>
              <a:rPr lang="en-US" sz="2000" b="1" dirty="0">
                <a:solidFill>
                  <a:srgbClr val="E3262E"/>
                </a:solidFill>
              </a:rPr>
              <a:t>4.120</a:t>
            </a:r>
            <a:endParaRPr lang="en-US" sz="1400" dirty="0"/>
          </a:p>
          <a:p>
            <a:pPr indent="0" marL="0">
              <a:buNone/>
            </a:pPr>
            <a:r>
              <a:rPr lang="en-US" sz="1100" dirty="0">
                <a:solidFill>
                  <a:srgbClr val="4B5563"/>
                </a:solidFill>
              </a:rPr>
              <a:t>kandidat YouTube dinilai</a:t>
            </a:r>
            <a:endParaRPr lang="en-US" sz="1400" dirty="0"/>
          </a:p>
        </p:txBody>
      </p:sp>
      <p:sp>
        <p:nvSpPr>
          <p:cNvPr id="20" name="dbt marts layer"/>
          <p:cNvSpPr/>
          <p:nvPr/>
        </p:nvSpPr>
        <p:spPr>
          <a:xfrm>
            <a:off x="7900416" y="1417320"/>
            <a:ext cx="3742639" cy="3200400"/>
          </a:xfrm>
          <a:prstGeom prst="roundRect">
            <a:avLst>
              <a:gd name="adj" fmla="val 2286"/>
            </a:avLst>
          </a:prstGeom>
          <a:solidFill>
            <a:srgbClr val="FDECEC"/>
          </a:solidFill>
          <a:ln/>
        </p:spPr>
      </p:sp>
      <p:sp>
        <p:nvSpPr>
          <p:cNvPr id="21" name="Text 19"/>
          <p:cNvSpPr txBox="1"/>
          <p:nvPr/>
        </p:nvSpPr>
        <p:spPr>
          <a:xfrm>
            <a:off x="8065008" y="1563624"/>
            <a:ext cx="3468319"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MARTS · 19 MODEL</a:t>
            </a:r>
            <a:endParaRPr lang="en-US" sz="1100" dirty="0"/>
          </a:p>
        </p:txBody>
      </p:sp>
      <p:sp>
        <p:nvSpPr>
          <p:cNvPr id="22" name="Text 20"/>
          <p:cNvSpPr txBox="1"/>
          <p:nvPr/>
        </p:nvSpPr>
        <p:spPr>
          <a:xfrm>
            <a:off x="8065008" y="1819656"/>
            <a:ext cx="3468319" cy="29260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dim · bridge · history · mart · mon</a:t>
            </a:r>
            <a:endParaRPr lang="en-US" sz="1500" dirty="0"/>
          </a:p>
        </p:txBody>
      </p:sp>
      <p:sp>
        <p:nvSpPr>
          <p:cNvPr id="23" name="Text 21"/>
          <p:cNvSpPr txBox="1"/>
          <p:nvPr/>
        </p:nvSpPr>
        <p:spPr>
          <a:xfrm>
            <a:off x="8065008" y="2130552"/>
            <a:ext cx="3468319" cy="274320"/>
          </a:xfrm>
          <a:prstGeom prst="rect">
            <a:avLst/>
          </a:prstGeom>
          <a:noFill/>
          <a:ln/>
        </p:spPr>
        <p:txBody>
          <a:bodyPr wrap="square" lIns="0" tIns="0" rIns="0" bIns="0" rtlCol="0" anchor="t"/>
          <a:lstStyle/>
          <a:p>
            <a:pPr indent="0" marL="0">
              <a:buNone/>
            </a:pPr>
            <a:r>
              <a:rPr lang="en-US" sz="1100" i="1" dirty="0">
                <a:solidFill>
                  <a:schemeClr val="accent2"/>
                </a:solidFill>
              </a:rPr>
              <a:t>Gold: dibaca Superset (read-only)</a:t>
            </a:r>
            <a:endParaRPr lang="en-US" sz="1100" dirty="0"/>
          </a:p>
        </p:txBody>
      </p:sp>
      <p:sp>
        <p:nvSpPr>
          <p:cNvPr id="24" name="Text 22"/>
          <p:cNvSpPr txBox="1"/>
          <p:nvPr/>
        </p:nvSpPr>
        <p:spPr>
          <a:xfrm>
            <a:off x="8065008" y="2478024"/>
            <a:ext cx="1665580" cy="2057400"/>
          </a:xfrm>
          <a:prstGeom prst="rect">
            <a:avLst/>
          </a:prstGeom>
          <a:noFill/>
          <a:ln/>
        </p:spPr>
        <p:txBody>
          <a:bodyPr wrap="square" lIns="0" tIns="0" rIns="0" bIns="0" rtlCol="0" anchor="t"/>
          <a:lstStyle/>
          <a:p>
            <a:pPr indent="0" marL="0">
              <a:lnSpc>
                <a:spcPct val="105000"/>
              </a:lnSpc>
              <a:buNone/>
            </a:pPr>
            <a:r>
              <a:rPr lang="en-US" sz="1050" b="1" dirty="0">
                <a:solidFill>
                  <a:srgbClr val="E3262E"/>
                </a:solidFill>
              </a:rPr>
              <a:t>core (7)</a:t>
            </a:r>
            <a:endParaRPr lang="en-US" sz="1050" dirty="0"/>
          </a:p>
          <a:p>
            <a:pPr indent="0" marL="0">
              <a:lnSpc>
                <a:spcPct val="105000"/>
              </a:lnSpc>
              <a:buNone/>
            </a:pPr>
            <a:r>
              <a:rPr lang="en-US" sz="1050" dirty="0">
                <a:solidFill>
                  <a:schemeClr val="tx1"/>
                </a:solidFill>
              </a:rPr>
              <a:t>dim_song</a:t>
            </a:r>
            <a:endParaRPr lang="en-US" sz="1050" dirty="0"/>
          </a:p>
          <a:p>
            <a:pPr indent="0" marL="0">
              <a:lnSpc>
                <a:spcPct val="105000"/>
              </a:lnSpc>
              <a:buNone/>
            </a:pPr>
            <a:r>
              <a:rPr lang="en-US" sz="1050" dirty="0">
                <a:solidFill>
                  <a:schemeClr val="tx1"/>
                </a:solidFill>
              </a:rPr>
              <a:t>dim_recording</a:t>
            </a:r>
            <a:endParaRPr lang="en-US" sz="1050" dirty="0"/>
          </a:p>
          <a:p>
            <a:pPr indent="0" marL="0">
              <a:lnSpc>
                <a:spcPct val="105000"/>
              </a:lnSpc>
              <a:buNone/>
            </a:pPr>
            <a:r>
              <a:rPr lang="en-US" sz="1050" dirty="0">
                <a:solidFill>
                  <a:schemeClr val="tx1"/>
                </a:solidFill>
              </a:rPr>
              <a:t>dim_spotify_track</a:t>
            </a:r>
            <a:endParaRPr lang="en-US" sz="1050" dirty="0"/>
          </a:p>
          <a:p>
            <a:pPr indent="0" marL="0">
              <a:lnSpc>
                <a:spcPct val="105000"/>
              </a:lnSpc>
              <a:buNone/>
            </a:pPr>
            <a:r>
              <a:rPr lang="en-US" sz="1050" dirty="0">
                <a:solidFill>
                  <a:schemeClr val="tx1"/>
                </a:solidFill>
              </a:rPr>
              <a:t>dim_youtube_video</a:t>
            </a:r>
            <a:endParaRPr lang="en-US" sz="1050" dirty="0"/>
          </a:p>
          <a:p>
            <a:pPr indent="0" marL="0">
              <a:lnSpc>
                <a:spcPct val="105000"/>
              </a:lnSpc>
              <a:buNone/>
            </a:pPr>
            <a:r>
              <a:rPr lang="en-US" sz="1050" dirty="0">
                <a:solidFill>
                  <a:schemeClr val="tx1"/>
                </a:solidFill>
              </a:rPr>
              <a:t>dim_youtube_channel</a:t>
            </a:r>
            <a:endParaRPr lang="en-US" sz="1050" dirty="0"/>
          </a:p>
          <a:p>
            <a:pPr indent="0" marL="0">
              <a:lnSpc>
                <a:spcPct val="105000"/>
              </a:lnSpc>
              <a:buNone/>
            </a:pPr>
            <a:r>
              <a:rPr lang="en-US" sz="1050" dirty="0">
                <a:solidFill>
                  <a:schemeClr val="tx1"/>
                </a:solidFill>
              </a:rPr>
              <a:t>bridge_song_recording</a:t>
            </a:r>
            <a:endParaRPr lang="en-US" sz="1050" dirty="0"/>
          </a:p>
          <a:p>
            <a:pPr indent="0" marL="0">
              <a:lnSpc>
                <a:spcPct val="105000"/>
              </a:lnSpc>
              <a:buNone/>
            </a:pPr>
            <a:r>
              <a:rPr lang="en-US" sz="1050" dirty="0">
                <a:solidFill>
                  <a:schemeClr val="tx1"/>
                </a:solidFill>
              </a:rPr>
              <a:t>bridge_song_video</a:t>
            </a:r>
            <a:endParaRPr lang="en-US" sz="1050" dirty="0"/>
          </a:p>
          <a:p>
            <a:pPr indent="0" marL="0">
              <a:lnSpc>
                <a:spcPct val="105000"/>
              </a:lnSpc>
              <a:buNone/>
            </a:pPr>
            <a:r>
              <a:rPr lang="en-US" sz="1050" b="1" dirty="0">
                <a:solidFill>
                  <a:srgbClr val="E3262E"/>
                </a:solidFill>
              </a:rPr>
              <a:t>history (3)</a:t>
            </a:r>
            <a:endParaRPr lang="en-US" sz="1050" dirty="0"/>
          </a:p>
          <a:p>
            <a:pPr indent="0" marL="0">
              <a:lnSpc>
                <a:spcPct val="105000"/>
              </a:lnSpc>
              <a:buNone/>
            </a:pPr>
            <a:r>
              <a:rPr lang="en-US" sz="1050" dirty="0">
                <a:solidFill>
                  <a:schemeClr val="tx1"/>
                </a:solidFill>
              </a:rPr>
              <a:t>dim_song_history</a:t>
            </a:r>
            <a:endParaRPr lang="en-US" sz="1050" dirty="0"/>
          </a:p>
          <a:p>
            <a:pPr indent="0" marL="0">
              <a:lnSpc>
                <a:spcPct val="105000"/>
              </a:lnSpc>
              <a:buNone/>
            </a:pPr>
            <a:r>
              <a:rPr lang="en-US" sz="1050" dirty="0">
                <a:solidFill>
                  <a:schemeClr val="tx1"/>
                </a:solidFill>
              </a:rPr>
              <a:t>dim_spotify_track_history</a:t>
            </a:r>
            <a:endParaRPr lang="en-US" sz="1050" dirty="0"/>
          </a:p>
          <a:p>
            <a:pPr indent="0" marL="0">
              <a:lnSpc>
                <a:spcPct val="105000"/>
              </a:lnSpc>
              <a:buNone/>
            </a:pPr>
            <a:r>
              <a:rPr lang="en-US" sz="1050" dirty="0">
                <a:solidFill>
                  <a:schemeClr val="tx1"/>
                </a:solidFill>
              </a:rPr>
              <a:t>dim_youtube_video_history</a:t>
            </a:r>
            <a:endParaRPr lang="en-US" sz="1050" dirty="0"/>
          </a:p>
        </p:txBody>
      </p:sp>
      <p:sp>
        <p:nvSpPr>
          <p:cNvPr id="25" name="Text 23"/>
          <p:cNvSpPr txBox="1"/>
          <p:nvPr/>
        </p:nvSpPr>
        <p:spPr>
          <a:xfrm>
            <a:off x="9822028" y="2478024"/>
            <a:ext cx="1665580" cy="2057400"/>
          </a:xfrm>
          <a:prstGeom prst="rect">
            <a:avLst/>
          </a:prstGeom>
          <a:noFill/>
          <a:ln/>
        </p:spPr>
        <p:txBody>
          <a:bodyPr wrap="square" lIns="0" tIns="0" rIns="0" bIns="0" rtlCol="0" anchor="t"/>
          <a:lstStyle/>
          <a:p>
            <a:pPr indent="0" marL="0">
              <a:lnSpc>
                <a:spcPct val="105000"/>
              </a:lnSpc>
              <a:buNone/>
            </a:pPr>
            <a:r>
              <a:rPr lang="en-US" sz="1050" b="1" dirty="0">
                <a:solidFill>
                  <a:srgbClr val="E3262E"/>
                </a:solidFill>
              </a:rPr>
              <a:t>analytics (3)</a:t>
            </a:r>
            <a:endParaRPr lang="en-US" sz="1050" dirty="0"/>
          </a:p>
          <a:p>
            <a:pPr indent="0" marL="0">
              <a:lnSpc>
                <a:spcPct val="105000"/>
              </a:lnSpc>
              <a:buNone/>
            </a:pPr>
            <a:r>
              <a:rPr lang="en-US" sz="1050" dirty="0">
                <a:solidFill>
                  <a:schemeClr val="tx1"/>
                </a:solidFill>
              </a:rPr>
              <a:t>mart_song_overview</a:t>
            </a:r>
            <a:endParaRPr lang="en-US" sz="1050" dirty="0"/>
          </a:p>
          <a:p>
            <a:pPr indent="0" marL="0">
              <a:lnSpc>
                <a:spcPct val="105000"/>
              </a:lnSpc>
              <a:buNone/>
            </a:pPr>
            <a:r>
              <a:rPr lang="en-US" sz="1050" dirty="0">
                <a:solidFill>
                  <a:schemeClr val="tx1"/>
                </a:solidFill>
              </a:rPr>
              <a:t>mart_song_isrc_summary</a:t>
            </a:r>
            <a:endParaRPr lang="en-US" sz="1050" dirty="0"/>
          </a:p>
          <a:p>
            <a:pPr indent="0" marL="0">
              <a:lnSpc>
                <a:spcPct val="105000"/>
              </a:lnSpc>
              <a:buNone/>
            </a:pPr>
            <a:r>
              <a:rPr lang="en-US" sz="1050" dirty="0">
                <a:solidFill>
                  <a:schemeClr val="tx1"/>
                </a:solidFill>
              </a:rPr>
              <a:t>mart_song_video_summary</a:t>
            </a:r>
            <a:endParaRPr lang="en-US" sz="1050" dirty="0"/>
          </a:p>
          <a:p>
            <a:pPr indent="0" marL="0">
              <a:lnSpc>
                <a:spcPct val="105000"/>
              </a:lnSpc>
              <a:buNone/>
            </a:pPr>
            <a:r>
              <a:rPr lang="en-US" sz="1050" b="1" dirty="0">
                <a:solidFill>
                  <a:srgbClr val="E3262E"/>
                </a:solidFill>
              </a:rPr>
              <a:t>monitoring (6)</a:t>
            </a:r>
            <a:endParaRPr lang="en-US" sz="1050" dirty="0"/>
          </a:p>
          <a:p>
            <a:pPr indent="0" marL="0">
              <a:lnSpc>
                <a:spcPct val="105000"/>
              </a:lnSpc>
              <a:buNone/>
            </a:pPr>
            <a:r>
              <a:rPr lang="en-US" sz="1050" dirty="0">
                <a:solidFill>
                  <a:schemeClr val="tx1"/>
                </a:solidFill>
              </a:rPr>
              <a:t>mon_pipeline_runs</a:t>
            </a:r>
            <a:endParaRPr lang="en-US" sz="1050" dirty="0"/>
          </a:p>
          <a:p>
            <a:pPr indent="0" marL="0">
              <a:lnSpc>
                <a:spcPct val="105000"/>
              </a:lnSpc>
              <a:buNone/>
            </a:pPr>
            <a:r>
              <a:rPr lang="en-US" sz="1050" dirty="0">
                <a:solidFill>
                  <a:schemeClr val="tx1"/>
                </a:solidFill>
              </a:rPr>
              <a:t>mon_api_quota_daily</a:t>
            </a:r>
            <a:endParaRPr lang="en-US" sz="1050" dirty="0"/>
          </a:p>
          <a:p>
            <a:pPr indent="0" marL="0">
              <a:lnSpc>
                <a:spcPct val="105000"/>
              </a:lnSpc>
              <a:buNone/>
            </a:pPr>
            <a:r>
              <a:rPr lang="en-US" sz="1050" dirty="0">
                <a:solidFill>
                  <a:schemeClr val="tx1"/>
                </a:solidFill>
              </a:rPr>
              <a:t>mon_dq_results</a:t>
            </a:r>
            <a:endParaRPr lang="en-US" sz="1050" dirty="0"/>
          </a:p>
          <a:p>
            <a:pPr indent="0" marL="0">
              <a:lnSpc>
                <a:spcPct val="105000"/>
              </a:lnSpc>
              <a:buNone/>
            </a:pPr>
            <a:r>
              <a:rPr lang="en-US" sz="1050" dirty="0">
                <a:solidFill>
                  <a:schemeClr val="tx1"/>
                </a:solidFill>
              </a:rPr>
              <a:t>mon_quarantine_records</a:t>
            </a:r>
            <a:endParaRPr lang="en-US" sz="1050" dirty="0"/>
          </a:p>
          <a:p>
            <a:pPr indent="0" marL="0">
              <a:lnSpc>
                <a:spcPct val="105000"/>
              </a:lnSpc>
              <a:buNone/>
            </a:pPr>
            <a:r>
              <a:rPr lang="en-US" sz="1050" dirty="0">
                <a:solidFill>
                  <a:schemeClr val="tx1"/>
                </a:solidFill>
              </a:rPr>
              <a:t>mon_scd_changes</a:t>
            </a:r>
            <a:endParaRPr lang="en-US" sz="1050" dirty="0"/>
          </a:p>
          <a:p>
            <a:pPr indent="0" marL="0">
              <a:lnSpc>
                <a:spcPct val="105000"/>
              </a:lnSpc>
              <a:buNone/>
            </a:pPr>
            <a:r>
              <a:rPr lang="en-US" sz="1050" dirty="0">
                <a:solidFill>
                  <a:schemeClr val="tx1"/>
                </a:solidFill>
              </a:rPr>
              <a:t>mon_alert_log</a:t>
            </a:r>
            <a:endParaRPr lang="en-US" sz="1050" dirty="0"/>
          </a:p>
        </p:txBody>
      </p:sp>
      <p:sp>
        <p:nvSpPr>
          <p:cNvPr id="26" name="connector"/>
          <p:cNvSpPr/>
          <p:nvPr/>
        </p:nvSpPr>
        <p:spPr>
          <a:xfrm>
            <a:off x="2715768" y="3017520"/>
            <a:ext cx="173736" cy="0"/>
          </a:xfrm>
          <a:prstGeom prst="line">
            <a:avLst/>
          </a:prstGeom>
          <a:noFill/>
          <a:ln w="22225">
            <a:solidFill>
              <a:srgbClr val="4B5563"/>
            </a:solidFill>
            <a:prstDash val="solid"/>
            <a:tailEnd type="triangle"/>
          </a:ln>
        </p:spPr>
      </p:sp>
      <p:sp>
        <p:nvSpPr>
          <p:cNvPr id="27" name="connector"/>
          <p:cNvSpPr/>
          <p:nvPr/>
        </p:nvSpPr>
        <p:spPr>
          <a:xfrm>
            <a:off x="5166360" y="3017520"/>
            <a:ext cx="173736" cy="0"/>
          </a:xfrm>
          <a:prstGeom prst="line">
            <a:avLst/>
          </a:prstGeom>
          <a:noFill/>
          <a:ln w="22225">
            <a:solidFill>
              <a:srgbClr val="4B5563"/>
            </a:solidFill>
            <a:prstDash val="solid"/>
            <a:tailEnd type="triangle"/>
          </a:ln>
        </p:spPr>
      </p:sp>
      <p:sp>
        <p:nvSpPr>
          <p:cNvPr id="28" name="connector"/>
          <p:cNvSpPr/>
          <p:nvPr/>
        </p:nvSpPr>
        <p:spPr>
          <a:xfrm>
            <a:off x="7708392" y="3017520"/>
            <a:ext cx="173736" cy="0"/>
          </a:xfrm>
          <a:prstGeom prst="line">
            <a:avLst/>
          </a:prstGeom>
          <a:noFill/>
          <a:ln w="22225">
            <a:solidFill>
              <a:srgbClr val="4B5563"/>
            </a:solidFill>
            <a:prstDash val="solid"/>
            <a:tailEnd type="triangle"/>
          </a:ln>
        </p:spPr>
      </p:sp>
      <p:sp>
        <p:nvSpPr>
          <p:cNvPr id="29" name="info card"/>
          <p:cNvSpPr/>
          <p:nvPr/>
        </p:nvSpPr>
        <p:spPr>
          <a:xfrm>
            <a:off x="548640" y="4800600"/>
            <a:ext cx="2602154" cy="1463040"/>
          </a:xfrm>
          <a:prstGeom prst="roundRect">
            <a:avLst>
              <a:gd name="adj" fmla="val 5000"/>
            </a:avLst>
          </a:prstGeom>
          <a:solidFill>
            <a:schemeClr val="bg2"/>
          </a:solidFill>
          <a:ln/>
        </p:spPr>
      </p:sp>
      <p:sp>
        <p:nvSpPr>
          <p:cNvPr id="30" name="icon circle"/>
          <p:cNvSpPr/>
          <p:nvPr/>
        </p:nvSpPr>
        <p:spPr>
          <a:xfrm>
            <a:off x="731520" y="4983480"/>
            <a:ext cx="347472" cy="347472"/>
          </a:xfrm>
          <a:prstGeom prst="ellipse">
            <a:avLst/>
          </a:prstGeom>
          <a:solidFill>
            <a:schemeClr val="accent1"/>
          </a:solidFill>
          <a:ln/>
        </p:spPr>
      </p:sp>
      <p:pic>
        <p:nvPicPr>
          <p:cNvPr id="31" name="icon" descr="preencoded.png">    </p:cNvPr>
          <p:cNvPicPr>
            <a:picLocks noChangeAspect="1"/>
          </p:cNvPicPr>
          <p:nvPr/>
        </p:nvPicPr>
        <p:blipFill>
          <a:blip r:embed="rId1"/>
          <a:stretch>
            <a:fillRect/>
          </a:stretch>
        </p:blipFill>
        <p:spPr>
          <a:xfrm>
            <a:off x="814913" y="5066873"/>
            <a:ext cx="180685" cy="180685"/>
          </a:xfrm>
          <a:prstGeom prst="rect">
            <a:avLst/>
          </a:prstGeom>
        </p:spPr>
      </p:pic>
      <p:sp>
        <p:nvSpPr>
          <p:cNvPr id="32" name="Text 29"/>
          <p:cNvSpPr txBox="1"/>
          <p:nvPr/>
        </p:nvSpPr>
        <p:spPr>
          <a:xfrm>
            <a:off x="1170432" y="4983480"/>
            <a:ext cx="1797482" cy="347472"/>
          </a:xfrm>
          <a:prstGeom prst="rect">
            <a:avLst/>
          </a:prstGeom>
          <a:noFill/>
          <a:ln/>
        </p:spPr>
        <p:txBody>
          <a:bodyPr wrap="square" lIns="0" tIns="0" rIns="0" bIns="0" rtlCol="0" anchor="ctr"/>
          <a:lstStyle/>
          <a:p>
            <a:pPr indent="0" marL="0">
              <a:buNone/>
            </a:pPr>
            <a:r>
              <a:rPr lang="en-US" sz="1350" b="1" dirty="0">
                <a:solidFill>
                  <a:schemeClr val="tx1"/>
                </a:solidFill>
              </a:rPr>
              <a:t>Swap atomik</a:t>
            </a:r>
            <a:endParaRPr lang="en-US" sz="1350" dirty="0"/>
          </a:p>
        </p:txBody>
      </p:sp>
      <p:sp>
        <p:nvSpPr>
          <p:cNvPr id="33" name="Text 30"/>
          <p:cNvSpPr txBox="1"/>
          <p:nvPr/>
        </p:nvSpPr>
        <p:spPr>
          <a:xfrm>
            <a:off x="731520" y="5440680"/>
            <a:ext cx="2236394" cy="731520"/>
          </a:xfrm>
          <a:prstGeom prst="rect">
            <a:avLst/>
          </a:prstGeom>
          <a:noFill/>
          <a:ln/>
        </p:spPr>
        <p:txBody>
          <a:bodyPr wrap="square" lIns="0" tIns="0" rIns="0" bIns="0" rtlCol="0" anchor="t"/>
          <a:lstStyle/>
          <a:p>
            <a:pPr indent="0" marL="0">
              <a:buNone/>
            </a:pPr>
            <a:r>
              <a:rPr lang="en-US" sz="1200" dirty="0">
                <a:solidFill>
                  <a:schemeClr val="tx1"/>
                </a:solidFill>
              </a:rPr>
              <a:t>Tabel dibangun sebagai __dbt_tmp lalu EXCHANGE TABLES: dashboard tak pernah membaca tabel setengah jadi.</a:t>
            </a:r>
            <a:endParaRPr lang="en-US" sz="1200" dirty="0"/>
          </a:p>
        </p:txBody>
      </p:sp>
      <p:sp>
        <p:nvSpPr>
          <p:cNvPr id="34" name="info card"/>
          <p:cNvSpPr/>
          <p:nvPr/>
        </p:nvSpPr>
        <p:spPr>
          <a:xfrm>
            <a:off x="3379394" y="4800600"/>
            <a:ext cx="2602154" cy="1463040"/>
          </a:xfrm>
          <a:prstGeom prst="roundRect">
            <a:avLst>
              <a:gd name="adj" fmla="val 5000"/>
            </a:avLst>
          </a:prstGeom>
          <a:solidFill>
            <a:schemeClr val="bg2"/>
          </a:solidFill>
          <a:ln/>
        </p:spPr>
      </p:sp>
      <p:sp>
        <p:nvSpPr>
          <p:cNvPr id="35" name="icon circle"/>
          <p:cNvSpPr/>
          <p:nvPr/>
        </p:nvSpPr>
        <p:spPr>
          <a:xfrm>
            <a:off x="3562274" y="4983480"/>
            <a:ext cx="347472" cy="347472"/>
          </a:xfrm>
          <a:prstGeom prst="ellipse">
            <a:avLst/>
          </a:prstGeom>
          <a:solidFill>
            <a:schemeClr val="accent1"/>
          </a:solidFill>
          <a:ln/>
        </p:spPr>
      </p:sp>
      <p:pic>
        <p:nvPicPr>
          <p:cNvPr id="36" name="icon" descr="preencoded.png">    </p:cNvPr>
          <p:cNvPicPr>
            <a:picLocks noChangeAspect="1"/>
          </p:cNvPicPr>
          <p:nvPr/>
        </p:nvPicPr>
        <p:blipFill>
          <a:blip r:embed="rId2"/>
          <a:stretch>
            <a:fillRect/>
          </a:stretch>
        </p:blipFill>
        <p:spPr>
          <a:xfrm>
            <a:off x="3645667" y="5066873"/>
            <a:ext cx="180685" cy="180685"/>
          </a:xfrm>
          <a:prstGeom prst="rect">
            <a:avLst/>
          </a:prstGeom>
        </p:spPr>
      </p:pic>
      <p:sp>
        <p:nvSpPr>
          <p:cNvPr id="37" name="Text 33"/>
          <p:cNvSpPr txBox="1"/>
          <p:nvPr/>
        </p:nvSpPr>
        <p:spPr>
          <a:xfrm>
            <a:off x="4001186" y="4983480"/>
            <a:ext cx="1797482" cy="347472"/>
          </a:xfrm>
          <a:prstGeom prst="rect">
            <a:avLst/>
          </a:prstGeom>
          <a:noFill/>
          <a:ln/>
        </p:spPr>
        <p:txBody>
          <a:bodyPr wrap="square" lIns="0" tIns="0" rIns="0" bIns="0" rtlCol="0" anchor="ctr"/>
          <a:lstStyle/>
          <a:p>
            <a:pPr indent="0" marL="0">
              <a:buNone/>
            </a:pPr>
            <a:r>
              <a:rPr lang="en-US" sz="1350" b="1" dirty="0">
                <a:solidFill>
                  <a:schemeClr val="tx1"/>
                </a:solidFill>
              </a:rPr>
              <a:t>1 model = 1 task</a:t>
            </a:r>
            <a:endParaRPr lang="en-US" sz="1350" dirty="0"/>
          </a:p>
        </p:txBody>
      </p:sp>
      <p:sp>
        <p:nvSpPr>
          <p:cNvPr id="38" name="Text 34"/>
          <p:cNvSpPr txBox="1"/>
          <p:nvPr/>
        </p:nvSpPr>
        <p:spPr>
          <a:xfrm>
            <a:off x="3562274" y="5440680"/>
            <a:ext cx="2236394" cy="731520"/>
          </a:xfrm>
          <a:prstGeom prst="rect">
            <a:avLst/>
          </a:prstGeom>
          <a:noFill/>
          <a:ln/>
        </p:spPr>
        <p:txBody>
          <a:bodyPr wrap="square" lIns="0" tIns="0" rIns="0" bIns="0" rtlCol="0" anchor="t"/>
          <a:lstStyle/>
          <a:p>
            <a:pPr indent="0" marL="0">
              <a:buNone/>
            </a:pPr>
            <a:r>
              <a:rPr lang="en-US" sz="1200" dirty="0">
                <a:solidFill>
                  <a:schemeClr val="tx1"/>
                </a:solidFill>
              </a:rPr>
              <a:t>Cosmos (test AFTER_EACH): model di-retry sendiri; test gagal hanya menahan model hilirnya.</a:t>
            </a:r>
            <a:endParaRPr lang="en-US" sz="1200" dirty="0"/>
          </a:p>
        </p:txBody>
      </p:sp>
      <p:sp>
        <p:nvSpPr>
          <p:cNvPr id="39" name="info card"/>
          <p:cNvSpPr/>
          <p:nvPr/>
        </p:nvSpPr>
        <p:spPr>
          <a:xfrm>
            <a:off x="6210148" y="4800600"/>
            <a:ext cx="2602154" cy="1463040"/>
          </a:xfrm>
          <a:prstGeom prst="roundRect">
            <a:avLst>
              <a:gd name="adj" fmla="val 5000"/>
            </a:avLst>
          </a:prstGeom>
          <a:solidFill>
            <a:schemeClr val="bg2"/>
          </a:solidFill>
          <a:ln/>
        </p:spPr>
      </p:sp>
      <p:sp>
        <p:nvSpPr>
          <p:cNvPr id="40" name="icon circle"/>
          <p:cNvSpPr/>
          <p:nvPr/>
        </p:nvSpPr>
        <p:spPr>
          <a:xfrm>
            <a:off x="6393028" y="4983480"/>
            <a:ext cx="347472" cy="347472"/>
          </a:xfrm>
          <a:prstGeom prst="ellipse">
            <a:avLst/>
          </a:prstGeom>
          <a:solidFill>
            <a:schemeClr val="accent1"/>
          </a:solidFill>
          <a:ln/>
        </p:spPr>
      </p:sp>
      <p:pic>
        <p:nvPicPr>
          <p:cNvPr id="41" name="icon" descr="preencoded.png">    </p:cNvPr>
          <p:cNvPicPr>
            <a:picLocks noChangeAspect="1"/>
          </p:cNvPicPr>
          <p:nvPr/>
        </p:nvPicPr>
        <p:blipFill>
          <a:blip r:embed="rId3"/>
          <a:stretch>
            <a:fillRect/>
          </a:stretch>
        </p:blipFill>
        <p:spPr>
          <a:xfrm>
            <a:off x="6476421" y="5066873"/>
            <a:ext cx="180685" cy="180685"/>
          </a:xfrm>
          <a:prstGeom prst="rect">
            <a:avLst/>
          </a:prstGeom>
        </p:spPr>
      </p:pic>
      <p:sp>
        <p:nvSpPr>
          <p:cNvPr id="42" name="Text 37"/>
          <p:cNvSpPr txBox="1"/>
          <p:nvPr/>
        </p:nvSpPr>
        <p:spPr>
          <a:xfrm>
            <a:off x="6831940" y="4983480"/>
            <a:ext cx="1797482" cy="347472"/>
          </a:xfrm>
          <a:prstGeom prst="rect">
            <a:avLst/>
          </a:prstGeom>
          <a:noFill/>
          <a:ln/>
        </p:spPr>
        <p:txBody>
          <a:bodyPr wrap="square" lIns="0" tIns="0" rIns="0" bIns="0" rtlCol="0" anchor="ctr"/>
          <a:lstStyle/>
          <a:p>
            <a:pPr indent="0" marL="0">
              <a:buNone/>
            </a:pPr>
            <a:r>
              <a:rPr lang="en-US" sz="1350" b="1" dirty="0">
                <a:solidFill>
                  <a:schemeClr val="tx1"/>
                </a:solidFill>
              </a:rPr>
              <a:t>Aturan di macro</a:t>
            </a:r>
            <a:endParaRPr lang="en-US" sz="1350" dirty="0"/>
          </a:p>
        </p:txBody>
      </p:sp>
      <p:sp>
        <p:nvSpPr>
          <p:cNvPr id="43" name="Text 38"/>
          <p:cNvSpPr txBox="1"/>
          <p:nvPr/>
        </p:nvSpPr>
        <p:spPr>
          <a:xfrm>
            <a:off x="6393028" y="5440680"/>
            <a:ext cx="2236394" cy="731520"/>
          </a:xfrm>
          <a:prstGeom prst="rect">
            <a:avLst/>
          </a:prstGeom>
          <a:noFill/>
          <a:ln/>
        </p:spPr>
        <p:txBody>
          <a:bodyPr wrap="square" lIns="0" tIns="0" rIns="0" bIns="0" rtlCol="0" anchor="t"/>
          <a:lstStyle/>
          <a:p>
            <a:pPr indent="0" marL="0">
              <a:buNone/>
            </a:pPr>
            <a:r>
              <a:rPr lang="en-US" sz="1200" dirty="0">
                <a:solidFill>
                  <a:schemeClr val="tx1"/>
                </a:solidFill>
              </a:rPr>
              <a:t>normalize.sql: clean_text, base_title, normalize_isrc, text_similarity — satu sumber kebenaran.</a:t>
            </a:r>
            <a:endParaRPr lang="en-US" sz="1200" dirty="0"/>
          </a:p>
        </p:txBody>
      </p:sp>
      <p:sp>
        <p:nvSpPr>
          <p:cNvPr id="44" name="info card"/>
          <p:cNvSpPr/>
          <p:nvPr/>
        </p:nvSpPr>
        <p:spPr>
          <a:xfrm>
            <a:off x="9040901" y="4800600"/>
            <a:ext cx="2602154" cy="1463040"/>
          </a:xfrm>
          <a:prstGeom prst="roundRect">
            <a:avLst>
              <a:gd name="adj" fmla="val 5000"/>
            </a:avLst>
          </a:prstGeom>
          <a:solidFill>
            <a:schemeClr val="bg2"/>
          </a:solidFill>
          <a:ln/>
        </p:spPr>
      </p:sp>
      <p:sp>
        <p:nvSpPr>
          <p:cNvPr id="45" name="icon circle"/>
          <p:cNvSpPr/>
          <p:nvPr/>
        </p:nvSpPr>
        <p:spPr>
          <a:xfrm>
            <a:off x="9223781" y="4983480"/>
            <a:ext cx="347472" cy="347472"/>
          </a:xfrm>
          <a:prstGeom prst="ellipse">
            <a:avLst/>
          </a:prstGeom>
          <a:solidFill>
            <a:schemeClr val="accent1"/>
          </a:solidFill>
          <a:ln/>
        </p:spPr>
      </p:sp>
      <p:pic>
        <p:nvPicPr>
          <p:cNvPr id="46" name="icon" descr="preencoded.png">    </p:cNvPr>
          <p:cNvPicPr>
            <a:picLocks noChangeAspect="1"/>
          </p:cNvPicPr>
          <p:nvPr/>
        </p:nvPicPr>
        <p:blipFill>
          <a:blip r:embed="rId4"/>
          <a:stretch>
            <a:fillRect/>
          </a:stretch>
        </p:blipFill>
        <p:spPr>
          <a:xfrm>
            <a:off x="9307175" y="5066873"/>
            <a:ext cx="180685" cy="180685"/>
          </a:xfrm>
          <a:prstGeom prst="rect">
            <a:avLst/>
          </a:prstGeom>
        </p:spPr>
      </p:pic>
      <p:sp>
        <p:nvSpPr>
          <p:cNvPr id="47" name="Text 41"/>
          <p:cNvSpPr txBox="1"/>
          <p:nvPr/>
        </p:nvSpPr>
        <p:spPr>
          <a:xfrm>
            <a:off x="9662693" y="4983480"/>
            <a:ext cx="1797482" cy="347472"/>
          </a:xfrm>
          <a:prstGeom prst="rect">
            <a:avLst/>
          </a:prstGeom>
          <a:noFill/>
          <a:ln/>
        </p:spPr>
        <p:txBody>
          <a:bodyPr wrap="square" lIns="0" tIns="0" rIns="0" bIns="0" rtlCol="0" anchor="ctr"/>
          <a:lstStyle/>
          <a:p>
            <a:pPr indent="0" marL="0">
              <a:buNone/>
            </a:pPr>
            <a:r>
              <a:rPr lang="en-US" sz="1350" b="1" dirty="0">
                <a:solidFill>
                  <a:schemeClr val="tx1"/>
                </a:solidFill>
              </a:rPr>
              <a:t>Ambang di vars</a:t>
            </a:r>
            <a:endParaRPr lang="en-US" sz="1350" dirty="0"/>
          </a:p>
        </p:txBody>
      </p:sp>
      <p:sp>
        <p:nvSpPr>
          <p:cNvPr id="48" name="Text 42"/>
          <p:cNvSpPr txBox="1"/>
          <p:nvPr/>
        </p:nvSpPr>
        <p:spPr>
          <a:xfrm>
            <a:off x="9223781" y="5440680"/>
            <a:ext cx="2236394" cy="731520"/>
          </a:xfrm>
          <a:prstGeom prst="rect">
            <a:avLst/>
          </a:prstGeom>
          <a:noFill/>
          <a:ln/>
        </p:spPr>
        <p:txBody>
          <a:bodyPr wrap="square" lIns="0" tIns="0" rIns="0" bIns="0" rtlCol="0" anchor="t"/>
          <a:lstStyle/>
          <a:p>
            <a:pPr indent="0" marL="0">
              <a:buNone/>
            </a:pPr>
            <a:r>
              <a:rPr lang="en-US" sz="1200" dirty="0">
                <a:solidFill>
                  <a:schemeClr val="tx1"/>
                </a:solidFill>
              </a:rPr>
              <a:t>fuzzy judul 0,85 · artis 0,90 · judul generik ≤ 5 huruf — diubah tanpa menyentuh SQL.</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2 · LOGIKA DBT</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Inti dbt: mencocokkan lagu dengan rekaman &amp; video</a:t>
            </a:r>
            <a:endParaRPr lang="en-US" sz="3000" dirty="0"/>
          </a:p>
        </p:txBody>
      </p:sp>
      <p:sp>
        <p:nvSpPr>
          <p:cNvPr id="4" name="Text 2"/>
          <p:cNvSpPr txBox="1"/>
          <p:nvPr/>
        </p:nvSpPr>
        <p:spPr>
          <a:xfrm>
            <a:off x="548640" y="1417320"/>
            <a:ext cx="55778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LAGU ↔ REKAMAN (SPOTIFY) · int_song_recording_candidates</a:t>
            </a:r>
            <a:endParaRPr lang="en-US" sz="1100" dirty="0"/>
          </a:p>
        </p:txBody>
      </p:sp>
      <p:sp>
        <p:nvSpPr>
          <p:cNvPr id="5" name="step number"/>
          <p:cNvSpPr/>
          <p:nvPr/>
        </p:nvSpPr>
        <p:spPr>
          <a:xfrm>
            <a:off x="548640" y="1801368"/>
            <a:ext cx="384048" cy="384048"/>
          </a:xfrm>
          <a:prstGeom prst="ellipse">
            <a:avLst/>
          </a:prstGeom>
          <a:solidFill>
            <a:schemeClr val="accent1"/>
          </a:solidFill>
          <a:ln/>
        </p:spPr>
      </p:sp>
      <p:sp>
        <p:nvSpPr>
          <p:cNvPr id="6" name="Text 4"/>
          <p:cNvSpPr txBox="1"/>
          <p:nvPr/>
        </p:nvSpPr>
        <p:spPr>
          <a:xfrm>
            <a:off x="548640" y="18013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1097280" y="1783080"/>
            <a:ext cx="5120640" cy="274320"/>
          </a:xfrm>
          <a:prstGeom prst="rect">
            <a:avLst/>
          </a:prstGeom>
          <a:noFill/>
          <a:ln/>
        </p:spPr>
        <p:txBody>
          <a:bodyPr wrap="square" lIns="0" tIns="0" rIns="0" bIns="0" rtlCol="0" anchor="t"/>
          <a:lstStyle/>
          <a:p>
            <a:pPr indent="0" marL="0">
              <a:buNone/>
            </a:pPr>
            <a:r>
              <a:rPr lang="en-US" sz="1350" b="1" dirty="0">
                <a:solidFill>
                  <a:schemeClr val="tx1"/>
                </a:solidFill>
              </a:rPr>
              <a:t>Bukti judul</a:t>
            </a:r>
            <a:endParaRPr lang="en-US" sz="1350" dirty="0"/>
          </a:p>
        </p:txBody>
      </p:sp>
      <p:sp>
        <p:nvSpPr>
          <p:cNvPr id="8" name="Text 6"/>
          <p:cNvSpPr txBox="1"/>
          <p:nvPr/>
        </p:nvSpPr>
        <p:spPr>
          <a:xfrm>
            <a:off x="1097280" y="2066544"/>
            <a:ext cx="5120640" cy="448056"/>
          </a:xfrm>
          <a:prstGeom prst="rect">
            <a:avLst/>
          </a:prstGeom>
          <a:noFill/>
          <a:ln/>
        </p:spPr>
        <p:txBody>
          <a:bodyPr wrap="square" lIns="0" tIns="0" rIns="0" bIns="0" rtlCol="0" anchor="t"/>
          <a:lstStyle/>
          <a:p>
            <a:pPr indent="0" marL="0">
              <a:buNone/>
            </a:pPr>
            <a:r>
              <a:rPr lang="en-US" sz="1200" dirty="0">
                <a:solidFill>
                  <a:schemeClr val="accent2"/>
                </a:solidFill>
              </a:rPr>
              <a:t>exact_base (kata versi Live / Remastered / Akustik dibuang) → exact_core → fuzzy ≥ 0,85 → none</a:t>
            </a:r>
            <a:endParaRPr lang="en-US" sz="1200" dirty="0"/>
          </a:p>
        </p:txBody>
      </p:sp>
      <p:sp>
        <p:nvSpPr>
          <p:cNvPr id="9" name="step number"/>
          <p:cNvSpPr/>
          <p:nvPr/>
        </p:nvSpPr>
        <p:spPr>
          <a:xfrm>
            <a:off x="548640" y="2624328"/>
            <a:ext cx="384048" cy="384048"/>
          </a:xfrm>
          <a:prstGeom prst="ellipse">
            <a:avLst/>
          </a:prstGeom>
          <a:solidFill>
            <a:schemeClr val="accent1"/>
          </a:solidFill>
          <a:ln/>
        </p:spPr>
      </p:sp>
      <p:sp>
        <p:nvSpPr>
          <p:cNvPr id="10" name="Text 8"/>
          <p:cNvSpPr txBox="1"/>
          <p:nvPr/>
        </p:nvSpPr>
        <p:spPr>
          <a:xfrm>
            <a:off x="548640" y="26243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1097280" y="2606040"/>
            <a:ext cx="5120640" cy="274320"/>
          </a:xfrm>
          <a:prstGeom prst="rect">
            <a:avLst/>
          </a:prstGeom>
          <a:noFill/>
          <a:ln/>
        </p:spPr>
        <p:txBody>
          <a:bodyPr wrap="square" lIns="0" tIns="0" rIns="0" bIns="0" rtlCol="0" anchor="t"/>
          <a:lstStyle/>
          <a:p>
            <a:pPr indent="0" marL="0">
              <a:buNone/>
            </a:pPr>
            <a:r>
              <a:rPr lang="en-US" sz="1350" b="1" dirty="0">
                <a:solidFill>
                  <a:schemeClr val="tx1"/>
                </a:solidFill>
              </a:rPr>
              <a:t>Bukti artis</a:t>
            </a:r>
            <a:endParaRPr lang="en-US" sz="1350" dirty="0"/>
          </a:p>
        </p:txBody>
      </p:sp>
      <p:sp>
        <p:nvSpPr>
          <p:cNvPr id="12" name="Text 10"/>
          <p:cNvSpPr txBox="1"/>
          <p:nvPr/>
        </p:nvSpPr>
        <p:spPr>
          <a:xfrm>
            <a:off x="1097280" y="2889504"/>
            <a:ext cx="5120640" cy="448056"/>
          </a:xfrm>
          <a:prstGeom prst="rect">
            <a:avLst/>
          </a:prstGeom>
          <a:noFill/>
          <a:ln/>
        </p:spPr>
        <p:txBody>
          <a:bodyPr wrap="square" lIns="0" tIns="0" rIns="0" bIns="0" rtlCol="0" anchor="t"/>
          <a:lstStyle/>
          <a:p>
            <a:pPr indent="0" marL="0">
              <a:buNone/>
            </a:pPr>
            <a:r>
              <a:rPr lang="en-US" sz="1200" dirty="0">
                <a:solidFill>
                  <a:schemeClr val="accent2"/>
                </a:solidFill>
              </a:rPr>
              <a:t>artis track = token ORIGINAL ARTIST katalog (fuzzy ≥ 0,90); “ALSA, CHRIS ANDRIAN YANG” = 2 token</a:t>
            </a:r>
            <a:endParaRPr lang="en-US" sz="1200" dirty="0"/>
          </a:p>
        </p:txBody>
      </p:sp>
      <p:sp>
        <p:nvSpPr>
          <p:cNvPr id="13" name="step number"/>
          <p:cNvSpPr/>
          <p:nvPr/>
        </p:nvSpPr>
        <p:spPr>
          <a:xfrm>
            <a:off x="548640" y="3447288"/>
            <a:ext cx="384048" cy="384048"/>
          </a:xfrm>
          <a:prstGeom prst="ellipse">
            <a:avLst/>
          </a:prstGeom>
          <a:solidFill>
            <a:schemeClr val="accent1"/>
          </a:solidFill>
          <a:ln/>
        </p:spPr>
      </p:sp>
      <p:sp>
        <p:nvSpPr>
          <p:cNvPr id="14" name="Text 12"/>
          <p:cNvSpPr txBox="1"/>
          <p:nvPr/>
        </p:nvSpPr>
        <p:spPr>
          <a:xfrm>
            <a:off x="548640" y="34472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1097280" y="3429000"/>
            <a:ext cx="5120640" cy="274320"/>
          </a:xfrm>
          <a:prstGeom prst="rect">
            <a:avLst/>
          </a:prstGeom>
          <a:noFill/>
          <a:ln/>
        </p:spPr>
        <p:txBody>
          <a:bodyPr wrap="square" lIns="0" tIns="0" rIns="0" bIns="0" rtlCol="0" anchor="t"/>
          <a:lstStyle/>
          <a:p>
            <a:pPr indent="0" marL="0">
              <a:buNone/>
            </a:pPr>
            <a:r>
              <a:rPr lang="en-US" sz="1350" b="1" dirty="0">
                <a:solidFill>
                  <a:schemeClr val="tx1"/>
                </a:solidFill>
              </a:rPr>
              <a:t>Keputusan berurutan (multiIf)</a:t>
            </a:r>
            <a:endParaRPr lang="en-US" sz="1350" dirty="0"/>
          </a:p>
        </p:txBody>
      </p:sp>
      <p:sp>
        <p:nvSpPr>
          <p:cNvPr id="16" name="Text 14"/>
          <p:cNvSpPr txBox="1"/>
          <p:nvPr/>
        </p:nvSpPr>
        <p:spPr>
          <a:xfrm>
            <a:off x="1097280" y="3712464"/>
            <a:ext cx="5120640" cy="630936"/>
          </a:xfrm>
          <a:prstGeom prst="rect">
            <a:avLst/>
          </a:prstGeom>
          <a:noFill/>
          <a:ln/>
        </p:spPr>
        <p:txBody>
          <a:bodyPr wrap="square" lIns="0" tIns="0" rIns="0" bIns="0" rtlCol="0" anchor="t"/>
          <a:lstStyle/>
          <a:p>
            <a:pPr indent="0" marL="0">
              <a:buNone/>
            </a:pPr>
            <a:r>
              <a:rPr lang="en-US" sz="1200" dirty="0">
                <a:solidFill>
                  <a:schemeClr val="accent2"/>
                </a:solidFill>
              </a:rPr>
              <a:t>judul none → tolak · milik lagu katalog lain berjudul sama → tolak · fuzzy tanpa artis → tolak · artis cocok → original_artist · lainnya → other_artist (cover) / unknown_original_artist</a:t>
            </a:r>
            <a:endParaRPr lang="en-US" sz="1200" dirty="0"/>
          </a:p>
        </p:txBody>
      </p:sp>
      <p:sp>
        <p:nvSpPr>
          <p:cNvPr id="17" name="step number"/>
          <p:cNvSpPr/>
          <p:nvPr/>
        </p:nvSpPr>
        <p:spPr>
          <a:xfrm>
            <a:off x="548640" y="4453128"/>
            <a:ext cx="384048" cy="384048"/>
          </a:xfrm>
          <a:prstGeom prst="ellipse">
            <a:avLst/>
          </a:prstGeom>
          <a:solidFill>
            <a:schemeClr val="accent1"/>
          </a:solidFill>
          <a:ln/>
        </p:spPr>
      </p:sp>
      <p:sp>
        <p:nvSpPr>
          <p:cNvPr id="18" name="Text 16"/>
          <p:cNvSpPr txBox="1"/>
          <p:nvPr/>
        </p:nvSpPr>
        <p:spPr>
          <a:xfrm>
            <a:off x="548640" y="44531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Text 17"/>
          <p:cNvSpPr txBox="1"/>
          <p:nvPr/>
        </p:nvSpPr>
        <p:spPr>
          <a:xfrm>
            <a:off x="1097280" y="4434840"/>
            <a:ext cx="5120640" cy="274320"/>
          </a:xfrm>
          <a:prstGeom prst="rect">
            <a:avLst/>
          </a:prstGeom>
          <a:noFill/>
          <a:ln/>
        </p:spPr>
        <p:txBody>
          <a:bodyPr wrap="square" lIns="0" tIns="0" rIns="0" bIns="0" rtlCol="0" anchor="t"/>
          <a:lstStyle/>
          <a:p>
            <a:pPr indent="0" marL="0">
              <a:buNone/>
            </a:pPr>
            <a:r>
              <a:rPr lang="en-US" sz="1350" b="1" dirty="0">
                <a:solidFill>
                  <a:schemeClr val="tx1"/>
                </a:solidFill>
              </a:rPr>
              <a:t>Aturan domain</a:t>
            </a:r>
            <a:endParaRPr lang="en-US" sz="1350" dirty="0"/>
          </a:p>
        </p:txBody>
      </p:sp>
      <p:sp>
        <p:nvSpPr>
          <p:cNvPr id="20" name="Text 18"/>
          <p:cNvSpPr txBox="1"/>
          <p:nvPr/>
        </p:nvSpPr>
        <p:spPr>
          <a:xfrm>
            <a:off x="1097280" y="4718304"/>
            <a:ext cx="5120640" cy="448056"/>
          </a:xfrm>
          <a:prstGeom prst="rect">
            <a:avLst/>
          </a:prstGeom>
          <a:noFill/>
          <a:ln/>
        </p:spPr>
        <p:txBody>
          <a:bodyPr wrap="square" lIns="0" tIns="0" rIns="0" bIns="0" rtlCol="0" anchor="t"/>
          <a:lstStyle/>
          <a:p>
            <a:pPr indent="0" marL="0">
              <a:buNone/>
            </a:pPr>
            <a:r>
              <a:rPr lang="en-US" sz="1200" dirty="0">
                <a:solidFill>
                  <a:schemeClr val="accent2"/>
                </a:solidFill>
              </a:rPr>
              <a:t>cover tak mungkin rilis sebelum original (97 ditolak); tanpa original di Spotify, cover tak terverifikasi (168 ditolak)</a:t>
            </a:r>
            <a:endParaRPr lang="en-US" sz="1200" dirty="0"/>
          </a:p>
        </p:txBody>
      </p:sp>
      <p:sp>
        <p:nvSpPr>
          <p:cNvPr id="21" name="step number"/>
          <p:cNvSpPr/>
          <p:nvPr/>
        </p:nvSpPr>
        <p:spPr>
          <a:xfrm>
            <a:off x="548640" y="5276088"/>
            <a:ext cx="384048" cy="384048"/>
          </a:xfrm>
          <a:prstGeom prst="ellipse">
            <a:avLst/>
          </a:prstGeom>
          <a:solidFill>
            <a:schemeClr val="accent1"/>
          </a:solidFill>
          <a:ln/>
        </p:spPr>
      </p:sp>
      <p:sp>
        <p:nvSpPr>
          <p:cNvPr id="22" name="Text 20"/>
          <p:cNvSpPr txBox="1"/>
          <p:nvPr/>
        </p:nvSpPr>
        <p:spPr>
          <a:xfrm>
            <a:off x="548640" y="5276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3" name="Text 21"/>
          <p:cNvSpPr txBox="1"/>
          <p:nvPr/>
        </p:nvSpPr>
        <p:spPr>
          <a:xfrm>
            <a:off x="1097280" y="5257800"/>
            <a:ext cx="5120640" cy="274320"/>
          </a:xfrm>
          <a:prstGeom prst="rect">
            <a:avLst/>
          </a:prstGeom>
          <a:noFill/>
          <a:ln/>
        </p:spPr>
        <p:txBody>
          <a:bodyPr wrap="square" lIns="0" tIns="0" rIns="0" bIns="0" rtlCol="0" anchor="t"/>
          <a:lstStyle/>
          <a:p>
            <a:pPr indent="0" marL="0">
              <a:buNone/>
            </a:pPr>
            <a:r>
              <a:rPr lang="en-US" sz="1350" b="1" dirty="0">
                <a:solidFill>
                  <a:schemeClr val="tx1"/>
                </a:solidFill>
              </a:rPr>
              <a:t>Hitung jawaban</a:t>
            </a:r>
            <a:endParaRPr lang="en-US" sz="1350" dirty="0"/>
          </a:p>
        </p:txBody>
      </p:sp>
      <p:sp>
        <p:nvSpPr>
          <p:cNvPr id="24" name="Text 22"/>
          <p:cNvSpPr txBox="1"/>
          <p:nvPr/>
        </p:nvSpPr>
        <p:spPr>
          <a:xfrm>
            <a:off x="1097280" y="5541264"/>
            <a:ext cx="5120640" cy="448056"/>
          </a:xfrm>
          <a:prstGeom prst="rect">
            <a:avLst/>
          </a:prstGeom>
          <a:noFill/>
          <a:ln/>
        </p:spPr>
        <p:txBody>
          <a:bodyPr wrap="square" lIns="0" tIns="0" rIns="0" bIns="0" rtlCol="0" anchor="t"/>
          <a:lstStyle/>
          <a:p>
            <a:pPr indent="0" marL="0">
              <a:buNone/>
            </a:pPr>
            <a:r>
              <a:rPr lang="en-US" sz="1200" dirty="0">
                <a:solidFill>
                  <a:schemeClr val="accent2"/>
                </a:solidFill>
              </a:rPr>
              <a:t>uniqExact(ISRC) per lagu, dipisah per relasi &amp; confidence: 825 track id → 773 ISRC</a:t>
            </a:r>
            <a:endParaRPr lang="en-US" sz="1200" dirty="0"/>
          </a:p>
        </p:txBody>
      </p:sp>
      <p:graphicFrame>
        <p:nvGraphicFramePr>
          <p:cNvPr id="25" name="Chart 0" descr=""/>
          <p:cNvGraphicFramePr/>
          <p:nvPr/>
        </p:nvGraphicFramePr>
        <p:xfrm>
          <a:off x="6400800" y="1417320"/>
          <a:ext cx="5242255" cy="2926080"/>
        </p:xfrm>
        <a:graphic xmlns:a="http://schemas.openxmlformats.org/drawingml/2006/main">
          <a:graphicData uri="http://schemas.openxmlformats.org/drawingml/2006/chart">
            <c:chart xmlns:c="http://schemas.openxmlformats.org/drawingml/2006/chart" r:id="rId1"/>
          </a:graphicData>
        </a:graphic>
      </p:graphicFrame>
      <p:sp>
        <p:nvSpPr>
          <p:cNvPr id="26" name="video matching card"/>
          <p:cNvSpPr/>
          <p:nvPr/>
        </p:nvSpPr>
        <p:spPr>
          <a:xfrm>
            <a:off x="6400800" y="4480560"/>
            <a:ext cx="5242255" cy="1783080"/>
          </a:xfrm>
          <a:prstGeom prst="roundRect">
            <a:avLst>
              <a:gd name="adj" fmla="val 4103"/>
            </a:avLst>
          </a:prstGeom>
          <a:solidFill>
            <a:schemeClr val="bg2"/>
          </a:solidFill>
          <a:ln/>
        </p:spPr>
      </p:sp>
      <p:sp>
        <p:nvSpPr>
          <p:cNvPr id="27" name="Text 24"/>
          <p:cNvSpPr txBox="1"/>
          <p:nvPr/>
        </p:nvSpPr>
        <p:spPr>
          <a:xfrm>
            <a:off x="6601968" y="4608576"/>
            <a:ext cx="487649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LAGU ↔ VIDEO (YOUTUBE) · int_song_video_candidates</a:t>
            </a:r>
            <a:endParaRPr lang="en-US" sz="1100" dirty="0"/>
          </a:p>
        </p:txBody>
      </p:sp>
      <p:sp>
        <p:nvSpPr>
          <p:cNvPr id="28" name="Text 25"/>
          <p:cNvSpPr txBox="1"/>
          <p:nvPr/>
        </p:nvSpPr>
        <p:spPr>
          <a:xfrm>
            <a:off x="6601968" y="4901184"/>
            <a:ext cx="4839919" cy="731520"/>
          </a:xfrm>
          <a:prstGeom prst="rect">
            <a:avLst/>
          </a:prstGeom>
          <a:noFill/>
          <a:ln/>
        </p:spPr>
        <p:txBody>
          <a:bodyPr wrap="square" lIns="0" tIns="0" rIns="0" bIns="0" rtlCol="0" anchor="t"/>
          <a:lstStyle/>
          <a:p>
            <a:pPr indent="0" marL="0">
              <a:buNone/>
            </a:pPr>
            <a:r>
              <a:rPr lang="en-US" sz="1200" dirty="0">
                <a:solidFill>
                  <a:schemeClr val="tx1"/>
                </a:solidFill>
              </a:rPr>
              <a:t>Judul lagu harus muncul utuh di judul video; reaction / tutorial / chord ditolak; judul generik wajib menyebut artis. Tipe video diklasifikasi; official = diunggah channel artis atau “– Topic”.</a:t>
            </a:r>
            <a:endParaRPr lang="en-US" sz="1200" dirty="0"/>
          </a:p>
        </p:txBody>
      </p:sp>
      <p:sp>
        <p:nvSpPr>
          <p:cNvPr id="29" name="Text 26"/>
          <p:cNvSpPr txBox="1"/>
          <p:nvPr/>
        </p:nvSpPr>
        <p:spPr>
          <a:xfrm>
            <a:off x="6601968" y="5669280"/>
            <a:ext cx="4839919" cy="502920"/>
          </a:xfrm>
          <a:prstGeom prst="rect">
            <a:avLst/>
          </a:prstGeom>
          <a:noFill/>
          <a:ln/>
        </p:spPr>
        <p:txBody>
          <a:bodyPr wrap="square" lIns="0" tIns="0" rIns="0" bIns="0" rtlCol="0" anchor="t"/>
          <a:lstStyle/>
          <a:p>
            <a:pPr indent="0" marL="0">
              <a:buNone/>
            </a:pPr>
            <a:r>
              <a:rPr lang="en-US" sz="1150" b="1" dirty="0">
                <a:solidFill>
                  <a:srgbClr val="E3262E"/>
                </a:solidFill>
              </a:rPr>
              <a:t>4.120 kandidat → 1.267 diterima</a:t>
            </a:r>
            <a:endParaRPr lang="en-US" sz="1150" dirty="0"/>
          </a:p>
          <a:p>
            <a:pPr indent="0" marL="0">
              <a:buNone/>
            </a:pPr>
            <a:r>
              <a:rPr lang="en-US" sz="1150" dirty="0">
                <a:solidFill>
                  <a:srgbClr val="4B5563"/>
                </a:solidFill>
              </a:rPr>
              <a:t>2.838 judul tak ada di video · 11 non-musik · 4 judul generik tanpa artis</a:t>
            </a:r>
            <a:endParaRPr lang="en-US" sz="11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3 · LOGIKA SUPERSET</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Superset: image, bootstrap, dan koneksi read-only</a:t>
            </a:r>
            <a:endParaRPr lang="en-US" sz="3000" dirty="0"/>
          </a:p>
        </p:txBody>
      </p:sp>
      <p:sp>
        <p:nvSpPr>
          <p:cNvPr id="4" name="superset file card"/>
          <p:cNvSpPr/>
          <p:nvPr/>
        </p:nvSpPr>
        <p:spPr>
          <a:xfrm>
            <a:off x="548640" y="1417320"/>
            <a:ext cx="3515258" cy="2697480"/>
          </a:xfrm>
          <a:prstGeom prst="roundRect">
            <a:avLst>
              <a:gd name="adj" fmla="val 2712"/>
            </a:avLst>
          </a:prstGeom>
          <a:solidFill>
            <a:schemeClr val="bg2"/>
          </a:solidFill>
          <a:ln/>
        </p:spPr>
      </p:sp>
      <p:sp>
        <p:nvSpPr>
          <p:cNvPr id="5" name="Text 3"/>
          <p:cNvSpPr txBox="1"/>
          <p:nvPr/>
        </p:nvSpPr>
        <p:spPr>
          <a:xfrm>
            <a:off x="749808" y="1581912"/>
            <a:ext cx="3149498" cy="274320"/>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docker/superset/Dockerfile</a:t>
            </a:r>
            <a:endParaRPr lang="en-US" sz="1200" dirty="0"/>
          </a:p>
        </p:txBody>
      </p:sp>
      <p:sp>
        <p:nvSpPr>
          <p:cNvPr id="6" name="Text 4"/>
          <p:cNvSpPr txBox="1"/>
          <p:nvPr/>
        </p:nvSpPr>
        <p:spPr>
          <a:xfrm>
            <a:off x="749808" y="1874520"/>
            <a:ext cx="314949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Image dengan driver</a:t>
            </a:r>
            <a:endParaRPr lang="en-US" sz="1500" dirty="0"/>
          </a:p>
        </p:txBody>
      </p:sp>
      <p:sp>
        <p:nvSpPr>
          <p:cNvPr id="7" name="Text 5"/>
          <p:cNvSpPr txBox="1"/>
          <p:nvPr/>
        </p:nvSpPr>
        <p:spPr>
          <a:xfrm>
            <a:off x="749808" y="2313432"/>
            <a:ext cx="3149498" cy="17373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basis apache/superset:6.0.0</a:t>
            </a:r>
            <a:endParaRPr lang="en-US" sz="1250" dirty="0"/>
          </a:p>
          <a:p>
            <a:pPr marL="177800" indent="-177800">
              <a:spcAft>
                <a:spcPts val="500"/>
              </a:spcAft>
              <a:buSzPct val="100000"/>
              <a:buChar char="•"/>
            </a:pPr>
            <a:r>
              <a:rPr lang="en-US" sz="1250" dirty="0">
                <a:solidFill>
                  <a:schemeClr val="tx1"/>
                </a:solidFill>
              </a:rPr>
              <a:t>+ clickhouse-connect 1.10 → dialek clickhousedb://</a:t>
            </a:r>
            <a:endParaRPr lang="en-US" sz="1250" dirty="0"/>
          </a:p>
          <a:p>
            <a:pPr marL="177800" indent="-177800">
              <a:spcAft>
                <a:spcPts val="500"/>
              </a:spcAft>
              <a:buSzPct val="100000"/>
              <a:buChar char="•"/>
            </a:pPr>
            <a:r>
              <a:rPr lang="en-US" sz="1250" dirty="0">
                <a:solidFill>
                  <a:schemeClr val="tx1"/>
                </a:solidFill>
              </a:rPr>
              <a:t>+ psycopg2 → metadata Superset di Postgres</a:t>
            </a:r>
            <a:endParaRPr lang="en-US" sz="1250" dirty="0"/>
          </a:p>
          <a:p>
            <a:pPr marL="177800" indent="-177800">
              <a:spcAft>
                <a:spcPts val="500"/>
              </a:spcAft>
              <a:buSzPct val="100000"/>
              <a:buChar char="•"/>
            </a:pPr>
            <a:r>
              <a:rPr lang="en-US" sz="1250" dirty="0">
                <a:solidFill>
                  <a:schemeClr val="tx1"/>
                </a:solidFill>
              </a:rPr>
              <a:t>dipasang ke /app/.venv dengan uv</a:t>
            </a:r>
            <a:endParaRPr lang="en-US" sz="1250" dirty="0"/>
          </a:p>
        </p:txBody>
      </p:sp>
      <p:sp>
        <p:nvSpPr>
          <p:cNvPr id="8" name="superset file card"/>
          <p:cNvSpPr/>
          <p:nvPr/>
        </p:nvSpPr>
        <p:spPr>
          <a:xfrm>
            <a:off x="4338218" y="1417320"/>
            <a:ext cx="3515258" cy="2697480"/>
          </a:xfrm>
          <a:prstGeom prst="roundRect">
            <a:avLst>
              <a:gd name="adj" fmla="val 2712"/>
            </a:avLst>
          </a:prstGeom>
          <a:solidFill>
            <a:schemeClr val="bg2"/>
          </a:solidFill>
          <a:ln/>
        </p:spPr>
      </p:sp>
      <p:sp>
        <p:nvSpPr>
          <p:cNvPr id="9" name="Text 7"/>
          <p:cNvSpPr txBox="1"/>
          <p:nvPr/>
        </p:nvSpPr>
        <p:spPr>
          <a:xfrm>
            <a:off x="4539386" y="1581912"/>
            <a:ext cx="3149498" cy="274320"/>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superset-init.sh</a:t>
            </a:r>
            <a:endParaRPr lang="en-US" sz="1200" dirty="0"/>
          </a:p>
        </p:txBody>
      </p:sp>
      <p:sp>
        <p:nvSpPr>
          <p:cNvPr id="10" name="Text 8"/>
          <p:cNvSpPr txBox="1"/>
          <p:nvPr/>
        </p:nvSpPr>
        <p:spPr>
          <a:xfrm>
            <a:off x="4539386" y="1874520"/>
            <a:ext cx="314949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Bootstrap sekali jalan</a:t>
            </a:r>
            <a:endParaRPr lang="en-US" sz="1500" dirty="0"/>
          </a:p>
        </p:txBody>
      </p:sp>
      <p:sp>
        <p:nvSpPr>
          <p:cNvPr id="11" name="Text 9"/>
          <p:cNvSpPr txBox="1"/>
          <p:nvPr/>
        </p:nvSpPr>
        <p:spPr>
          <a:xfrm>
            <a:off x="4539386" y="2313432"/>
            <a:ext cx="3149498" cy="17373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superset db upgrade (migrasi metadata)</a:t>
            </a:r>
            <a:endParaRPr lang="en-US" sz="1250" dirty="0"/>
          </a:p>
          <a:p>
            <a:pPr marL="177800" indent="-177800">
              <a:spcAft>
                <a:spcPts val="500"/>
              </a:spcAft>
              <a:buSzPct val="100000"/>
              <a:buChar char="•"/>
            </a:pPr>
            <a:r>
              <a:rPr lang="en-US" sz="1250" dirty="0">
                <a:solidFill>
                  <a:schemeClr val="tx1"/>
                </a:solidFill>
              </a:rPr>
              <a:t>fab create-admin — idempoten</a:t>
            </a:r>
            <a:endParaRPr lang="en-US" sz="1250" dirty="0"/>
          </a:p>
          <a:p>
            <a:pPr marL="177800" indent="-177800">
              <a:spcAft>
                <a:spcPts val="500"/>
              </a:spcAft>
              <a:buSzPct val="100000"/>
              <a:buChar char="•"/>
            </a:pPr>
            <a:r>
              <a:rPr lang="en-US" sz="1250" dirty="0">
                <a:solidFill>
                  <a:schemeClr val="tx1"/>
                </a:solidFill>
              </a:rPr>
              <a:t>superset init: role &amp; permission</a:t>
            </a:r>
            <a:endParaRPr lang="en-US" sz="1250" dirty="0"/>
          </a:p>
          <a:p>
            <a:pPr marL="177800" indent="-177800">
              <a:spcAft>
                <a:spcPts val="500"/>
              </a:spcAft>
              <a:buSzPct val="100000"/>
              <a:buChar char="•"/>
            </a:pPr>
            <a:r>
              <a:rPr lang="en-US" sz="1250" dirty="0">
                <a:solidFill>
                  <a:schemeClr val="tx1"/>
                </a:solidFill>
              </a:rPr>
              <a:t>dashboard sengaja tidak dibuat di sini: marts baru ada setelah run pertama</a:t>
            </a:r>
            <a:endParaRPr lang="en-US" sz="1250" dirty="0"/>
          </a:p>
        </p:txBody>
      </p:sp>
      <p:sp>
        <p:nvSpPr>
          <p:cNvPr id="12" name="superset file card"/>
          <p:cNvSpPr/>
          <p:nvPr/>
        </p:nvSpPr>
        <p:spPr>
          <a:xfrm>
            <a:off x="8127797" y="1417320"/>
            <a:ext cx="3515258" cy="2697480"/>
          </a:xfrm>
          <a:prstGeom prst="roundRect">
            <a:avLst>
              <a:gd name="adj" fmla="val 2712"/>
            </a:avLst>
          </a:prstGeom>
          <a:solidFill>
            <a:schemeClr val="bg2"/>
          </a:solidFill>
          <a:ln/>
        </p:spPr>
      </p:sp>
      <p:sp>
        <p:nvSpPr>
          <p:cNvPr id="13" name="Text 11"/>
          <p:cNvSpPr txBox="1"/>
          <p:nvPr/>
        </p:nvSpPr>
        <p:spPr>
          <a:xfrm>
            <a:off x="8328965" y="1581912"/>
            <a:ext cx="3149498" cy="274320"/>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superset_config.py</a:t>
            </a:r>
            <a:endParaRPr lang="en-US" sz="1200" dirty="0"/>
          </a:p>
        </p:txBody>
      </p:sp>
      <p:sp>
        <p:nvSpPr>
          <p:cNvPr id="14" name="Text 12"/>
          <p:cNvSpPr txBox="1"/>
          <p:nvPr/>
        </p:nvSpPr>
        <p:spPr>
          <a:xfrm>
            <a:off x="8328965" y="1874520"/>
            <a:ext cx="314949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Konfigurasi aman</a:t>
            </a:r>
            <a:endParaRPr lang="en-US" sz="1500" dirty="0"/>
          </a:p>
        </p:txBody>
      </p:sp>
      <p:sp>
        <p:nvSpPr>
          <p:cNvPr id="15" name="Text 13"/>
          <p:cNvSpPr txBox="1"/>
          <p:nvPr/>
        </p:nvSpPr>
        <p:spPr>
          <a:xfrm>
            <a:off x="8328965" y="2313432"/>
            <a:ext cx="3149498" cy="17373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SECRET_KEY &amp; URI metadata dari env</a:t>
            </a:r>
            <a:endParaRPr lang="en-US" sz="1250" dirty="0"/>
          </a:p>
          <a:p>
            <a:pPr marL="177800" indent="-177800">
              <a:spcAft>
                <a:spcPts val="500"/>
              </a:spcAft>
              <a:buSzPct val="100000"/>
              <a:buChar char="•"/>
            </a:pPr>
            <a:r>
              <a:rPr lang="en-US" sz="1250" dirty="0">
                <a:solidFill>
                  <a:schemeClr val="tx1"/>
                </a:solidFill>
              </a:rPr>
              <a:t>CSRF tetap aktif (Airflow mengambil token)</a:t>
            </a:r>
            <a:endParaRPr lang="en-US" sz="1250" dirty="0"/>
          </a:p>
          <a:p>
            <a:pPr marL="177800" indent="-177800">
              <a:spcAft>
                <a:spcPts val="500"/>
              </a:spcAft>
              <a:buSzPct val="100000"/>
              <a:buChar char="•"/>
            </a:pPr>
            <a:r>
              <a:rPr lang="en-US" sz="1250" dirty="0">
                <a:solidFill>
                  <a:schemeClr val="tx1"/>
                </a:solidFill>
              </a:rPr>
              <a:t>cache data 10 menit · ROW_LIMIT 50.000</a:t>
            </a:r>
            <a:endParaRPr lang="en-US" sz="1250" dirty="0"/>
          </a:p>
          <a:p>
            <a:pPr marL="177800" indent="-177800">
              <a:spcAft>
                <a:spcPts val="500"/>
              </a:spcAft>
              <a:buSzPct val="100000"/>
              <a:buChar char="•"/>
            </a:pPr>
            <a:r>
              <a:rPr lang="en-US" sz="1250" dirty="0">
                <a:solidFill>
                  <a:schemeClr val="tx1"/>
                </a:solidFill>
              </a:rPr>
              <a:t>zona waktu tampilan Asia/Jakarta</a:t>
            </a:r>
            <a:endParaRPr lang="en-US" sz="1250" dirty="0"/>
          </a:p>
        </p:txBody>
      </p:sp>
      <p:sp>
        <p:nvSpPr>
          <p:cNvPr id="16" name="Text 14"/>
          <p:cNvSpPr txBox="1"/>
          <p:nvPr/>
        </p:nvSpPr>
        <p:spPr>
          <a:xfrm>
            <a:off x="548640" y="4297680"/>
            <a:ext cx="36576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ALUR KONEKSI</a:t>
            </a:r>
            <a:endParaRPr lang="en-US" sz="1100" dirty="0"/>
          </a:p>
        </p:txBody>
      </p:sp>
      <p:sp>
        <p:nvSpPr>
          <p:cNvPr id="17" name="flow box"/>
          <p:cNvSpPr/>
          <p:nvPr/>
        </p:nvSpPr>
        <p:spPr>
          <a:xfrm>
            <a:off x="548640" y="4709160"/>
            <a:ext cx="3063240" cy="1188720"/>
          </a:xfrm>
          <a:prstGeom prst="roundRect">
            <a:avLst>
              <a:gd name="adj" fmla="val 4615"/>
            </a:avLst>
          </a:prstGeom>
          <a:solidFill>
            <a:srgbClr val="F3F4F6"/>
          </a:solidFill>
          <a:ln w="9525">
            <a:solidFill>
              <a:srgbClr val="D1D5DB"/>
            </a:solidFill>
            <a:prstDash val="solid"/>
          </a:ln>
        </p:spPr>
      </p:sp>
      <p:sp>
        <p:nvSpPr>
          <p:cNvPr id="18" name="Text 16"/>
          <p:cNvSpPr txBox="1"/>
          <p:nvPr/>
        </p:nvSpPr>
        <p:spPr>
          <a:xfrm>
            <a:off x="603504" y="4709160"/>
            <a:ext cx="2953512" cy="1188720"/>
          </a:xfrm>
          <a:prstGeom prst="rect">
            <a:avLst/>
          </a:prstGeom>
          <a:noFill/>
          <a:ln/>
        </p:spPr>
        <p:txBody>
          <a:bodyPr wrap="square" lIns="0" tIns="0" rIns="0" bIns="0" rtlCol="0" anchor="ctr"/>
          <a:lstStyle/>
          <a:p>
            <a:pPr algn="ctr" indent="0" marL="0">
              <a:buNone/>
            </a:pPr>
            <a:r>
              <a:rPr lang="en-US" sz="1300" b="1" dirty="0">
                <a:solidFill>
                  <a:srgbClr val="1B1B1F"/>
                </a:solidFill>
              </a:rPr>
              <a:t>PostgreSQL 16 · database superset</a:t>
            </a:r>
            <a:endParaRPr lang="en-US" sz="1300" dirty="0"/>
          </a:p>
          <a:p>
            <a:pPr algn="ctr" indent="0" marL="0">
              <a:buNone/>
            </a:pPr>
            <a:r>
              <a:rPr lang="en-US" sz="1200" dirty="0">
                <a:solidFill>
                  <a:srgbClr val="4B5563"/>
                </a:solidFill>
              </a:rPr>
              <a:t>metadata: user, dataset, chart, dashboard (bukan data analitik)</a:t>
            </a:r>
            <a:endParaRPr lang="en-US" sz="1300" dirty="0"/>
          </a:p>
        </p:txBody>
      </p:sp>
      <p:sp>
        <p:nvSpPr>
          <p:cNvPr id="19" name="flow box"/>
          <p:cNvSpPr/>
          <p:nvPr/>
        </p:nvSpPr>
        <p:spPr>
          <a:xfrm>
            <a:off x="4526280" y="4709160"/>
            <a:ext cx="3017520" cy="1188720"/>
          </a:xfrm>
          <a:prstGeom prst="roundRect">
            <a:avLst>
              <a:gd name="adj" fmla="val 4615"/>
            </a:avLst>
          </a:prstGeom>
          <a:solidFill>
            <a:srgbClr val="FDECEC"/>
          </a:solidFill>
          <a:ln w="9525">
            <a:solidFill>
              <a:srgbClr val="E3262E"/>
            </a:solidFill>
            <a:prstDash val="solid"/>
          </a:ln>
        </p:spPr>
      </p:sp>
      <p:sp>
        <p:nvSpPr>
          <p:cNvPr id="20" name="Text 18"/>
          <p:cNvSpPr txBox="1"/>
          <p:nvPr/>
        </p:nvSpPr>
        <p:spPr>
          <a:xfrm>
            <a:off x="4581144" y="4709160"/>
            <a:ext cx="2907792" cy="1188720"/>
          </a:xfrm>
          <a:prstGeom prst="rect">
            <a:avLst/>
          </a:prstGeom>
          <a:noFill/>
          <a:ln/>
        </p:spPr>
        <p:txBody>
          <a:bodyPr wrap="square" lIns="0" tIns="0" rIns="0" bIns="0" rtlCol="0" anchor="ctr"/>
          <a:lstStyle/>
          <a:p>
            <a:pPr algn="ctr" indent="0" marL="0">
              <a:buNone/>
            </a:pPr>
            <a:r>
              <a:rPr lang="en-US" sz="1300" b="1" dirty="0">
                <a:solidFill>
                  <a:srgbClr val="1B1B1F"/>
                </a:solidFill>
              </a:rPr>
              <a:t>Superset 6 · :8088</a:t>
            </a:r>
            <a:endParaRPr lang="en-US" sz="1300" dirty="0"/>
          </a:p>
          <a:p>
            <a:pPr algn="ctr" indent="0" marL="0">
              <a:buNone/>
            </a:pPr>
            <a:r>
              <a:rPr lang="en-US" sz="1200" dirty="0">
                <a:solidFill>
                  <a:srgbClr val="4B5563"/>
                </a:solidFill>
              </a:rPr>
              <a:t>3 dashboard · cache data 10 menit</a:t>
            </a:r>
            <a:endParaRPr lang="en-US" sz="1300" dirty="0"/>
          </a:p>
        </p:txBody>
      </p:sp>
      <p:sp>
        <p:nvSpPr>
          <p:cNvPr id="21" name="flow box"/>
          <p:cNvSpPr/>
          <p:nvPr/>
        </p:nvSpPr>
        <p:spPr>
          <a:xfrm>
            <a:off x="8549640" y="4709160"/>
            <a:ext cx="3093415" cy="1188720"/>
          </a:xfrm>
          <a:prstGeom prst="roundRect">
            <a:avLst>
              <a:gd name="adj" fmla="val 4615"/>
            </a:avLst>
          </a:prstGeom>
          <a:solidFill>
            <a:srgbClr val="F3F4F6"/>
          </a:solidFill>
          <a:ln w="9525">
            <a:solidFill>
              <a:srgbClr val="D1D5DB"/>
            </a:solidFill>
            <a:prstDash val="solid"/>
          </a:ln>
        </p:spPr>
      </p:sp>
      <p:sp>
        <p:nvSpPr>
          <p:cNvPr id="22" name="Text 20"/>
          <p:cNvSpPr txBox="1"/>
          <p:nvPr/>
        </p:nvSpPr>
        <p:spPr>
          <a:xfrm>
            <a:off x="8604504" y="4709160"/>
            <a:ext cx="2983687" cy="1188720"/>
          </a:xfrm>
          <a:prstGeom prst="rect">
            <a:avLst/>
          </a:prstGeom>
          <a:noFill/>
          <a:ln/>
        </p:spPr>
        <p:txBody>
          <a:bodyPr wrap="square" lIns="0" tIns="0" rIns="0" bIns="0" rtlCol="0" anchor="ctr"/>
          <a:lstStyle/>
          <a:p>
            <a:pPr algn="ctr" indent="0" marL="0">
              <a:buNone/>
            </a:pPr>
            <a:r>
              <a:rPr lang="en-US" sz="1300" b="1" dirty="0">
                <a:solidFill>
                  <a:srgbClr val="1B1B1F"/>
                </a:solidFill>
              </a:rPr>
              <a:t>ClickHouse · marts / ops / dq</a:t>
            </a:r>
            <a:endParaRPr lang="en-US" sz="1300" dirty="0"/>
          </a:p>
          <a:p>
            <a:pPr algn="ctr" indent="0" marL="0">
              <a:buNone/>
            </a:pPr>
            <a:r>
              <a:rPr lang="en-US" sz="1200" dirty="0">
                <a:solidFill>
                  <a:srgbClr val="4B5563"/>
                </a:solidFill>
              </a:rPr>
              <a:t>user superset_ro, SELECT saja · bi_profile: maks 60 dtk, 600 MB, 1 juta baris</a:t>
            </a:r>
            <a:endParaRPr lang="en-US" sz="1300" dirty="0"/>
          </a:p>
        </p:txBody>
      </p:sp>
      <p:sp>
        <p:nvSpPr>
          <p:cNvPr id="23" name="connector"/>
          <p:cNvSpPr/>
          <p:nvPr/>
        </p:nvSpPr>
        <p:spPr>
          <a:xfrm flipH="1">
            <a:off x="3611880" y="5303520"/>
            <a:ext cx="914400" cy="0"/>
          </a:xfrm>
          <a:prstGeom prst="line">
            <a:avLst/>
          </a:prstGeom>
          <a:noFill/>
          <a:ln w="19050">
            <a:solidFill>
              <a:srgbClr val="4B5563"/>
            </a:solidFill>
            <a:prstDash val="solid"/>
            <a:tailEnd type="triangle"/>
          </a:ln>
        </p:spPr>
      </p:sp>
      <p:sp>
        <p:nvSpPr>
          <p:cNvPr id="24" name="connector"/>
          <p:cNvSpPr/>
          <p:nvPr/>
        </p:nvSpPr>
        <p:spPr>
          <a:xfrm>
            <a:off x="7543800" y="5303520"/>
            <a:ext cx="1005840" cy="0"/>
          </a:xfrm>
          <a:prstGeom prst="line">
            <a:avLst/>
          </a:prstGeom>
          <a:noFill/>
          <a:ln w="19050">
            <a:solidFill>
              <a:srgbClr val="4B5563"/>
            </a:solidFill>
            <a:prstDash val="solid"/>
            <a:tailEnd type="triangle"/>
          </a:ln>
        </p:spPr>
      </p:sp>
      <p:sp>
        <p:nvSpPr>
          <p:cNvPr id="25" name="Text 23"/>
          <p:cNvSpPr txBox="1"/>
          <p:nvPr/>
        </p:nvSpPr>
        <p:spPr>
          <a:xfrm>
            <a:off x="3611880" y="4992624"/>
            <a:ext cx="914400" cy="256032"/>
          </a:xfrm>
          <a:prstGeom prst="rect">
            <a:avLst/>
          </a:prstGeom>
          <a:noFill/>
          <a:ln/>
        </p:spPr>
        <p:txBody>
          <a:bodyPr wrap="square" lIns="0" tIns="0" rIns="0" bIns="0" rtlCol="0" anchor="t"/>
          <a:lstStyle/>
          <a:p>
            <a:pPr algn="ctr" indent="0" marL="0">
              <a:buNone/>
            </a:pPr>
            <a:r>
              <a:rPr lang="en-US" sz="1100" dirty="0">
                <a:solidFill>
                  <a:schemeClr val="accent2"/>
                </a:solidFill>
              </a:rPr>
              <a:t>metadata</a:t>
            </a:r>
            <a:endParaRPr lang="en-US" sz="1100" dirty="0"/>
          </a:p>
        </p:txBody>
      </p:sp>
      <p:sp>
        <p:nvSpPr>
          <p:cNvPr id="26" name="Text 24"/>
          <p:cNvSpPr txBox="1"/>
          <p:nvPr/>
        </p:nvSpPr>
        <p:spPr>
          <a:xfrm>
            <a:off x="7543800" y="4992624"/>
            <a:ext cx="1005840" cy="256032"/>
          </a:xfrm>
          <a:prstGeom prst="rect">
            <a:avLst/>
          </a:prstGeom>
          <a:noFill/>
          <a:ln/>
        </p:spPr>
        <p:txBody>
          <a:bodyPr wrap="square" lIns="0" tIns="0" rIns="0" bIns="0" rtlCol="0" anchor="t"/>
          <a:lstStyle/>
          <a:p>
            <a:pPr algn="ctr" indent="0" marL="0">
              <a:buNone/>
            </a:pPr>
            <a:r>
              <a:rPr lang="en-US" sz="1100" dirty="0">
                <a:solidFill>
                  <a:schemeClr val="accent2"/>
                </a:solidFill>
              </a:rPr>
              <a:t>clickhousedb://</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3 · LOGIKA SUPERSET</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Dashboard sebagai kode, diperbarui setiap run</a:t>
            </a:r>
            <a:endParaRPr lang="en-US" sz="3000" dirty="0"/>
          </a:p>
        </p:txBody>
      </p:sp>
      <p:sp>
        <p:nvSpPr>
          <p:cNvPr id="4" name="flow box"/>
          <p:cNvSpPr/>
          <p:nvPr/>
        </p:nvSpPr>
        <p:spPr>
          <a:xfrm>
            <a:off x="548640" y="1417320"/>
            <a:ext cx="1658569" cy="1051560"/>
          </a:xfrm>
          <a:prstGeom prst="roundRect">
            <a:avLst>
              <a:gd name="adj" fmla="val 5217"/>
            </a:avLst>
          </a:prstGeom>
          <a:solidFill>
            <a:srgbClr val="F3F4F6"/>
          </a:solidFill>
          <a:ln w="9525">
            <a:solidFill>
              <a:srgbClr val="D1D5DB"/>
            </a:solidFill>
            <a:prstDash val="solid"/>
          </a:ln>
        </p:spPr>
      </p:sp>
      <p:sp>
        <p:nvSpPr>
          <p:cNvPr id="5" name="Text 3"/>
          <p:cNvSpPr txBox="1"/>
          <p:nvPr/>
        </p:nvSpPr>
        <p:spPr>
          <a:xfrm>
            <a:off x="603504" y="1417320"/>
            <a:ext cx="1548841" cy="1051560"/>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login</a:t>
            </a:r>
            <a:endParaRPr lang="en-US" sz="1200" dirty="0"/>
          </a:p>
          <a:p>
            <a:pPr algn="ctr" indent="0" marL="0">
              <a:buNone/>
            </a:pPr>
            <a:r>
              <a:rPr lang="en-US" sz="1100" dirty="0">
                <a:solidFill>
                  <a:srgbClr val="4B5563"/>
                </a:solidFill>
              </a:rPr>
              <a:t>JWT + token CSRF</a:t>
            </a:r>
            <a:endParaRPr lang="en-US" sz="1200" dirty="0"/>
          </a:p>
        </p:txBody>
      </p:sp>
      <p:sp>
        <p:nvSpPr>
          <p:cNvPr id="6" name="connector"/>
          <p:cNvSpPr/>
          <p:nvPr/>
        </p:nvSpPr>
        <p:spPr>
          <a:xfrm>
            <a:off x="2225497" y="1943100"/>
            <a:ext cx="192024" cy="0"/>
          </a:xfrm>
          <a:prstGeom prst="line">
            <a:avLst/>
          </a:prstGeom>
          <a:noFill/>
          <a:ln w="15875">
            <a:solidFill>
              <a:srgbClr val="4B5563"/>
            </a:solidFill>
            <a:prstDash val="solid"/>
            <a:tailEnd type="triangle"/>
          </a:ln>
        </p:spPr>
      </p:sp>
      <p:sp>
        <p:nvSpPr>
          <p:cNvPr id="7" name="flow box"/>
          <p:cNvSpPr/>
          <p:nvPr/>
        </p:nvSpPr>
        <p:spPr>
          <a:xfrm>
            <a:off x="2435809" y="1417320"/>
            <a:ext cx="1658569" cy="1051560"/>
          </a:xfrm>
          <a:prstGeom prst="roundRect">
            <a:avLst>
              <a:gd name="adj" fmla="val 5217"/>
            </a:avLst>
          </a:prstGeom>
          <a:solidFill>
            <a:srgbClr val="F3F4F6"/>
          </a:solidFill>
          <a:ln w="9525">
            <a:solidFill>
              <a:srgbClr val="D1D5DB"/>
            </a:solidFill>
            <a:prstDash val="solid"/>
          </a:ln>
        </p:spPr>
      </p:sp>
      <p:sp>
        <p:nvSpPr>
          <p:cNvPr id="8" name="Text 6"/>
          <p:cNvSpPr txBox="1"/>
          <p:nvPr/>
        </p:nvSpPr>
        <p:spPr>
          <a:xfrm>
            <a:off x="2490673" y="1417320"/>
            <a:ext cx="1548841" cy="1051560"/>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ensure_database</a:t>
            </a:r>
            <a:endParaRPr lang="en-US" sz="1200" dirty="0"/>
          </a:p>
          <a:p>
            <a:pPr algn="ctr" indent="0" marL="0">
              <a:buNone/>
            </a:pPr>
            <a:r>
              <a:rPr lang="en-US" sz="1100" dirty="0">
                <a:solidFill>
                  <a:srgbClr val="4B5563"/>
                </a:solidFill>
              </a:rPr>
              <a:t>“ClickHouse Warehouse” (superset_ro)</a:t>
            </a:r>
            <a:endParaRPr lang="en-US" sz="1200" dirty="0"/>
          </a:p>
        </p:txBody>
      </p:sp>
      <p:sp>
        <p:nvSpPr>
          <p:cNvPr id="9" name="connector"/>
          <p:cNvSpPr/>
          <p:nvPr/>
        </p:nvSpPr>
        <p:spPr>
          <a:xfrm>
            <a:off x="4112666" y="1943100"/>
            <a:ext cx="192024" cy="0"/>
          </a:xfrm>
          <a:prstGeom prst="line">
            <a:avLst/>
          </a:prstGeom>
          <a:noFill/>
          <a:ln w="15875">
            <a:solidFill>
              <a:srgbClr val="4B5563"/>
            </a:solidFill>
            <a:prstDash val="solid"/>
            <a:tailEnd type="triangle"/>
          </a:ln>
        </p:spPr>
      </p:sp>
      <p:sp>
        <p:nvSpPr>
          <p:cNvPr id="10" name="flow box"/>
          <p:cNvSpPr/>
          <p:nvPr/>
        </p:nvSpPr>
        <p:spPr>
          <a:xfrm>
            <a:off x="4322978" y="1417320"/>
            <a:ext cx="1658569" cy="1051560"/>
          </a:xfrm>
          <a:prstGeom prst="roundRect">
            <a:avLst>
              <a:gd name="adj" fmla="val 5217"/>
            </a:avLst>
          </a:prstGeom>
          <a:solidFill>
            <a:srgbClr val="F3F4F6"/>
          </a:solidFill>
          <a:ln w="9525">
            <a:solidFill>
              <a:srgbClr val="D1D5DB"/>
            </a:solidFill>
            <a:prstDash val="solid"/>
          </a:ln>
        </p:spPr>
      </p:sp>
      <p:sp>
        <p:nvSpPr>
          <p:cNvPr id="11" name="Text 9"/>
          <p:cNvSpPr txBox="1"/>
          <p:nvPr/>
        </p:nvSpPr>
        <p:spPr>
          <a:xfrm>
            <a:off x="4377842" y="1417320"/>
            <a:ext cx="1548841" cy="1051560"/>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ensure_dataset</a:t>
            </a:r>
            <a:endParaRPr lang="en-US" sz="1200" dirty="0"/>
          </a:p>
          <a:p>
            <a:pPr algn="ctr" indent="0" marL="0">
              <a:buNone/>
            </a:pPr>
            <a:r>
              <a:rPr lang="en-US" sz="1100" dirty="0">
                <a:solidFill>
                  <a:srgbClr val="4B5563"/>
                </a:solidFill>
              </a:rPr>
              <a:t>1 dataset per tabel marts; refresh kolom baru</a:t>
            </a:r>
            <a:endParaRPr lang="en-US" sz="1200" dirty="0"/>
          </a:p>
        </p:txBody>
      </p:sp>
      <p:sp>
        <p:nvSpPr>
          <p:cNvPr id="12" name="connector"/>
          <p:cNvSpPr/>
          <p:nvPr/>
        </p:nvSpPr>
        <p:spPr>
          <a:xfrm>
            <a:off x="5999836" y="1943100"/>
            <a:ext cx="192024" cy="0"/>
          </a:xfrm>
          <a:prstGeom prst="line">
            <a:avLst/>
          </a:prstGeom>
          <a:noFill/>
          <a:ln w="15875">
            <a:solidFill>
              <a:srgbClr val="4B5563"/>
            </a:solidFill>
            <a:prstDash val="solid"/>
            <a:tailEnd type="triangle"/>
          </a:ln>
        </p:spPr>
      </p:sp>
      <p:sp>
        <p:nvSpPr>
          <p:cNvPr id="13" name="flow box"/>
          <p:cNvSpPr/>
          <p:nvPr/>
        </p:nvSpPr>
        <p:spPr>
          <a:xfrm>
            <a:off x="6210148" y="1417320"/>
            <a:ext cx="1658569" cy="1051560"/>
          </a:xfrm>
          <a:prstGeom prst="roundRect">
            <a:avLst>
              <a:gd name="adj" fmla="val 5217"/>
            </a:avLst>
          </a:prstGeom>
          <a:solidFill>
            <a:srgbClr val="F3F4F6"/>
          </a:solidFill>
          <a:ln w="9525">
            <a:solidFill>
              <a:srgbClr val="D1D5DB"/>
            </a:solidFill>
            <a:prstDash val="solid"/>
          </a:ln>
        </p:spPr>
      </p:sp>
      <p:sp>
        <p:nvSpPr>
          <p:cNvPr id="14" name="Text 12"/>
          <p:cNvSpPr txBox="1"/>
          <p:nvPr/>
        </p:nvSpPr>
        <p:spPr>
          <a:xfrm>
            <a:off x="6265012" y="1417320"/>
            <a:ext cx="1548841" cy="1051560"/>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ensure_chart</a:t>
            </a:r>
            <a:endParaRPr lang="en-US" sz="1200" dirty="0"/>
          </a:p>
          <a:p>
            <a:pPr algn="ctr" indent="0" marL="0">
              <a:buNone/>
            </a:pPr>
            <a:r>
              <a:rPr lang="en-US" sz="1100" dirty="0">
                <a:solidFill>
                  <a:srgbClr val="4B5563"/>
                </a:solidFill>
              </a:rPr>
              <a:t>cari per nama → PUT, belum ada → POST</a:t>
            </a:r>
            <a:endParaRPr lang="en-US" sz="1200" dirty="0"/>
          </a:p>
        </p:txBody>
      </p:sp>
      <p:sp>
        <p:nvSpPr>
          <p:cNvPr id="15" name="connector"/>
          <p:cNvSpPr/>
          <p:nvPr/>
        </p:nvSpPr>
        <p:spPr>
          <a:xfrm>
            <a:off x="7887005" y="1943100"/>
            <a:ext cx="192024" cy="0"/>
          </a:xfrm>
          <a:prstGeom prst="line">
            <a:avLst/>
          </a:prstGeom>
          <a:noFill/>
          <a:ln w="15875">
            <a:solidFill>
              <a:srgbClr val="4B5563"/>
            </a:solidFill>
            <a:prstDash val="solid"/>
            <a:tailEnd type="triangle"/>
          </a:ln>
        </p:spPr>
      </p:sp>
      <p:sp>
        <p:nvSpPr>
          <p:cNvPr id="16" name="flow box"/>
          <p:cNvSpPr/>
          <p:nvPr/>
        </p:nvSpPr>
        <p:spPr>
          <a:xfrm>
            <a:off x="8097317" y="1417320"/>
            <a:ext cx="1658569" cy="1051560"/>
          </a:xfrm>
          <a:prstGeom prst="roundRect">
            <a:avLst>
              <a:gd name="adj" fmla="val 5217"/>
            </a:avLst>
          </a:prstGeom>
          <a:solidFill>
            <a:srgbClr val="F3F4F6"/>
          </a:solidFill>
          <a:ln w="9525">
            <a:solidFill>
              <a:srgbClr val="D1D5DB"/>
            </a:solidFill>
            <a:prstDash val="solid"/>
          </a:ln>
        </p:spPr>
      </p:sp>
      <p:sp>
        <p:nvSpPr>
          <p:cNvPr id="17" name="Text 15"/>
          <p:cNvSpPr txBox="1"/>
          <p:nvPr/>
        </p:nvSpPr>
        <p:spPr>
          <a:xfrm>
            <a:off x="8152181" y="1417320"/>
            <a:ext cx="1548841" cy="1051560"/>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position_json</a:t>
            </a:r>
            <a:endParaRPr lang="en-US" sz="1200" dirty="0"/>
          </a:p>
          <a:p>
            <a:pPr algn="ctr" indent="0" marL="0">
              <a:buNone/>
            </a:pPr>
            <a:r>
              <a:rPr lang="en-US" sz="1100" dirty="0">
                <a:solidFill>
                  <a:srgbClr val="4B5563"/>
                </a:solidFill>
              </a:rPr>
              <a:t>grid: intro + baris chart</a:t>
            </a:r>
            <a:endParaRPr lang="en-US" sz="1200" dirty="0"/>
          </a:p>
        </p:txBody>
      </p:sp>
      <p:sp>
        <p:nvSpPr>
          <p:cNvPr id="18" name="connector"/>
          <p:cNvSpPr/>
          <p:nvPr/>
        </p:nvSpPr>
        <p:spPr>
          <a:xfrm>
            <a:off x="9774174" y="1943100"/>
            <a:ext cx="192024" cy="0"/>
          </a:xfrm>
          <a:prstGeom prst="line">
            <a:avLst/>
          </a:prstGeom>
          <a:noFill/>
          <a:ln w="15875">
            <a:solidFill>
              <a:srgbClr val="4B5563"/>
            </a:solidFill>
            <a:prstDash val="solid"/>
            <a:tailEnd type="triangle"/>
          </a:ln>
        </p:spPr>
      </p:sp>
      <p:sp>
        <p:nvSpPr>
          <p:cNvPr id="19" name="flow box"/>
          <p:cNvSpPr/>
          <p:nvPr/>
        </p:nvSpPr>
        <p:spPr>
          <a:xfrm>
            <a:off x="9984486" y="1417320"/>
            <a:ext cx="1658569" cy="1051560"/>
          </a:xfrm>
          <a:prstGeom prst="roundRect">
            <a:avLst>
              <a:gd name="adj" fmla="val 5217"/>
            </a:avLst>
          </a:prstGeom>
          <a:solidFill>
            <a:srgbClr val="FDECEC"/>
          </a:solidFill>
          <a:ln w="9525">
            <a:solidFill>
              <a:srgbClr val="E3262E"/>
            </a:solidFill>
            <a:prstDash val="solid"/>
          </a:ln>
        </p:spPr>
      </p:sp>
      <p:sp>
        <p:nvSpPr>
          <p:cNvPr id="20" name="Text 18"/>
          <p:cNvSpPr txBox="1"/>
          <p:nvPr/>
        </p:nvSpPr>
        <p:spPr>
          <a:xfrm>
            <a:off x="10039350" y="1417320"/>
            <a:ext cx="1548841" cy="1051560"/>
          </a:xfrm>
          <a:prstGeom prst="rect">
            <a:avLst/>
          </a:prstGeom>
          <a:noFill/>
          <a:ln/>
        </p:spPr>
        <p:txBody>
          <a:bodyPr wrap="square" lIns="0" tIns="0" rIns="0" bIns="0" rtlCol="0" anchor="ctr"/>
          <a:lstStyle/>
          <a:p>
            <a:pPr algn="ctr" indent="0" marL="0">
              <a:buNone/>
            </a:pPr>
            <a:r>
              <a:rPr lang="en-US" sz="1200" b="1" dirty="0">
                <a:solidFill>
                  <a:srgbClr val="1B1B1F"/>
                </a:solidFill>
                <a:latin typeface="Consolas" pitchFamily="34" charset="0"/>
                <a:ea typeface="Consolas" pitchFamily="34" charset="-122"/>
                <a:cs typeface="Consolas" pitchFamily="34" charset="-120"/>
              </a:rPr>
              <a:t>publish</a:t>
            </a:r>
            <a:endParaRPr lang="en-US" sz="1200" dirty="0"/>
          </a:p>
          <a:p>
            <a:pPr algn="ctr" indent="0" marL="0">
              <a:buNone/>
            </a:pPr>
            <a:r>
              <a:rPr lang="en-US" sz="1100" dirty="0">
                <a:solidFill>
                  <a:srgbClr val="4B5563"/>
                </a:solidFill>
              </a:rPr>
              <a:t>dashboard published, slug tetap</a:t>
            </a:r>
            <a:endParaRPr lang="en-US" sz="1200" dirty="0"/>
          </a:p>
        </p:txBody>
      </p:sp>
      <p:sp>
        <p:nvSpPr>
          <p:cNvPr id="21" name="dashboard card"/>
          <p:cNvSpPr/>
          <p:nvPr/>
        </p:nvSpPr>
        <p:spPr>
          <a:xfrm>
            <a:off x="548640" y="2743200"/>
            <a:ext cx="3515258" cy="3108960"/>
          </a:xfrm>
          <a:prstGeom prst="roundRect">
            <a:avLst>
              <a:gd name="adj" fmla="val 2353"/>
            </a:avLst>
          </a:prstGeom>
          <a:solidFill>
            <a:schemeClr val="bg2"/>
          </a:solidFill>
          <a:ln/>
        </p:spPr>
      </p:sp>
      <p:sp>
        <p:nvSpPr>
          <p:cNvPr id="22" name="icon circle"/>
          <p:cNvSpPr/>
          <p:nvPr/>
        </p:nvSpPr>
        <p:spPr>
          <a:xfrm>
            <a:off x="749808" y="2944368"/>
            <a:ext cx="420624" cy="420624"/>
          </a:xfrm>
          <a:prstGeom prst="ellipse">
            <a:avLst/>
          </a:prstGeom>
          <a:solidFill>
            <a:schemeClr val="accent1"/>
          </a:solidFill>
          <a:ln/>
        </p:spPr>
      </p:sp>
      <p:pic>
        <p:nvPicPr>
          <p:cNvPr id="23" name="icon" descr="preencoded.png">    </p:cNvPr>
          <p:cNvPicPr>
            <a:picLocks noChangeAspect="1"/>
          </p:cNvPicPr>
          <p:nvPr/>
        </p:nvPicPr>
        <p:blipFill>
          <a:blip r:embed="rId1"/>
          <a:stretch>
            <a:fillRect/>
          </a:stretch>
        </p:blipFill>
        <p:spPr>
          <a:xfrm>
            <a:off x="850758" y="3045318"/>
            <a:ext cx="218724" cy="218724"/>
          </a:xfrm>
          <a:prstGeom prst="rect">
            <a:avLst/>
          </a:prstGeom>
        </p:spPr>
      </p:pic>
      <p:sp>
        <p:nvSpPr>
          <p:cNvPr id="24" name="Text 21"/>
          <p:cNvSpPr txBox="1"/>
          <p:nvPr/>
        </p:nvSpPr>
        <p:spPr>
          <a:xfrm>
            <a:off x="1298448" y="2907792"/>
            <a:ext cx="2600858" cy="502920"/>
          </a:xfrm>
          <a:prstGeom prst="rect">
            <a:avLst/>
          </a:prstGeom>
          <a:noFill/>
          <a:ln/>
        </p:spPr>
        <p:txBody>
          <a:bodyPr wrap="square" lIns="0" tIns="0" rIns="0" bIns="0" rtlCol="0" anchor="ctr"/>
          <a:lstStyle/>
          <a:p>
            <a:pPr indent="0" marL="0">
              <a:buNone/>
            </a:pPr>
            <a:r>
              <a:rPr lang="en-US" sz="1400" b="1" dirty="0">
                <a:solidFill>
                  <a:schemeClr val="tx1"/>
                </a:solidFill>
              </a:rPr>
              <a:t>Song Catalog — Recordings &amp; Videos</a:t>
            </a:r>
            <a:endParaRPr lang="en-US" sz="1400" dirty="0"/>
          </a:p>
        </p:txBody>
      </p:sp>
      <p:sp>
        <p:nvSpPr>
          <p:cNvPr id="25" name="chip"/>
          <p:cNvSpPr/>
          <p:nvPr/>
        </p:nvSpPr>
        <p:spPr>
          <a:xfrm>
            <a:off x="1298448" y="3438144"/>
            <a:ext cx="914400" cy="274320"/>
          </a:xfrm>
          <a:prstGeom prst="roundRect">
            <a:avLst>
              <a:gd name="adj" fmla="val 50000"/>
            </a:avLst>
          </a:prstGeom>
          <a:solidFill>
            <a:srgbClr val="1B1B1F"/>
          </a:solidFill>
          <a:ln/>
        </p:spPr>
      </p:sp>
      <p:sp>
        <p:nvSpPr>
          <p:cNvPr id="26" name="Text 23"/>
          <p:cNvSpPr txBox="1"/>
          <p:nvPr/>
        </p:nvSpPr>
        <p:spPr>
          <a:xfrm>
            <a:off x="1298448" y="3438144"/>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10 chart</a:t>
            </a:r>
            <a:endParaRPr lang="en-US" sz="1100" dirty="0"/>
          </a:p>
        </p:txBody>
      </p:sp>
      <p:sp>
        <p:nvSpPr>
          <p:cNvPr id="27" name="Text 24"/>
          <p:cNvSpPr txBox="1"/>
          <p:nvPr/>
        </p:nvSpPr>
        <p:spPr>
          <a:xfrm>
            <a:off x="749808" y="3886200"/>
            <a:ext cx="3112922" cy="1874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4 angka besar: lagu, ISRC, video, cakupan YouTube</a:t>
            </a:r>
            <a:endParaRPr lang="en-US" sz="1250" dirty="0"/>
          </a:p>
          <a:p>
            <a:pPr marL="177800" indent="-177800">
              <a:spcAft>
                <a:spcPts val="500"/>
              </a:spcAft>
              <a:buSzPct val="100000"/>
              <a:buChar char="•"/>
            </a:pPr>
            <a:r>
              <a:rPr lang="en-US" sz="1250" dirty="0">
                <a:solidFill>
                  <a:schemeClr val="tx1"/>
                </a:solidFill>
              </a:rPr>
              <a:t>Top 15 lagu per ISRC dan per video</a:t>
            </a:r>
            <a:endParaRPr lang="en-US" sz="1250" dirty="0"/>
          </a:p>
          <a:p>
            <a:pPr marL="177800" indent="-177800">
              <a:spcAft>
                <a:spcPts val="500"/>
              </a:spcAft>
              <a:buSzPct val="100000"/>
              <a:buChar char="•"/>
            </a:pPr>
            <a:r>
              <a:rPr lang="en-US" sz="1250" dirty="0">
                <a:solidFill>
                  <a:schemeClr val="tx1"/>
                </a:solidFill>
              </a:rPr>
              <a:t>distribusi jumlah ISRC per lagu</a:t>
            </a:r>
            <a:endParaRPr lang="en-US" sz="1250" dirty="0"/>
          </a:p>
          <a:p>
            <a:pPr marL="177800" indent="-177800">
              <a:spcAft>
                <a:spcPts val="500"/>
              </a:spcAft>
              <a:buSzPct val="100000"/>
              <a:buChar char="•"/>
            </a:pPr>
            <a:r>
              <a:rPr lang="en-US" sz="1250" dirty="0">
                <a:solidFill>
                  <a:schemeClr val="tx1"/>
                </a:solidFill>
              </a:rPr>
              <a:t>video per tipe · rekaman per relasi</a:t>
            </a:r>
            <a:endParaRPr lang="en-US" sz="1250" dirty="0"/>
          </a:p>
          <a:p>
            <a:pPr marL="177800" indent="-177800">
              <a:spcAft>
                <a:spcPts val="500"/>
              </a:spcAft>
              <a:buSzPct val="100000"/>
              <a:buChar char="•"/>
            </a:pPr>
            <a:r>
              <a:rPr lang="en-US" sz="1250" dirty="0">
                <a:solidFill>
                  <a:schemeClr val="tx1"/>
                </a:solidFill>
              </a:rPr>
              <a:t>tabel jawaban per lagu (Q1 + Q2)</a:t>
            </a:r>
            <a:endParaRPr lang="en-US" sz="1250" dirty="0"/>
          </a:p>
        </p:txBody>
      </p:sp>
      <p:sp>
        <p:nvSpPr>
          <p:cNvPr id="28" name="dashboard card"/>
          <p:cNvSpPr/>
          <p:nvPr/>
        </p:nvSpPr>
        <p:spPr>
          <a:xfrm>
            <a:off x="4338218" y="2743200"/>
            <a:ext cx="3515258" cy="3108960"/>
          </a:xfrm>
          <a:prstGeom prst="roundRect">
            <a:avLst>
              <a:gd name="adj" fmla="val 2353"/>
            </a:avLst>
          </a:prstGeom>
          <a:solidFill>
            <a:schemeClr val="bg2"/>
          </a:solidFill>
          <a:ln/>
        </p:spPr>
      </p:sp>
      <p:sp>
        <p:nvSpPr>
          <p:cNvPr id="29" name="icon circle"/>
          <p:cNvSpPr/>
          <p:nvPr/>
        </p:nvSpPr>
        <p:spPr>
          <a:xfrm>
            <a:off x="4539386" y="2944368"/>
            <a:ext cx="420624" cy="420624"/>
          </a:xfrm>
          <a:prstGeom prst="ellipse">
            <a:avLst/>
          </a:prstGeom>
          <a:solidFill>
            <a:schemeClr val="accent1"/>
          </a:solidFill>
          <a:ln/>
        </p:spPr>
      </p:sp>
      <p:pic>
        <p:nvPicPr>
          <p:cNvPr id="30" name="icon" descr="preencoded.png">    </p:cNvPr>
          <p:cNvPicPr>
            <a:picLocks noChangeAspect="1"/>
          </p:cNvPicPr>
          <p:nvPr/>
        </p:nvPicPr>
        <p:blipFill>
          <a:blip r:embed="rId2"/>
          <a:stretch>
            <a:fillRect/>
          </a:stretch>
        </p:blipFill>
        <p:spPr>
          <a:xfrm>
            <a:off x="4640336" y="3045318"/>
            <a:ext cx="218724" cy="218724"/>
          </a:xfrm>
          <a:prstGeom prst="rect">
            <a:avLst/>
          </a:prstGeom>
        </p:spPr>
      </p:pic>
      <p:sp>
        <p:nvSpPr>
          <p:cNvPr id="31" name="Text 27"/>
          <p:cNvSpPr txBox="1"/>
          <p:nvPr/>
        </p:nvSpPr>
        <p:spPr>
          <a:xfrm>
            <a:off x="5088026" y="2907792"/>
            <a:ext cx="2600858" cy="502920"/>
          </a:xfrm>
          <a:prstGeom prst="rect">
            <a:avLst/>
          </a:prstGeom>
          <a:noFill/>
          <a:ln/>
        </p:spPr>
        <p:txBody>
          <a:bodyPr wrap="square" lIns="0" tIns="0" rIns="0" bIns="0" rtlCol="0" anchor="ctr"/>
          <a:lstStyle/>
          <a:p>
            <a:pPr indent="0" marL="0">
              <a:buNone/>
            </a:pPr>
            <a:r>
              <a:rPr lang="en-US" sz="1400" b="1" dirty="0">
                <a:solidFill>
                  <a:schemeClr val="tx1"/>
                </a:solidFill>
              </a:rPr>
              <a:t>Pipeline Health</a:t>
            </a:r>
            <a:endParaRPr lang="en-US" sz="1400" dirty="0"/>
          </a:p>
        </p:txBody>
      </p:sp>
      <p:sp>
        <p:nvSpPr>
          <p:cNvPr id="32" name="chip"/>
          <p:cNvSpPr/>
          <p:nvPr/>
        </p:nvSpPr>
        <p:spPr>
          <a:xfrm>
            <a:off x="5088026" y="3438144"/>
            <a:ext cx="914400" cy="274320"/>
          </a:xfrm>
          <a:prstGeom prst="roundRect">
            <a:avLst>
              <a:gd name="adj" fmla="val 50000"/>
            </a:avLst>
          </a:prstGeom>
          <a:solidFill>
            <a:srgbClr val="1B1B1F"/>
          </a:solidFill>
          <a:ln/>
        </p:spPr>
      </p:sp>
      <p:sp>
        <p:nvSpPr>
          <p:cNvPr id="33" name="Text 29"/>
          <p:cNvSpPr txBox="1"/>
          <p:nvPr/>
        </p:nvSpPr>
        <p:spPr>
          <a:xfrm>
            <a:off x="5088026" y="3438144"/>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9 chart</a:t>
            </a:r>
            <a:endParaRPr lang="en-US" sz="1100" dirty="0"/>
          </a:p>
        </p:txBody>
      </p:sp>
      <p:sp>
        <p:nvSpPr>
          <p:cNvPr id="34" name="Text 30"/>
          <p:cNvSpPr txBox="1"/>
          <p:nvPr/>
        </p:nvSpPr>
        <p:spPr>
          <a:xfrm>
            <a:off x="4539386" y="3886200"/>
            <a:ext cx="3112922" cy="1874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jam sejak run hijau terakhir · task gagal 7 hari</a:t>
            </a:r>
            <a:endParaRPr lang="en-US" sz="1250" dirty="0"/>
          </a:p>
          <a:p>
            <a:pPr marL="177800" indent="-177800">
              <a:spcAft>
                <a:spcPts val="500"/>
              </a:spcAft>
              <a:buSzPct val="100000"/>
              <a:buChar char="•"/>
            </a:pPr>
            <a:r>
              <a:rPr lang="en-US" sz="1250" dirty="0">
                <a:solidFill>
                  <a:schemeClr val="tx1"/>
                </a:solidFill>
              </a:rPr>
              <a:t>lagu menunggu kuota · alert email 7 hari</a:t>
            </a:r>
            <a:endParaRPr lang="en-US" sz="1250" dirty="0"/>
          </a:p>
          <a:p>
            <a:pPr marL="177800" indent="-177800">
              <a:spcAft>
                <a:spcPts val="500"/>
              </a:spcAft>
              <a:buSzPct val="100000"/>
              <a:buChar char="•"/>
            </a:pPr>
            <a:r>
              <a:rPr lang="en-US" sz="1250" dirty="0">
                <a:solidFill>
                  <a:schemeClr val="tx1"/>
                </a:solidFill>
              </a:rPr>
              <a:t>kuota YouTube per hari · perubahan SCD2</a:t>
            </a:r>
            <a:endParaRPr lang="en-US" sz="1250" dirty="0"/>
          </a:p>
          <a:p>
            <a:pPr marL="177800" indent="-177800">
              <a:spcAft>
                <a:spcPts val="500"/>
              </a:spcAft>
              <a:buSzPct val="100000"/>
              <a:buChar char="•"/>
            </a:pPr>
            <a:r>
              <a:rPr lang="en-US" sz="1250" dirty="0">
                <a:solidFill>
                  <a:schemeClr val="tx1"/>
                </a:solidFill>
              </a:rPr>
              <a:t>hasil cek DQ terbaru · log alert email</a:t>
            </a:r>
            <a:endParaRPr lang="en-US" sz="1250" dirty="0"/>
          </a:p>
          <a:p>
            <a:pPr marL="177800" indent="-177800">
              <a:spcAft>
                <a:spcPts val="500"/>
              </a:spcAft>
              <a:buSzPct val="100000"/>
              <a:buChar char="•"/>
            </a:pPr>
            <a:r>
              <a:rPr lang="en-US" sz="1250" dirty="0">
                <a:solidFill>
                  <a:schemeClr val="tx1"/>
                </a:solidFill>
              </a:rPr>
              <a:t>riwayat setiap task run</a:t>
            </a:r>
            <a:endParaRPr lang="en-US" sz="1250" dirty="0"/>
          </a:p>
        </p:txBody>
      </p:sp>
      <p:sp>
        <p:nvSpPr>
          <p:cNvPr id="35" name="dashboard card"/>
          <p:cNvSpPr/>
          <p:nvPr/>
        </p:nvSpPr>
        <p:spPr>
          <a:xfrm>
            <a:off x="8127797" y="2743200"/>
            <a:ext cx="3515258" cy="3108960"/>
          </a:xfrm>
          <a:prstGeom prst="roundRect">
            <a:avLst>
              <a:gd name="adj" fmla="val 2353"/>
            </a:avLst>
          </a:prstGeom>
          <a:solidFill>
            <a:schemeClr val="bg2"/>
          </a:solidFill>
          <a:ln/>
        </p:spPr>
      </p:sp>
      <p:sp>
        <p:nvSpPr>
          <p:cNvPr id="36" name="icon circle"/>
          <p:cNvSpPr/>
          <p:nvPr/>
        </p:nvSpPr>
        <p:spPr>
          <a:xfrm>
            <a:off x="8328965" y="2944368"/>
            <a:ext cx="420624" cy="420624"/>
          </a:xfrm>
          <a:prstGeom prst="ellipse">
            <a:avLst/>
          </a:prstGeom>
          <a:solidFill>
            <a:schemeClr val="accent1"/>
          </a:solidFill>
          <a:ln/>
        </p:spPr>
      </p:sp>
      <p:pic>
        <p:nvPicPr>
          <p:cNvPr id="37" name="icon" descr="preencoded.png">    </p:cNvPr>
          <p:cNvPicPr>
            <a:picLocks noChangeAspect="1"/>
          </p:cNvPicPr>
          <p:nvPr/>
        </p:nvPicPr>
        <p:blipFill>
          <a:blip r:embed="rId3"/>
          <a:stretch>
            <a:fillRect/>
          </a:stretch>
        </p:blipFill>
        <p:spPr>
          <a:xfrm>
            <a:off x="8429915" y="3045318"/>
            <a:ext cx="218724" cy="218724"/>
          </a:xfrm>
          <a:prstGeom prst="rect">
            <a:avLst/>
          </a:prstGeom>
        </p:spPr>
      </p:pic>
      <p:sp>
        <p:nvSpPr>
          <p:cNvPr id="38" name="Text 33"/>
          <p:cNvSpPr txBox="1"/>
          <p:nvPr/>
        </p:nvSpPr>
        <p:spPr>
          <a:xfrm>
            <a:off x="8877605" y="2907792"/>
            <a:ext cx="2600858" cy="502920"/>
          </a:xfrm>
          <a:prstGeom prst="rect">
            <a:avLst/>
          </a:prstGeom>
          <a:noFill/>
          <a:ln/>
        </p:spPr>
        <p:txBody>
          <a:bodyPr wrap="square" lIns="0" tIns="0" rIns="0" bIns="0" rtlCol="0" anchor="ctr"/>
          <a:lstStyle/>
          <a:p>
            <a:pPr indent="0" marL="0">
              <a:buNone/>
            </a:pPr>
            <a:r>
              <a:rPr lang="en-US" sz="1400" b="1" dirty="0">
                <a:solidFill>
                  <a:schemeClr val="tx1"/>
                </a:solidFill>
              </a:rPr>
              <a:t>Data Quarantine</a:t>
            </a:r>
            <a:endParaRPr lang="en-US" sz="1400" dirty="0"/>
          </a:p>
        </p:txBody>
      </p:sp>
      <p:sp>
        <p:nvSpPr>
          <p:cNvPr id="39" name="chip"/>
          <p:cNvSpPr/>
          <p:nvPr/>
        </p:nvSpPr>
        <p:spPr>
          <a:xfrm>
            <a:off x="8877605" y="3438144"/>
            <a:ext cx="914400" cy="274320"/>
          </a:xfrm>
          <a:prstGeom prst="roundRect">
            <a:avLst>
              <a:gd name="adj" fmla="val 50000"/>
            </a:avLst>
          </a:prstGeom>
          <a:solidFill>
            <a:srgbClr val="1B1B1F"/>
          </a:solidFill>
          <a:ln/>
        </p:spPr>
      </p:sp>
      <p:sp>
        <p:nvSpPr>
          <p:cNvPr id="40" name="Text 35"/>
          <p:cNvSpPr txBox="1"/>
          <p:nvPr/>
        </p:nvSpPr>
        <p:spPr>
          <a:xfrm>
            <a:off x="8877605" y="3438144"/>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8 chart</a:t>
            </a:r>
            <a:endParaRPr lang="en-US" sz="1100" dirty="0"/>
          </a:p>
        </p:txBody>
      </p:sp>
      <p:sp>
        <p:nvSpPr>
          <p:cNvPr id="41" name="Text 36"/>
          <p:cNvSpPr txBox="1"/>
          <p:nvPr/>
        </p:nvSpPr>
        <p:spPr>
          <a:xfrm>
            <a:off x="8328965" y="3886200"/>
            <a:ext cx="3112922" cy="1874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karantina run terakhir · 30 hari terakhir</a:t>
            </a:r>
            <a:endParaRPr lang="en-US" sz="1250" dirty="0"/>
          </a:p>
          <a:p>
            <a:pPr marL="177800" indent="-177800">
              <a:spcAft>
                <a:spcPts val="500"/>
              </a:spcAft>
              <a:buSzPct val="100000"/>
              <a:buChar char="•"/>
            </a:pPr>
            <a:r>
              <a:rPr lang="en-US" sz="1250" dirty="0">
                <a:solidFill>
                  <a:schemeClr val="tx1"/>
                </a:solidFill>
              </a:rPr>
              <a:t>record unik · run yang mengkarantina</a:t>
            </a:r>
            <a:endParaRPr lang="en-US" sz="1250" dirty="0"/>
          </a:p>
          <a:p>
            <a:pPr marL="177800" indent="-177800">
              <a:spcAft>
                <a:spcPts val="500"/>
              </a:spcAft>
              <a:buSzPct val="100000"/>
              <a:buChar char="•"/>
            </a:pPr>
            <a:r>
              <a:rPr lang="en-US" sz="1250" dirty="0">
                <a:solidFill>
                  <a:schemeClr val="tx1"/>
                </a:solidFill>
              </a:rPr>
              <a:t>per alasan · per sumber · per hari</a:t>
            </a:r>
            <a:endParaRPr lang="en-US" sz="1250" dirty="0"/>
          </a:p>
          <a:p>
            <a:pPr marL="177800" indent="-177800">
              <a:spcAft>
                <a:spcPts val="500"/>
              </a:spcAft>
              <a:buSzPct val="100000"/>
              <a:buChar char="•"/>
            </a:pPr>
            <a:r>
              <a:rPr lang="en-US" sz="1250" dirty="0">
                <a:solidFill>
                  <a:schemeClr val="tx1"/>
                </a:solidFill>
              </a:rPr>
              <a:t>tabel record lengkap dengan JSON aslinya</a:t>
            </a:r>
            <a:endParaRPr lang="en-US" sz="1250" dirty="0"/>
          </a:p>
        </p:txBody>
      </p:sp>
      <p:sp>
        <p:nvSpPr>
          <p:cNvPr id="42" name="Text 37"/>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100" i="1" dirty="0">
                <a:solidFill>
                  <a:schemeClr val="accent2"/>
                </a:solidFill>
              </a:rPr>
              <a:t>Semua objek dicari berdasarkan nama lalu di-update — re-run aman tanpa duplikat. Task publish_dashboards retry 3× (jeda 1 menit) bila Superset belum siap.</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4 · INSIGHT DASHBOARD · SONG CATALOG</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Q2 · ISRC per lagu di Spotify: 773 rekaman untuk 139 lagu</a:t>
            </a:r>
            <a:endParaRPr lang="en-US" sz="3000" dirty="0"/>
          </a:p>
        </p:txBody>
      </p:sp>
      <p:graphicFrame>
        <p:nvGraphicFramePr>
          <p:cNvPr id="4" name="Chart 0" descr=""/>
          <p:cNvGraphicFramePr/>
          <p:nvPr/>
        </p:nvGraphicFramePr>
        <p:xfrm>
          <a:off x="548640" y="1417320"/>
          <a:ext cx="338328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114800" y="1417320"/>
          <a:ext cx="3429000" cy="27432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7772400" y="1417320"/>
            <a:ext cx="38404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TOP LAGU PER JUMLAH ISRC</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0" y="1709928"/>
          <a:ext cx="3870655" cy="914400"/>
        </p:xfrm>
        <a:graphic>
          <a:graphicData uri="http://schemas.openxmlformats.org/drawingml/2006/table">
            <a:tbl>
              <a:tblPr/>
              <a:tblGrid>
                <a:gridCol w="1691640"/>
                <a:gridCol w="1078992"/>
                <a:gridCol w="548640"/>
                <a:gridCol w="551383"/>
              </a:tblGrid>
              <a:tr h="301752">
                <a:tc>
                  <a:txBody>
                    <a:bodyPr/>
                    <a:lstStyle/>
                    <a:p>
                      <a:pPr indent="0" marL="0">
                        <a:buNone/>
                      </a:pPr>
                      <a:r>
                        <a:rPr lang="en-US" sz="1100" b="1" dirty="0">
                          <a:solidFill>
                            <a:srgbClr val="FFFFFF"/>
                          </a:solidFill>
                        </a:rPr>
                        <a:t>Lagu</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Artis katalog</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ISRC</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Orig.</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301752">
                <a:tc>
                  <a:txBody>
                    <a:bodyPr/>
                    <a:lstStyle/>
                    <a:p>
                      <a:pPr indent="0" marL="0">
                        <a:buNone/>
                      </a:pPr>
                      <a:r>
                        <a:rPr lang="en-US" sz="1100" dirty="0">
                          <a:solidFill>
                            <a:srgbClr val="1B1B1F"/>
                          </a:solidFill>
                        </a:rPr>
                        <a:t>BAHASA CINTA</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i="1" dirty="0">
                          <a:solidFill>
                            <a:srgbClr val="6B7280"/>
                          </a:solidFill>
                        </a:rPr>
                        <a:t>(kosong)</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1B1F"/>
                          </a:solidFill>
                        </a:rPr>
                        <a:t>28</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B1B1F"/>
                          </a:solidFill>
                        </a:rPr>
                        <a:t>BRIGHT AS THE SUN</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i="1" dirty="0">
                          <a:solidFill>
                            <a:srgbClr val="6B7280"/>
                          </a:solidFill>
                        </a:rPr>
                        <a:t>(kosong)</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b="1" dirty="0">
                          <a:solidFill>
                            <a:srgbClr val="1B1B1F"/>
                          </a:solidFill>
                        </a:rPr>
                        <a:t>26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01752">
                <a:tc>
                  <a:txBody>
                    <a:bodyPr/>
                    <a:lstStyle/>
                    <a:p>
                      <a:pPr indent="0" marL="0">
                        <a:buNone/>
                      </a:pPr>
                      <a:r>
                        <a:rPr lang="en-US" sz="1100" dirty="0">
                          <a:solidFill>
                            <a:srgbClr val="1B1B1F"/>
                          </a:solidFill>
                        </a:rPr>
                        <a:t>NINA BOBO</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i="1" dirty="0">
                          <a:solidFill>
                            <a:srgbClr val="6B7280"/>
                          </a:solidFill>
                        </a:rPr>
                        <a:t>(kosong)</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1B1F"/>
                          </a:solidFill>
                        </a:rPr>
                        <a:t>24</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B1B1F"/>
                          </a:solidFill>
                        </a:rPr>
                        <a:t>KENANGAN TERINDAH</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dirty="0">
                          <a:solidFill>
                            <a:srgbClr val="1B1B1F"/>
                          </a:solidFill>
                        </a:rPr>
                        <a:t>SAMSONS</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b="1" dirty="0">
                          <a:solidFill>
                            <a:srgbClr val="1B1B1F"/>
                          </a:solidFill>
                        </a:rPr>
                        <a:t>23</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01752">
                <a:tc>
                  <a:txBody>
                    <a:bodyPr/>
                    <a:lstStyle/>
                    <a:p>
                      <a:pPr indent="0" marL="0">
                        <a:buNone/>
                      </a:pPr>
                      <a:r>
                        <a:rPr lang="en-US" sz="1100" dirty="0">
                          <a:solidFill>
                            <a:srgbClr val="1B1B1F"/>
                          </a:solidFill>
                        </a:rPr>
                        <a:t>TANPA HADIRMU</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i="1" dirty="0">
                          <a:solidFill>
                            <a:srgbClr val="6B7280"/>
                          </a:solidFill>
                        </a:rPr>
                        <a:t>(kosong)</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1B1F"/>
                          </a:solidFill>
                        </a:rPr>
                        <a:t>23</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B1B1F"/>
                          </a:solidFill>
                        </a:rPr>
                        <a:t>GENERASIKU</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i="1" dirty="0">
                          <a:solidFill>
                            <a:srgbClr val="6B7280"/>
                          </a:solidFill>
                        </a:rPr>
                        <a:t>(kosong)</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b="1" dirty="0">
                          <a:solidFill>
                            <a:srgbClr val="1B1B1F"/>
                          </a:solidFill>
                        </a:rPr>
                        <a:t>21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01752">
                <a:tc>
                  <a:txBody>
                    <a:bodyPr/>
                    <a:lstStyle/>
                    <a:p>
                      <a:pPr indent="0" marL="0">
                        <a:buNone/>
                      </a:pPr>
                      <a:r>
                        <a:rPr lang="en-US" sz="1100" dirty="0">
                          <a:solidFill>
                            <a:srgbClr val="1B1B1F"/>
                          </a:solidFill>
                        </a:rPr>
                        <a:t>MENGENANGMU</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i="1" dirty="0">
                          <a:solidFill>
                            <a:srgbClr val="6B7280"/>
                          </a:solidFill>
                        </a:rPr>
                        <a:t>(kosong)</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1B1F"/>
                          </a:solidFill>
                        </a:rPr>
                        <a:t>20</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insight card"/>
          <p:cNvSpPr/>
          <p:nvPr/>
        </p:nvSpPr>
        <p:spPr>
          <a:xfrm>
            <a:off x="548640" y="4389120"/>
            <a:ext cx="3515258" cy="1874520"/>
          </a:xfrm>
          <a:prstGeom prst="roundRect">
            <a:avLst>
              <a:gd name="adj" fmla="val 3902"/>
            </a:avLst>
          </a:prstGeom>
          <a:solidFill>
            <a:schemeClr val="bg2"/>
          </a:solidFill>
          <a:ln/>
        </p:spPr>
      </p:sp>
      <p:sp>
        <p:nvSpPr>
          <p:cNvPr id="9" name="Text 4"/>
          <p:cNvSpPr txBox="1"/>
          <p:nvPr/>
        </p:nvSpPr>
        <p:spPr>
          <a:xfrm>
            <a:off x="749808" y="4535424"/>
            <a:ext cx="3112922"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71,6%</a:t>
            </a:r>
            <a:endParaRPr lang="en-US" sz="2800" dirty="0"/>
          </a:p>
        </p:txBody>
      </p:sp>
      <p:sp>
        <p:nvSpPr>
          <p:cNvPr id="10" name="Text 5"/>
          <p:cNvSpPr txBox="1"/>
          <p:nvPr/>
        </p:nvSpPr>
        <p:spPr>
          <a:xfrm>
            <a:off x="749808" y="5120640"/>
            <a:ext cx="3112922" cy="1051560"/>
          </a:xfrm>
          <a:prstGeom prst="rect">
            <a:avLst/>
          </a:prstGeom>
          <a:noFill/>
          <a:ln/>
        </p:spPr>
        <p:txBody>
          <a:bodyPr wrap="square" lIns="0" tIns="0" rIns="0" bIns="0" rtlCol="0" anchor="t"/>
          <a:lstStyle/>
          <a:p>
            <a:pPr indent="0" marL="0">
              <a:buNone/>
            </a:pPr>
            <a:r>
              <a:rPr lang="en-US" sz="1250" dirty="0">
                <a:solidFill>
                  <a:schemeClr val="tx1"/>
                </a:solidFill>
              </a:rPr>
              <a:t>lagu yang sudah dicari punya ≥ 1 ISRC (139 dari 194); 55 lagu belum punya rekaman yang lolos aturan matching (status no_match).</a:t>
            </a:r>
            <a:endParaRPr lang="en-US" sz="1250" dirty="0"/>
          </a:p>
        </p:txBody>
      </p:sp>
      <p:sp>
        <p:nvSpPr>
          <p:cNvPr id="11" name="insight card"/>
          <p:cNvSpPr/>
          <p:nvPr/>
        </p:nvSpPr>
        <p:spPr>
          <a:xfrm>
            <a:off x="4338218" y="4389120"/>
            <a:ext cx="3515258" cy="1874520"/>
          </a:xfrm>
          <a:prstGeom prst="roundRect">
            <a:avLst>
              <a:gd name="adj" fmla="val 3902"/>
            </a:avLst>
          </a:prstGeom>
          <a:solidFill>
            <a:schemeClr val="bg2"/>
          </a:solidFill>
          <a:ln/>
        </p:spPr>
      </p:sp>
      <p:sp>
        <p:nvSpPr>
          <p:cNvPr id="12" name="Text 7"/>
          <p:cNvSpPr txBox="1"/>
          <p:nvPr/>
        </p:nvSpPr>
        <p:spPr>
          <a:xfrm>
            <a:off x="4539386" y="4535424"/>
            <a:ext cx="3112922"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234 vs 63</a:t>
            </a:r>
            <a:endParaRPr lang="en-US" sz="2800" dirty="0"/>
          </a:p>
        </p:txBody>
      </p:sp>
      <p:sp>
        <p:nvSpPr>
          <p:cNvPr id="13" name="Text 8"/>
          <p:cNvSpPr txBox="1"/>
          <p:nvPr/>
        </p:nvSpPr>
        <p:spPr>
          <a:xfrm>
            <a:off x="4539386" y="5120640"/>
            <a:ext cx="3112922" cy="1051560"/>
          </a:xfrm>
          <a:prstGeom prst="rect">
            <a:avLst/>
          </a:prstGeom>
          <a:noFill/>
          <a:ln/>
        </p:spPr>
        <p:txBody>
          <a:bodyPr wrap="square" lIns="0" tIns="0" rIns="0" bIns="0" rtlCol="0" anchor="t"/>
          <a:lstStyle/>
          <a:p>
            <a:pPr indent="0" marL="0">
              <a:buNone/>
            </a:pPr>
            <a:r>
              <a:rPr lang="en-US" sz="1250" dirty="0">
                <a:solidFill>
                  <a:schemeClr val="tx1"/>
                </a:solidFill>
              </a:rPr>
              <a:t>tautan cover vs original pada lagu yang artisnya diketahui. Contoh KENANGAN TERINDAH (SAMSONS): 1 rekaman original + 22 rekaman artis lain.</a:t>
            </a:r>
            <a:endParaRPr lang="en-US" sz="1250" dirty="0"/>
          </a:p>
        </p:txBody>
      </p:sp>
      <p:sp>
        <p:nvSpPr>
          <p:cNvPr id="14" name="insight card"/>
          <p:cNvSpPr/>
          <p:nvPr/>
        </p:nvSpPr>
        <p:spPr>
          <a:xfrm>
            <a:off x="8127797" y="4389120"/>
            <a:ext cx="3515258" cy="1874520"/>
          </a:xfrm>
          <a:prstGeom prst="roundRect">
            <a:avLst>
              <a:gd name="adj" fmla="val 3902"/>
            </a:avLst>
          </a:prstGeom>
          <a:solidFill>
            <a:schemeClr val="bg2"/>
          </a:solidFill>
          <a:ln/>
        </p:spPr>
      </p:sp>
      <p:sp>
        <p:nvSpPr>
          <p:cNvPr id="15" name="Text 10"/>
          <p:cNvSpPr txBox="1"/>
          <p:nvPr/>
        </p:nvSpPr>
        <p:spPr>
          <a:xfrm>
            <a:off x="8328965" y="4535424"/>
            <a:ext cx="3112922"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61,6%</a:t>
            </a:r>
            <a:endParaRPr lang="en-US" sz="2800" dirty="0"/>
          </a:p>
        </p:txBody>
      </p:sp>
      <p:sp>
        <p:nvSpPr>
          <p:cNvPr id="16" name="Text 11"/>
          <p:cNvSpPr txBox="1"/>
          <p:nvPr/>
        </p:nvSpPr>
        <p:spPr>
          <a:xfrm>
            <a:off x="8328965" y="5120640"/>
            <a:ext cx="3112922" cy="1051560"/>
          </a:xfrm>
          <a:prstGeom prst="rect">
            <a:avLst/>
          </a:prstGeom>
          <a:noFill/>
          <a:ln/>
        </p:spPr>
        <p:txBody>
          <a:bodyPr wrap="square" lIns="0" tIns="0" rIns="0" bIns="0" rtlCol="0" anchor="t"/>
          <a:lstStyle/>
          <a:p>
            <a:pPr indent="0" marL="0">
              <a:buNone/>
            </a:pPr>
            <a:r>
              <a:rPr lang="en-US" sz="1250" dirty="0">
                <a:solidFill>
                  <a:schemeClr val="tx1"/>
                </a:solidFill>
              </a:rPr>
              <a:t>tautan ISRC berasal dari 342 lagu tanpa ORIGINAL ARTIST (48,9% katalog) yang dicocokkan dari judul saja → melengkapi kolom artis menaikkan presisi.</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4 · INSIGHT DASHBOARD · SONG CATALOG</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Q1 · Video per lagu di YouTube: 1.267 video untuk 80 lagu</a:t>
            </a:r>
            <a:endParaRPr lang="en-US" sz="3000" dirty="0"/>
          </a:p>
        </p:txBody>
      </p:sp>
      <p:graphicFrame>
        <p:nvGraphicFramePr>
          <p:cNvPr id="4" name="Chart 0" descr=""/>
          <p:cNvGraphicFramePr/>
          <p:nvPr/>
        </p:nvGraphicFramePr>
        <p:xfrm>
          <a:off x="548640" y="1417320"/>
          <a:ext cx="338328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114800" y="1417320"/>
          <a:ext cx="3429000" cy="27432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7772400" y="1417320"/>
            <a:ext cx="38404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TOP LAGU PER JUMLAH VIDEO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0" y="1709928"/>
          <a:ext cx="3870655" cy="914400"/>
        </p:xfrm>
        <a:graphic>
          <a:graphicData uri="http://schemas.openxmlformats.org/drawingml/2006/table">
            <a:tbl>
              <a:tblPr/>
              <a:tblGrid>
                <a:gridCol w="1463040"/>
                <a:gridCol w="548640"/>
                <a:gridCol w="548640"/>
                <a:gridCol w="548640"/>
                <a:gridCol w="761695"/>
              </a:tblGrid>
              <a:tr h="301752">
                <a:tc>
                  <a:txBody>
                    <a:bodyPr/>
                    <a:lstStyle/>
                    <a:p>
                      <a:pPr indent="0" marL="0">
                        <a:buNone/>
                      </a:pPr>
                      <a:r>
                        <a:rPr lang="en-US" sz="1100" b="1" dirty="0">
                          <a:solidFill>
                            <a:srgbClr val="FFFFFF"/>
                          </a:solidFill>
                        </a:rPr>
                        <a:t>Lagu</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Video</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Resmi</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Cover</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Views</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301752">
                <a:tc>
                  <a:txBody>
                    <a:bodyPr/>
                    <a:lstStyle/>
                    <a:p>
                      <a:pPr indent="0" marL="0">
                        <a:buNone/>
                      </a:pPr>
                      <a:r>
                        <a:rPr lang="en-US" sz="1100" dirty="0">
                          <a:solidFill>
                            <a:srgbClr val="1B1B1F"/>
                          </a:solidFill>
                        </a:rPr>
                        <a:t>MENGENANGMU</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1B1F"/>
                          </a:solidFill>
                        </a:rPr>
                        <a:t>50</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16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57,6 jt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B1B1F"/>
                          </a:solidFill>
                        </a:rPr>
                        <a:t>DUSTA</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b="1" dirty="0">
                          <a:solidFill>
                            <a:srgbClr val="1B1B1F"/>
                          </a:solidFill>
                        </a:rPr>
                        <a:t>50</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2</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5</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43,6 jt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01752">
                <a:tc>
                  <a:txBody>
                    <a:bodyPr/>
                    <a:lstStyle/>
                    <a:p>
                      <a:pPr indent="0" marL="0">
                        <a:buNone/>
                      </a:pPr>
                      <a:r>
                        <a:rPr lang="en-US" sz="1100" dirty="0">
                          <a:solidFill>
                            <a:srgbClr val="1B1B1F"/>
                          </a:solidFill>
                        </a:rPr>
                        <a:t>BERSAMA</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1B1F"/>
                          </a:solidFill>
                        </a:rPr>
                        <a:t>47</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3</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4</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600,1 jt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B1B1F"/>
                          </a:solidFill>
                        </a:rPr>
                        <a:t>GENERASIKU</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b="1" dirty="0">
                          <a:solidFill>
                            <a:srgbClr val="1B1B1F"/>
                          </a:solidFill>
                        </a:rPr>
                        <a:t>46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11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8,8 jt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01752">
                <a:tc>
                  <a:txBody>
                    <a:bodyPr/>
                    <a:lstStyle/>
                    <a:p>
                      <a:pPr indent="0" marL="0">
                        <a:buNone/>
                      </a:pPr>
                      <a:r>
                        <a:rPr lang="en-US" sz="1100" dirty="0">
                          <a:solidFill>
                            <a:srgbClr val="1B1B1F"/>
                          </a:solidFill>
                        </a:rPr>
                        <a:t>BRIGHT AS THE SUN</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1B1F"/>
                          </a:solidFill>
                        </a:rPr>
                        <a:t>46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10</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18,8 jt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B1B1F"/>
                          </a:solidFill>
                        </a:rPr>
                        <a:t>ASMALIBRASI</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b="1" dirty="0">
                          <a:solidFill>
                            <a:srgbClr val="1B1B1F"/>
                          </a:solidFill>
                        </a:rPr>
                        <a:t>46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11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00" dirty="0">
                          <a:solidFill>
                            <a:srgbClr val="1B1B1F"/>
                          </a:solidFill>
                        </a:rPr>
                        <a:t>133,0 jt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01752">
                <a:tc>
                  <a:txBody>
                    <a:bodyPr/>
                    <a:lstStyle/>
                    <a:p>
                      <a:pPr indent="0" marL="0">
                        <a:buNone/>
                      </a:pPr>
                      <a:r>
                        <a:rPr lang="en-US" sz="1100" dirty="0">
                          <a:solidFill>
                            <a:srgbClr val="1B1B1F"/>
                          </a:solidFill>
                        </a:rPr>
                        <a:t>SPASI</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1B1F"/>
                          </a:solidFill>
                        </a:rPr>
                        <a:t>46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7</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1B1F"/>
                          </a:solidFill>
                        </a:rPr>
                        <a:t>25,9 jt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insight card"/>
          <p:cNvSpPr/>
          <p:nvPr/>
        </p:nvSpPr>
        <p:spPr>
          <a:xfrm>
            <a:off x="548640" y="4389120"/>
            <a:ext cx="3515258" cy="1874520"/>
          </a:xfrm>
          <a:prstGeom prst="roundRect">
            <a:avLst>
              <a:gd name="adj" fmla="val 3902"/>
            </a:avLst>
          </a:prstGeom>
          <a:solidFill>
            <a:schemeClr val="bg2"/>
          </a:solidFill>
          <a:ln/>
        </p:spPr>
      </p:sp>
      <p:sp>
        <p:nvSpPr>
          <p:cNvPr id="9" name="Text 4"/>
          <p:cNvSpPr txBox="1"/>
          <p:nvPr/>
        </p:nvSpPr>
        <p:spPr>
          <a:xfrm>
            <a:off x="749808" y="4535424"/>
            <a:ext cx="3112922"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89,9%</a:t>
            </a:r>
            <a:endParaRPr lang="en-US" sz="2800" dirty="0"/>
          </a:p>
        </p:txBody>
      </p:sp>
      <p:sp>
        <p:nvSpPr>
          <p:cNvPr id="10" name="Text 5"/>
          <p:cNvSpPr txBox="1"/>
          <p:nvPr/>
        </p:nvSpPr>
        <p:spPr>
          <a:xfrm>
            <a:off x="749808" y="5120640"/>
            <a:ext cx="3112922" cy="1051560"/>
          </a:xfrm>
          <a:prstGeom prst="rect">
            <a:avLst/>
          </a:prstGeom>
          <a:noFill/>
          <a:ln/>
        </p:spPr>
        <p:txBody>
          <a:bodyPr wrap="square" lIns="0" tIns="0" rIns="0" bIns="0" rtlCol="0" anchor="t"/>
          <a:lstStyle/>
          <a:p>
            <a:pPr indent="0" marL="0">
              <a:buNone/>
            </a:pPr>
            <a:r>
              <a:rPr lang="en-US" sz="1250" dirty="0">
                <a:solidFill>
                  <a:schemeClr val="tx1"/>
                </a:solidFill>
              </a:rPr>
              <a:t>lagu yang sudah dicari punya video yang lolos matching (80 dari 89); 24 lagu punya 21+ video. 610 lagu lain terisi otomatis sesuai kuota.</a:t>
            </a:r>
            <a:endParaRPr lang="en-US" sz="1250" dirty="0"/>
          </a:p>
        </p:txBody>
      </p:sp>
      <p:sp>
        <p:nvSpPr>
          <p:cNvPr id="11" name="insight card"/>
          <p:cNvSpPr/>
          <p:nvPr/>
        </p:nvSpPr>
        <p:spPr>
          <a:xfrm>
            <a:off x="4338218" y="4389120"/>
            <a:ext cx="3515258" cy="1874520"/>
          </a:xfrm>
          <a:prstGeom prst="roundRect">
            <a:avLst>
              <a:gd name="adj" fmla="val 3902"/>
            </a:avLst>
          </a:prstGeom>
          <a:solidFill>
            <a:schemeClr val="bg2"/>
          </a:solidFill>
          <a:ln/>
        </p:spPr>
      </p:sp>
      <p:sp>
        <p:nvSpPr>
          <p:cNvPr id="12" name="Text 7"/>
          <p:cNvSpPr txBox="1"/>
          <p:nvPr/>
        </p:nvSpPr>
        <p:spPr>
          <a:xfrm>
            <a:off x="4539386" y="4535424"/>
            <a:ext cx="3112922"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12,3%</a:t>
            </a:r>
            <a:endParaRPr lang="en-US" sz="2800" dirty="0"/>
          </a:p>
        </p:txBody>
      </p:sp>
      <p:sp>
        <p:nvSpPr>
          <p:cNvPr id="13" name="Text 8"/>
          <p:cNvSpPr txBox="1"/>
          <p:nvPr/>
        </p:nvSpPr>
        <p:spPr>
          <a:xfrm>
            <a:off x="4539386" y="5120640"/>
            <a:ext cx="3112922" cy="1051560"/>
          </a:xfrm>
          <a:prstGeom prst="rect">
            <a:avLst/>
          </a:prstGeom>
          <a:noFill/>
          <a:ln/>
        </p:spPr>
        <p:txBody>
          <a:bodyPr wrap="square" lIns="0" tIns="0" rIns="0" bIns="0" rtlCol="0" anchor="t"/>
          <a:lstStyle/>
          <a:p>
            <a:pPr indent="0" marL="0">
              <a:buNone/>
            </a:pPr>
            <a:r>
              <a:rPr lang="en-US" sz="1250" dirty="0">
                <a:solidFill>
                  <a:schemeClr val="tx1"/>
                </a:solidFill>
              </a:rPr>
              <a:t>video berasal dari channel resmi artis / Topic (156 dari 1.267). Sisanya dari channel lain, mis. cover 185, lirik 145, karaoke 94.</a:t>
            </a:r>
            <a:endParaRPr lang="en-US" sz="1250" dirty="0"/>
          </a:p>
        </p:txBody>
      </p:sp>
      <p:sp>
        <p:nvSpPr>
          <p:cNvPr id="14" name="insight card"/>
          <p:cNvSpPr/>
          <p:nvPr/>
        </p:nvSpPr>
        <p:spPr>
          <a:xfrm>
            <a:off x="8127797" y="4389120"/>
            <a:ext cx="3515258" cy="1874520"/>
          </a:xfrm>
          <a:prstGeom prst="roundRect">
            <a:avLst>
              <a:gd name="adj" fmla="val 3902"/>
            </a:avLst>
          </a:prstGeom>
          <a:solidFill>
            <a:schemeClr val="bg2"/>
          </a:solidFill>
          <a:ln/>
        </p:spPr>
      </p:sp>
      <p:sp>
        <p:nvSpPr>
          <p:cNvPr id="15" name="Text 10"/>
          <p:cNvSpPr txBox="1"/>
          <p:nvPr/>
        </p:nvSpPr>
        <p:spPr>
          <a:xfrm>
            <a:off x="8328965" y="4535424"/>
            <a:ext cx="3112922"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50,8%</a:t>
            </a:r>
            <a:endParaRPr lang="en-US" sz="2800" dirty="0"/>
          </a:p>
        </p:txBody>
      </p:sp>
      <p:sp>
        <p:nvSpPr>
          <p:cNvPr id="16" name="Text 11"/>
          <p:cNvSpPr txBox="1"/>
          <p:nvPr/>
        </p:nvSpPr>
        <p:spPr>
          <a:xfrm>
            <a:off x="8328965" y="5120640"/>
            <a:ext cx="3112922" cy="1051560"/>
          </a:xfrm>
          <a:prstGeom prst="rect">
            <a:avLst/>
          </a:prstGeom>
          <a:noFill/>
          <a:ln/>
        </p:spPr>
        <p:txBody>
          <a:bodyPr wrap="square" lIns="0" tIns="0" rIns="0" bIns="0" rtlCol="0" anchor="t"/>
          <a:lstStyle/>
          <a:p>
            <a:pPr indent="0" marL="0">
              <a:buNone/>
            </a:pPr>
            <a:r>
              <a:rPr lang="en-US" sz="1250" dirty="0">
                <a:solidFill>
                  <a:schemeClr val="tx1"/>
                </a:solidFill>
              </a:rPr>
              <a:t>video berstatus licensedContent (644) — sudah diklaim pemilik konten. Sisanya kandidat untuk ditinjau tim publishing (Content ID).</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4 · INSIGHT DASHBOARD · PIPELINE HEALTH &amp; DATA QUARANTINE</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Operasional: run hijau, kuota terpakai optimal, nol data cacat</a:t>
            </a:r>
            <a:endParaRPr lang="en-US" sz="3000" dirty="0"/>
          </a:p>
        </p:txBody>
      </p:sp>
      <p:sp>
        <p:nvSpPr>
          <p:cNvPr id="4" name="Text 2"/>
          <p:cNvSpPr txBox="1"/>
          <p:nvPr/>
        </p:nvSpPr>
        <p:spPr>
          <a:xfrm>
            <a:off x="548640" y="1417320"/>
            <a:ext cx="553212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SUPERSET · PIPELINE HEALTH</a:t>
            </a:r>
            <a:endParaRPr lang="en-US" sz="1100" dirty="0"/>
          </a:p>
        </p:txBody>
      </p:sp>
      <p:sp>
        <p:nvSpPr>
          <p:cNvPr id="5" name="image frame"/>
          <p:cNvSpPr/>
          <p:nvPr/>
        </p:nvSpPr>
        <p:spPr>
          <a:xfrm>
            <a:off x="521208" y="1682496"/>
            <a:ext cx="5586984" cy="2701061"/>
          </a:xfrm>
          <a:prstGeom prst="rect">
            <a:avLst/>
          </a:prstGeom>
          <a:solidFill>
            <a:srgbClr val="FFFFFF"/>
          </a:solidFill>
          <a:ln w="9525">
            <a:solidFill>
              <a:srgbClr val="D1D5DB"/>
            </a:solidFill>
            <a:prstDash val="solid"/>
          </a:ln>
        </p:spPr>
      </p:sp>
      <p:pic>
        <p:nvPicPr>
          <p:cNvPr id="6" name="pipeline_health.png" descr="C:\Users\CODE.ID\AppData\Local\Temp\claude\c--pribadi-technical-test-massive-music-massive-music-elt\52e738a4-6aae-4658-ba81-31638200b1b2\scratchpad\deck\crops\pipeline_health.png">    </p:cNvPr>
          <p:cNvPicPr>
            <a:picLocks noChangeAspect="1"/>
          </p:cNvPicPr>
          <p:nvPr/>
        </p:nvPicPr>
        <p:blipFill>
          <a:blip r:embed="rId1"/>
          <a:stretch>
            <a:fillRect/>
          </a:stretch>
        </p:blipFill>
        <p:spPr>
          <a:xfrm>
            <a:off x="548640" y="1709928"/>
            <a:ext cx="5532120" cy="2646197"/>
          </a:xfrm>
          <a:prstGeom prst="rect">
            <a:avLst/>
          </a:prstGeom>
        </p:spPr>
      </p:pic>
      <p:sp>
        <p:nvSpPr>
          <p:cNvPr id="7" name="Text 4"/>
          <p:cNvSpPr txBox="1"/>
          <p:nvPr/>
        </p:nvSpPr>
        <p:spPr>
          <a:xfrm>
            <a:off x="548640" y="4572000"/>
            <a:ext cx="553212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SUPERSET · DATA QUARANTINE</a:t>
            </a:r>
            <a:endParaRPr lang="en-US" sz="1100" dirty="0"/>
          </a:p>
        </p:txBody>
      </p:sp>
      <p:sp>
        <p:nvSpPr>
          <p:cNvPr id="8" name="image frame"/>
          <p:cNvSpPr/>
          <p:nvPr/>
        </p:nvSpPr>
        <p:spPr>
          <a:xfrm>
            <a:off x="521208" y="4837176"/>
            <a:ext cx="5586984" cy="1018375"/>
          </a:xfrm>
          <a:prstGeom prst="rect">
            <a:avLst/>
          </a:prstGeom>
          <a:solidFill>
            <a:srgbClr val="FFFFFF"/>
          </a:solidFill>
          <a:ln w="9525">
            <a:solidFill>
              <a:srgbClr val="D1D5DB"/>
            </a:solidFill>
            <a:prstDash val="solid"/>
          </a:ln>
        </p:spPr>
      </p:sp>
      <p:pic>
        <p:nvPicPr>
          <p:cNvPr id="9" name="quarantine_top.png" descr="C:\Users\CODE.ID\AppData\Local\Temp\claude\c--pribadi-technical-test-massive-music-massive-music-elt\52e738a4-6aae-4658-ba81-31638200b1b2\scratchpad\deck\crops\quarantine_top.png">    </p:cNvPr>
          <p:cNvPicPr>
            <a:picLocks noChangeAspect="1"/>
          </p:cNvPicPr>
          <p:nvPr/>
        </p:nvPicPr>
        <p:blipFill>
          <a:blip r:embed="rId2"/>
          <a:stretch>
            <a:fillRect/>
          </a:stretch>
        </p:blipFill>
        <p:spPr>
          <a:xfrm>
            <a:off x="548640" y="4864608"/>
            <a:ext cx="5532120" cy="963511"/>
          </a:xfrm>
          <a:prstGeom prst="rect">
            <a:avLst/>
          </a:prstGeom>
        </p:spPr>
      </p:pic>
      <p:sp>
        <p:nvSpPr>
          <p:cNvPr id="10" name="Text 6"/>
          <p:cNvSpPr txBox="1"/>
          <p:nvPr/>
        </p:nvSpPr>
        <p:spPr>
          <a:xfrm>
            <a:off x="548640" y="5989320"/>
            <a:ext cx="5532120" cy="274320"/>
          </a:xfrm>
          <a:prstGeom prst="rect">
            <a:avLst/>
          </a:prstGeom>
          <a:noFill/>
          <a:ln/>
        </p:spPr>
        <p:txBody>
          <a:bodyPr wrap="square" lIns="0" tIns="0" rIns="0" bIns="0" rtlCol="0" anchor="t"/>
          <a:lstStyle/>
          <a:p>
            <a:pPr indent="0" marL="0">
              <a:buNone/>
            </a:pPr>
            <a:r>
              <a:rPr lang="en-US" sz="1100" i="1" dirty="0">
                <a:solidFill>
                  <a:schemeClr val="accent2"/>
                </a:solidFill>
              </a:rPr>
              <a:t>Screenshot dashboard setelah run 15 Okt 2026.</a:t>
            </a:r>
            <a:endParaRPr lang="en-US" sz="1100" dirty="0"/>
          </a:p>
        </p:txBody>
      </p:sp>
      <p:sp>
        <p:nvSpPr>
          <p:cNvPr id="11" name="icon circle"/>
          <p:cNvSpPr/>
          <p:nvPr/>
        </p:nvSpPr>
        <p:spPr>
          <a:xfrm>
            <a:off x="6400800" y="1453896"/>
            <a:ext cx="384048" cy="384048"/>
          </a:xfrm>
          <a:prstGeom prst="ellipse">
            <a:avLst/>
          </a:prstGeom>
          <a:solidFill>
            <a:schemeClr val="accent1"/>
          </a:solidFill>
          <a:ln/>
        </p:spPr>
      </p:sp>
      <p:pic>
        <p:nvPicPr>
          <p:cNvPr id="12" name="icon" descr="preencoded.png">    </p:cNvPr>
          <p:cNvPicPr>
            <a:picLocks noChangeAspect="1"/>
          </p:cNvPicPr>
          <p:nvPr/>
        </p:nvPicPr>
        <p:blipFill>
          <a:blip r:embed="rId3"/>
          <a:stretch>
            <a:fillRect/>
          </a:stretch>
        </p:blipFill>
        <p:spPr>
          <a:xfrm>
            <a:off x="6492972" y="1546068"/>
            <a:ext cx="199705" cy="199705"/>
          </a:xfrm>
          <a:prstGeom prst="rect">
            <a:avLst/>
          </a:prstGeom>
        </p:spPr>
      </p:pic>
      <p:sp>
        <p:nvSpPr>
          <p:cNvPr id="13" name="Text 8"/>
          <p:cNvSpPr txBox="1"/>
          <p:nvPr/>
        </p:nvSpPr>
        <p:spPr>
          <a:xfrm>
            <a:off x="6931152" y="1417320"/>
            <a:ext cx="4711903" cy="274320"/>
          </a:xfrm>
          <a:prstGeom prst="rect">
            <a:avLst/>
          </a:prstGeom>
          <a:noFill/>
          <a:ln/>
        </p:spPr>
        <p:txBody>
          <a:bodyPr wrap="square" lIns="0" tIns="0" rIns="0" bIns="0" rtlCol="0" anchor="t"/>
          <a:lstStyle/>
          <a:p>
            <a:pPr indent="0" marL="0">
              <a:buNone/>
            </a:pPr>
            <a:r>
              <a:rPr lang="en-US" sz="1350" b="1" dirty="0">
                <a:solidFill>
                  <a:schemeClr val="tx1"/>
                </a:solidFill>
              </a:rPr>
              <a:t>Data segar: 0 jam sejak dq_checks hijau</a:t>
            </a:r>
            <a:endParaRPr lang="en-US" sz="1350" dirty="0"/>
          </a:p>
        </p:txBody>
      </p:sp>
      <p:sp>
        <p:nvSpPr>
          <p:cNvPr id="14" name="Text 9"/>
          <p:cNvSpPr txBox="1"/>
          <p:nvPr/>
        </p:nvSpPr>
        <p:spPr>
          <a:xfrm>
            <a:off x="6931152" y="1700784"/>
            <a:ext cx="4711903" cy="457200"/>
          </a:xfrm>
          <a:prstGeom prst="rect">
            <a:avLst/>
          </a:prstGeom>
          <a:noFill/>
          <a:ln/>
        </p:spPr>
        <p:txBody>
          <a:bodyPr wrap="square" lIns="0" tIns="0" rIns="0" bIns="0" rtlCol="0" anchor="t"/>
          <a:lstStyle/>
          <a:p>
            <a:pPr indent="0" marL="0">
              <a:buNone/>
            </a:pPr>
            <a:r>
              <a:rPr lang="en-US" sz="1200" dirty="0">
                <a:solidFill>
                  <a:schemeClr val="accent2"/>
                </a:solidFill>
              </a:rPr>
              <a:t>run terakhir 15 Okt 22:17 WIB: 70 task hijau dalam 5 menit 17 detik.</a:t>
            </a:r>
            <a:endParaRPr lang="en-US" sz="1200" dirty="0"/>
          </a:p>
        </p:txBody>
      </p:sp>
      <p:sp>
        <p:nvSpPr>
          <p:cNvPr id="15" name="icon circle"/>
          <p:cNvSpPr/>
          <p:nvPr/>
        </p:nvSpPr>
        <p:spPr>
          <a:xfrm>
            <a:off x="6400800" y="2258568"/>
            <a:ext cx="384048" cy="384048"/>
          </a:xfrm>
          <a:prstGeom prst="ellipse">
            <a:avLst/>
          </a:prstGeom>
          <a:solidFill>
            <a:schemeClr val="accent1"/>
          </a:solidFill>
          <a:ln/>
        </p:spPr>
      </p:sp>
      <p:pic>
        <p:nvPicPr>
          <p:cNvPr id="16" name="icon" descr="preencoded.png">    </p:cNvPr>
          <p:cNvPicPr>
            <a:picLocks noChangeAspect="1"/>
          </p:cNvPicPr>
          <p:nvPr/>
        </p:nvPicPr>
        <p:blipFill>
          <a:blip r:embed="rId4"/>
          <a:stretch>
            <a:fillRect/>
          </a:stretch>
        </p:blipFill>
        <p:spPr>
          <a:xfrm>
            <a:off x="6492972" y="2350740"/>
            <a:ext cx="199705" cy="199705"/>
          </a:xfrm>
          <a:prstGeom prst="rect">
            <a:avLst/>
          </a:prstGeom>
        </p:spPr>
      </p:pic>
      <p:sp>
        <p:nvSpPr>
          <p:cNvPr id="17" name="Text 11"/>
          <p:cNvSpPr txBox="1"/>
          <p:nvPr/>
        </p:nvSpPr>
        <p:spPr>
          <a:xfrm>
            <a:off x="6931152" y="2221992"/>
            <a:ext cx="4711903" cy="274320"/>
          </a:xfrm>
          <a:prstGeom prst="rect">
            <a:avLst/>
          </a:prstGeom>
          <a:noFill/>
          <a:ln/>
        </p:spPr>
        <p:txBody>
          <a:bodyPr wrap="square" lIns="0" tIns="0" rIns="0" bIns="0" rtlCol="0" anchor="t"/>
          <a:lstStyle/>
          <a:p>
            <a:pPr indent="0" marL="0">
              <a:buNone/>
            </a:pPr>
            <a:r>
              <a:rPr lang="en-US" sz="1350" b="1" dirty="0">
                <a:solidFill>
                  <a:schemeClr val="tx1"/>
                </a:solidFill>
              </a:rPr>
              <a:t>Kuota YouTube 8.982 / 9.000 unit</a:t>
            </a:r>
            <a:endParaRPr lang="en-US" sz="1350" dirty="0"/>
          </a:p>
        </p:txBody>
      </p:sp>
      <p:sp>
        <p:nvSpPr>
          <p:cNvPr id="18" name="Text 12"/>
          <p:cNvSpPr txBox="1"/>
          <p:nvPr/>
        </p:nvSpPr>
        <p:spPr>
          <a:xfrm>
            <a:off x="6931152" y="2505456"/>
            <a:ext cx="4711903" cy="457200"/>
          </a:xfrm>
          <a:prstGeom prst="rect">
            <a:avLst/>
          </a:prstGeom>
          <a:noFill/>
          <a:ln/>
        </p:spPr>
        <p:txBody>
          <a:bodyPr wrap="square" lIns="0" tIns="0" rIns="0" bIns="0" rtlCol="0" anchor="t"/>
          <a:lstStyle/>
          <a:p>
            <a:pPr indent="0" marL="0">
              <a:buNone/>
            </a:pPr>
            <a:r>
              <a:rPr lang="en-US" sz="1200" dirty="0">
                <a:solidFill>
                  <a:schemeClr val="accent2"/>
                </a:solidFill>
              </a:rPr>
              <a:t>99,8% anggaran harian terpakai — maksimal, tanpa melanggar kuota.</a:t>
            </a:r>
            <a:endParaRPr lang="en-US" sz="1200" dirty="0"/>
          </a:p>
        </p:txBody>
      </p:sp>
      <p:sp>
        <p:nvSpPr>
          <p:cNvPr id="19" name="icon circle"/>
          <p:cNvSpPr/>
          <p:nvPr/>
        </p:nvSpPr>
        <p:spPr>
          <a:xfrm>
            <a:off x="6400800" y="3063240"/>
            <a:ext cx="384048" cy="384048"/>
          </a:xfrm>
          <a:prstGeom prst="ellipse">
            <a:avLst/>
          </a:prstGeom>
          <a:solidFill>
            <a:schemeClr val="accent1"/>
          </a:solidFill>
          <a:ln/>
        </p:spPr>
      </p:sp>
      <p:pic>
        <p:nvPicPr>
          <p:cNvPr id="20" name="icon" descr="preencoded.png">    </p:cNvPr>
          <p:cNvPicPr>
            <a:picLocks noChangeAspect="1"/>
          </p:cNvPicPr>
          <p:nvPr/>
        </p:nvPicPr>
        <p:blipFill>
          <a:blip r:embed="rId5"/>
          <a:stretch>
            <a:fillRect/>
          </a:stretch>
        </p:blipFill>
        <p:spPr>
          <a:xfrm>
            <a:off x="6492972" y="3155412"/>
            <a:ext cx="199705" cy="199705"/>
          </a:xfrm>
          <a:prstGeom prst="rect">
            <a:avLst/>
          </a:prstGeom>
        </p:spPr>
      </p:pic>
      <p:sp>
        <p:nvSpPr>
          <p:cNvPr id="21" name="Text 14"/>
          <p:cNvSpPr txBox="1"/>
          <p:nvPr/>
        </p:nvSpPr>
        <p:spPr>
          <a:xfrm>
            <a:off x="6931152" y="3026664"/>
            <a:ext cx="4711903" cy="274320"/>
          </a:xfrm>
          <a:prstGeom prst="rect">
            <a:avLst/>
          </a:prstGeom>
          <a:noFill/>
          <a:ln/>
        </p:spPr>
        <p:txBody>
          <a:bodyPr wrap="square" lIns="0" tIns="0" rIns="0" bIns="0" rtlCol="0" anchor="t"/>
          <a:lstStyle/>
          <a:p>
            <a:pPr indent="0" marL="0">
              <a:buNone/>
            </a:pPr>
            <a:r>
              <a:rPr lang="en-US" sz="1350" b="1" dirty="0">
                <a:solidFill>
                  <a:schemeClr val="tx1"/>
                </a:solidFill>
              </a:rPr>
              <a:t>7.525 perubahan SCD2 tercatat</a:t>
            </a:r>
            <a:endParaRPr lang="en-US" sz="1350" dirty="0"/>
          </a:p>
        </p:txBody>
      </p:sp>
      <p:sp>
        <p:nvSpPr>
          <p:cNvPr id="22" name="Text 15"/>
          <p:cNvSpPr txBox="1"/>
          <p:nvPr/>
        </p:nvSpPr>
        <p:spPr>
          <a:xfrm>
            <a:off x="6931152" y="3310128"/>
            <a:ext cx="4711903" cy="457200"/>
          </a:xfrm>
          <a:prstGeom prst="rect">
            <a:avLst/>
          </a:prstGeom>
          <a:noFill/>
          <a:ln/>
        </p:spPr>
        <p:txBody>
          <a:bodyPr wrap="square" lIns="0" tIns="0" rIns="0" bIns="0" rtlCol="0" anchor="t"/>
          <a:lstStyle/>
          <a:p>
            <a:pPr indent="0" marL="0">
              <a:buNone/>
            </a:pPr>
            <a:r>
              <a:rPr lang="en-US" sz="1200" dirty="0">
                <a:solidFill>
                  <a:schemeClr val="accent2"/>
                </a:solidFill>
              </a:rPr>
              <a:t>insert pertama: 699 lagu, 2.739 track Spotify, 4.087 video YouTube.</a:t>
            </a:r>
            <a:endParaRPr lang="en-US" sz="1200" dirty="0"/>
          </a:p>
        </p:txBody>
      </p:sp>
      <p:sp>
        <p:nvSpPr>
          <p:cNvPr id="23" name="icon circle"/>
          <p:cNvSpPr/>
          <p:nvPr/>
        </p:nvSpPr>
        <p:spPr>
          <a:xfrm>
            <a:off x="6400800" y="3867912"/>
            <a:ext cx="384048" cy="384048"/>
          </a:xfrm>
          <a:prstGeom prst="ellipse">
            <a:avLst/>
          </a:prstGeom>
          <a:solidFill>
            <a:schemeClr val="accent1"/>
          </a:solidFill>
          <a:ln/>
        </p:spPr>
      </p:sp>
      <p:pic>
        <p:nvPicPr>
          <p:cNvPr id="24" name="icon" descr="preencoded.png">    </p:cNvPr>
          <p:cNvPicPr>
            <a:picLocks noChangeAspect="1"/>
          </p:cNvPicPr>
          <p:nvPr/>
        </p:nvPicPr>
        <p:blipFill>
          <a:blip r:embed="rId6"/>
          <a:stretch>
            <a:fillRect/>
          </a:stretch>
        </p:blipFill>
        <p:spPr>
          <a:xfrm>
            <a:off x="6492972" y="3960084"/>
            <a:ext cx="199705" cy="199705"/>
          </a:xfrm>
          <a:prstGeom prst="rect">
            <a:avLst/>
          </a:prstGeom>
        </p:spPr>
      </p:pic>
      <p:sp>
        <p:nvSpPr>
          <p:cNvPr id="25" name="Text 17"/>
          <p:cNvSpPr txBox="1"/>
          <p:nvPr/>
        </p:nvSpPr>
        <p:spPr>
          <a:xfrm>
            <a:off x="6931152" y="3831336"/>
            <a:ext cx="4711903" cy="274320"/>
          </a:xfrm>
          <a:prstGeom prst="rect">
            <a:avLst/>
          </a:prstGeom>
          <a:noFill/>
          <a:ln/>
        </p:spPr>
        <p:txBody>
          <a:bodyPr wrap="square" lIns="0" tIns="0" rIns="0" bIns="0" rtlCol="0" anchor="t"/>
          <a:lstStyle/>
          <a:p>
            <a:pPr indent="0" marL="0">
              <a:buNone/>
            </a:pPr>
            <a:r>
              <a:rPr lang="en-US" sz="1350" b="1" dirty="0">
                <a:solidFill>
                  <a:schemeClr val="tx1"/>
                </a:solidFill>
              </a:rPr>
              <a:t>10/10 cek DQ lulus</a:t>
            </a:r>
            <a:endParaRPr lang="en-US" sz="1350" dirty="0"/>
          </a:p>
        </p:txBody>
      </p:sp>
      <p:sp>
        <p:nvSpPr>
          <p:cNvPr id="26" name="Text 18"/>
          <p:cNvSpPr txBox="1"/>
          <p:nvPr/>
        </p:nvSpPr>
        <p:spPr>
          <a:xfrm>
            <a:off x="6931152" y="4114800"/>
            <a:ext cx="4711903" cy="457200"/>
          </a:xfrm>
          <a:prstGeom prst="rect">
            <a:avLst/>
          </a:prstGeom>
          <a:noFill/>
          <a:ln/>
        </p:spPr>
        <p:txBody>
          <a:bodyPr wrap="square" lIns="0" tIns="0" rIns="0" bIns="0" rtlCol="0" anchor="t"/>
          <a:lstStyle/>
          <a:p>
            <a:pPr indent="0" marL="0">
              <a:buNone/>
            </a:pPr>
            <a:r>
              <a:rPr lang="en-US" sz="1200" dirty="0">
                <a:solidFill>
                  <a:schemeClr val="accent2"/>
                </a:solidFill>
              </a:rPr>
              <a:t>match rate Spotify 71,6% · YouTube 89,9% · error rate API 0%.</a:t>
            </a:r>
            <a:endParaRPr lang="en-US" sz="1200" dirty="0"/>
          </a:p>
        </p:txBody>
      </p:sp>
      <p:sp>
        <p:nvSpPr>
          <p:cNvPr id="27" name="icon circle"/>
          <p:cNvSpPr/>
          <p:nvPr/>
        </p:nvSpPr>
        <p:spPr>
          <a:xfrm>
            <a:off x="6400800" y="4672584"/>
            <a:ext cx="384048" cy="384048"/>
          </a:xfrm>
          <a:prstGeom prst="ellipse">
            <a:avLst/>
          </a:prstGeom>
          <a:solidFill>
            <a:schemeClr val="accent1"/>
          </a:solidFill>
          <a:ln/>
        </p:spPr>
      </p:sp>
      <p:pic>
        <p:nvPicPr>
          <p:cNvPr id="28" name="icon" descr="preencoded.png">    </p:cNvPr>
          <p:cNvPicPr>
            <a:picLocks noChangeAspect="1"/>
          </p:cNvPicPr>
          <p:nvPr/>
        </p:nvPicPr>
        <p:blipFill>
          <a:blip r:embed="rId7"/>
          <a:stretch>
            <a:fillRect/>
          </a:stretch>
        </p:blipFill>
        <p:spPr>
          <a:xfrm>
            <a:off x="6492972" y="4764756"/>
            <a:ext cx="199705" cy="199705"/>
          </a:xfrm>
          <a:prstGeom prst="rect">
            <a:avLst/>
          </a:prstGeom>
        </p:spPr>
      </p:pic>
      <p:sp>
        <p:nvSpPr>
          <p:cNvPr id="29" name="Text 20"/>
          <p:cNvSpPr txBox="1"/>
          <p:nvPr/>
        </p:nvSpPr>
        <p:spPr>
          <a:xfrm>
            <a:off x="6931152" y="4636008"/>
            <a:ext cx="4711903" cy="274320"/>
          </a:xfrm>
          <a:prstGeom prst="rect">
            <a:avLst/>
          </a:prstGeom>
          <a:noFill/>
          <a:ln/>
        </p:spPr>
        <p:txBody>
          <a:bodyPr wrap="square" lIns="0" tIns="0" rIns="0" bIns="0" rtlCol="0" anchor="t"/>
          <a:lstStyle/>
          <a:p>
            <a:pPr indent="0" marL="0">
              <a:buNone/>
            </a:pPr>
            <a:r>
              <a:rPr lang="en-US" sz="1350" b="1" dirty="0">
                <a:solidFill>
                  <a:schemeClr val="tx1"/>
                </a:solidFill>
              </a:rPr>
              <a:t>0 record dikarantina</a:t>
            </a:r>
            <a:endParaRPr lang="en-US" sz="1350" dirty="0"/>
          </a:p>
        </p:txBody>
      </p:sp>
      <p:sp>
        <p:nvSpPr>
          <p:cNvPr id="30" name="Text 21"/>
          <p:cNvSpPr txBox="1"/>
          <p:nvPr/>
        </p:nvSpPr>
        <p:spPr>
          <a:xfrm>
            <a:off x="6931152" y="4919472"/>
            <a:ext cx="4711903" cy="457200"/>
          </a:xfrm>
          <a:prstGeom prst="rect">
            <a:avLst/>
          </a:prstGeom>
          <a:noFill/>
          <a:ln/>
        </p:spPr>
        <p:txBody>
          <a:bodyPr wrap="square" lIns="0" tIns="0" rIns="0" bIns="0" rtlCol="0" anchor="t"/>
          <a:lstStyle/>
          <a:p>
            <a:pPr indent="0" marL="0">
              <a:buNone/>
            </a:pPr>
            <a:r>
              <a:rPr lang="en-US" sz="1200" dirty="0">
                <a:solidFill>
                  <a:schemeClr val="accent2"/>
                </a:solidFill>
              </a:rPr>
              <a:t>699 baris katalog, 2.739 track, 4.087 video lolos validasi.</a:t>
            </a:r>
            <a:endParaRPr lang="en-US" sz="1200" dirty="0"/>
          </a:p>
        </p:txBody>
      </p:sp>
      <p:sp>
        <p:nvSpPr>
          <p:cNvPr id="31" name="icon circle"/>
          <p:cNvSpPr/>
          <p:nvPr/>
        </p:nvSpPr>
        <p:spPr>
          <a:xfrm>
            <a:off x="6400800" y="5477256"/>
            <a:ext cx="384048" cy="384048"/>
          </a:xfrm>
          <a:prstGeom prst="ellipse">
            <a:avLst/>
          </a:prstGeom>
          <a:solidFill>
            <a:schemeClr val="accent1"/>
          </a:solidFill>
          <a:ln/>
        </p:spPr>
      </p:sp>
      <p:pic>
        <p:nvPicPr>
          <p:cNvPr id="32" name="icon" descr="preencoded.png">    </p:cNvPr>
          <p:cNvPicPr>
            <a:picLocks noChangeAspect="1"/>
          </p:cNvPicPr>
          <p:nvPr/>
        </p:nvPicPr>
        <p:blipFill>
          <a:blip r:embed="rId8"/>
          <a:stretch>
            <a:fillRect/>
          </a:stretch>
        </p:blipFill>
        <p:spPr>
          <a:xfrm>
            <a:off x="6492972" y="5569428"/>
            <a:ext cx="199705" cy="199705"/>
          </a:xfrm>
          <a:prstGeom prst="rect">
            <a:avLst/>
          </a:prstGeom>
        </p:spPr>
      </p:pic>
      <p:sp>
        <p:nvSpPr>
          <p:cNvPr id="33" name="Text 23"/>
          <p:cNvSpPr txBox="1"/>
          <p:nvPr/>
        </p:nvSpPr>
        <p:spPr>
          <a:xfrm>
            <a:off x="6931152" y="5440680"/>
            <a:ext cx="4711903" cy="274320"/>
          </a:xfrm>
          <a:prstGeom prst="rect">
            <a:avLst/>
          </a:prstGeom>
          <a:noFill/>
          <a:ln/>
        </p:spPr>
        <p:txBody>
          <a:bodyPr wrap="square" lIns="0" tIns="0" rIns="0" bIns="0" rtlCol="0" anchor="t"/>
          <a:lstStyle/>
          <a:p>
            <a:pPr indent="0" marL="0">
              <a:buNone/>
            </a:pPr>
            <a:r>
              <a:rPr lang="en-US" sz="1350" b="1" dirty="0">
                <a:solidFill>
                  <a:schemeClr val="tx1"/>
                </a:solidFill>
              </a:rPr>
              <a:t>610 lagu menunggu kuota</a:t>
            </a:r>
            <a:endParaRPr lang="en-US" sz="1350" dirty="0"/>
          </a:p>
        </p:txBody>
      </p:sp>
      <p:sp>
        <p:nvSpPr>
          <p:cNvPr id="34" name="Text 24"/>
          <p:cNvSpPr txBox="1"/>
          <p:nvPr/>
        </p:nvSpPr>
        <p:spPr>
          <a:xfrm>
            <a:off x="6931152" y="5724144"/>
            <a:ext cx="4711903" cy="457200"/>
          </a:xfrm>
          <a:prstGeom prst="rect">
            <a:avLst/>
          </a:prstGeom>
          <a:noFill/>
          <a:ln/>
        </p:spPr>
        <p:txBody>
          <a:bodyPr wrap="square" lIns="0" tIns="0" rIns="0" bIns="0" rtlCol="0" anchor="t"/>
          <a:lstStyle/>
          <a:p>
            <a:pPr indent="0" marL="0">
              <a:buNone/>
            </a:pPr>
            <a:r>
              <a:rPr lang="en-US" sz="1200" dirty="0">
                <a:solidFill>
                  <a:schemeClr val="accent2"/>
                </a:solidFill>
              </a:rPr>
              <a:t>terisi otomatis ±7 run harian berikutnya (status pending_quota).</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5 · DOCKER COMPOSE</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8 service dalam satu jaringan, satu perintah</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03120"/>
                <a:gridCol w="2514600"/>
                <a:gridCol w="3566160"/>
                <a:gridCol w="960120"/>
                <a:gridCol w="1950415"/>
              </a:tblGrid>
              <a:tr h="438912">
                <a:tc>
                  <a:txBody>
                    <a:bodyPr/>
                    <a:lstStyle/>
                    <a:p>
                      <a:pPr indent="0" marL="0">
                        <a:buNone/>
                      </a:pPr>
                      <a:r>
                        <a:rPr lang="en-US" sz="1200" b="1" dirty="0">
                          <a:solidFill>
                            <a:srgbClr val="FFFFFF"/>
                          </a:solidFill>
                        </a:rPr>
                        <a:t>Service</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Image</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Peran</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Port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Mulai setelah</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438912">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postgres</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postgres:16</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Metadata DB Airflow + database terpisah untuk Superset (bukan warehouse)</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clickhouse</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clickhouse-server:26.8 (LTS)</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Warehouse analitik; init membuat 7 database + user etl &amp; superset_ro</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8123 · 9000</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38912">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airflow-init</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massive-music/airflow:3.3.2 (build)</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Sekali jalan: build image, migrasi DB, buat user admin</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postgres &amp; clickhouse sehat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airflow-apiserver</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i="1" dirty="0">
                          <a:solidFill>
                            <a:srgbClr val="6B7280"/>
                          </a:solidFill>
                        </a:rPr>
                        <a:t>↳ image yang sama</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UI Airflow + Execution API untuk worker (Airflow 3)</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8080</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airflow-init selesai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38912">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airflow-scheduler</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i="1" dirty="0">
                          <a:solidFill>
                            <a:srgbClr val="6B7280"/>
                          </a:solidFill>
                        </a:rPr>
                        <a:t>↳ image yang sama</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LocalExecutor: menjadwalkan dan menjalankan task, termasuk dbt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airflow-init selesai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airflow-dag-processor</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i="1" dirty="0">
                          <a:solidFill>
                            <a:srgbClr val="6B7280"/>
                          </a:solidFill>
                        </a:rPr>
                        <a:t>↳ image yang sama</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Mem-parse file DAG (komponen terpisah di Airflow 3)</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airflow-init selesai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38912">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superset-init</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massive-music/superset:6.0.0 (build)</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Sekali jalan: db upgrade, create-admin, init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postgres sehat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B1B1F"/>
                          </a:solidFill>
                          <a:latin typeface="Consolas" pitchFamily="34" charset="0"/>
                          <a:ea typeface="Consolas" pitchFamily="34" charset="-122"/>
                          <a:cs typeface="Consolas" pitchFamily="34" charset="-120"/>
                        </a:rPr>
                        <a:t>superset</a:t>
                      </a:r>
                      <a:endParaRPr lang="en-US" sz="12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i="1" dirty="0">
                          <a:solidFill>
                            <a:srgbClr val="6B7280"/>
                          </a:solidFill>
                        </a:rPr>
                        <a:t>↳ image yang sama</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BI: 3 dashboard, membaca ClickHouse secara read-only</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8088</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superset-init selesai, clickhouse sehat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bl>
          </a:graphicData>
        </a:graphic>
      </p:graphicFrame>
      <p:sp>
        <p:nvSpPr>
          <p:cNvPr id="5" name="Text 2"/>
          <p:cNvSpPr txBox="1"/>
          <p:nvPr/>
        </p:nvSpPr>
        <p:spPr>
          <a:xfrm>
            <a:off x="548640" y="5596128"/>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VOLUME BERNAMA &amp; BIND MOUNT</a:t>
            </a:r>
            <a:endParaRPr lang="en-US" sz="1100" dirty="0"/>
          </a:p>
        </p:txBody>
      </p:sp>
      <p:sp>
        <p:nvSpPr>
          <p:cNvPr id="6" name="chip"/>
          <p:cNvSpPr/>
          <p:nvPr/>
        </p:nvSpPr>
        <p:spPr>
          <a:xfrm>
            <a:off x="548640" y="5888736"/>
            <a:ext cx="1691640" cy="347472"/>
          </a:xfrm>
          <a:prstGeom prst="roundRect">
            <a:avLst>
              <a:gd name="adj" fmla="val 50000"/>
            </a:avLst>
          </a:prstGeom>
          <a:solidFill>
            <a:srgbClr val="F3F4F6"/>
          </a:solidFill>
          <a:ln/>
        </p:spPr>
      </p:sp>
      <p:sp>
        <p:nvSpPr>
          <p:cNvPr id="7" name="Text 4"/>
          <p:cNvSpPr txBox="1"/>
          <p:nvPr/>
        </p:nvSpPr>
        <p:spPr>
          <a:xfrm>
            <a:off x="548640" y="5888736"/>
            <a:ext cx="1691640" cy="347472"/>
          </a:xfrm>
          <a:prstGeom prst="rect">
            <a:avLst/>
          </a:prstGeom>
          <a:noFill/>
          <a:ln/>
        </p:spPr>
        <p:txBody>
          <a:bodyPr wrap="square" lIns="0" tIns="0" rIns="0" bIns="0" rtlCol="0" anchor="ctr"/>
          <a:lstStyle/>
          <a:p>
            <a:pPr algn="ctr" indent="0" marL="0">
              <a:buNone/>
            </a:pPr>
            <a:r>
              <a:rPr lang="en-US" sz="1050" dirty="0">
                <a:solidFill>
                  <a:srgbClr val="1B1B1F"/>
                </a:solidFill>
                <a:latin typeface="Consolas" pitchFamily="34" charset="0"/>
                <a:ea typeface="Consolas" pitchFamily="34" charset="-122"/>
                <a:cs typeface="Consolas" pitchFamily="34" charset="-120"/>
              </a:rPr>
              <a:t>postgres-metadata</a:t>
            </a:r>
            <a:endParaRPr lang="en-US" sz="1050" dirty="0"/>
          </a:p>
        </p:txBody>
      </p:sp>
      <p:sp>
        <p:nvSpPr>
          <p:cNvPr id="8" name="chip"/>
          <p:cNvSpPr/>
          <p:nvPr/>
        </p:nvSpPr>
        <p:spPr>
          <a:xfrm>
            <a:off x="2331720" y="5888736"/>
            <a:ext cx="1965960" cy="347472"/>
          </a:xfrm>
          <a:prstGeom prst="roundRect">
            <a:avLst>
              <a:gd name="adj" fmla="val 50000"/>
            </a:avLst>
          </a:prstGeom>
          <a:solidFill>
            <a:srgbClr val="F3F4F6"/>
          </a:solidFill>
          <a:ln/>
        </p:spPr>
      </p:sp>
      <p:sp>
        <p:nvSpPr>
          <p:cNvPr id="9" name="Text 6"/>
          <p:cNvSpPr txBox="1"/>
          <p:nvPr/>
        </p:nvSpPr>
        <p:spPr>
          <a:xfrm>
            <a:off x="2331720" y="5888736"/>
            <a:ext cx="1965960" cy="347472"/>
          </a:xfrm>
          <a:prstGeom prst="rect">
            <a:avLst/>
          </a:prstGeom>
          <a:noFill/>
          <a:ln/>
        </p:spPr>
        <p:txBody>
          <a:bodyPr wrap="square" lIns="0" tIns="0" rIns="0" bIns="0" rtlCol="0" anchor="ctr"/>
          <a:lstStyle/>
          <a:p>
            <a:pPr algn="ctr" indent="0" marL="0">
              <a:buNone/>
            </a:pPr>
            <a:r>
              <a:rPr lang="en-US" sz="1050" dirty="0">
                <a:solidFill>
                  <a:srgbClr val="1B1B1F"/>
                </a:solidFill>
                <a:latin typeface="Consolas" pitchFamily="34" charset="0"/>
                <a:ea typeface="Consolas" pitchFamily="34" charset="-122"/>
                <a:cs typeface="Consolas" pitchFamily="34" charset="-120"/>
              </a:rPr>
              <a:t>clickhouse-warehouse</a:t>
            </a:r>
            <a:endParaRPr lang="en-US" sz="1050" dirty="0"/>
          </a:p>
        </p:txBody>
      </p:sp>
      <p:sp>
        <p:nvSpPr>
          <p:cNvPr id="10" name="chip"/>
          <p:cNvSpPr/>
          <p:nvPr/>
        </p:nvSpPr>
        <p:spPr>
          <a:xfrm>
            <a:off x="4389120" y="5888736"/>
            <a:ext cx="1691640" cy="347472"/>
          </a:xfrm>
          <a:prstGeom prst="roundRect">
            <a:avLst>
              <a:gd name="adj" fmla="val 50000"/>
            </a:avLst>
          </a:prstGeom>
          <a:solidFill>
            <a:srgbClr val="F3F4F6"/>
          </a:solidFill>
          <a:ln/>
        </p:spPr>
      </p:sp>
      <p:sp>
        <p:nvSpPr>
          <p:cNvPr id="11" name="Text 8"/>
          <p:cNvSpPr txBox="1"/>
          <p:nvPr/>
        </p:nvSpPr>
        <p:spPr>
          <a:xfrm>
            <a:off x="4389120" y="5888736"/>
            <a:ext cx="1691640" cy="347472"/>
          </a:xfrm>
          <a:prstGeom prst="rect">
            <a:avLst/>
          </a:prstGeom>
          <a:noFill/>
          <a:ln/>
        </p:spPr>
        <p:txBody>
          <a:bodyPr wrap="square" lIns="0" tIns="0" rIns="0" bIns="0" rtlCol="0" anchor="ctr"/>
          <a:lstStyle/>
          <a:p>
            <a:pPr algn="ctr" indent="0" marL="0">
              <a:buNone/>
            </a:pPr>
            <a:r>
              <a:rPr lang="en-US" sz="1050" dirty="0">
                <a:solidFill>
                  <a:srgbClr val="1B1B1F"/>
                </a:solidFill>
                <a:latin typeface="Consolas" pitchFamily="34" charset="0"/>
                <a:ea typeface="Consolas" pitchFamily="34" charset="-122"/>
                <a:cs typeface="Consolas" pitchFamily="34" charset="-120"/>
              </a:rPr>
              <a:t>airflow-task-logs</a:t>
            </a:r>
            <a:endParaRPr lang="en-US" sz="1050" dirty="0"/>
          </a:p>
        </p:txBody>
      </p:sp>
      <p:sp>
        <p:nvSpPr>
          <p:cNvPr id="12" name="chip"/>
          <p:cNvSpPr/>
          <p:nvPr/>
        </p:nvSpPr>
        <p:spPr>
          <a:xfrm>
            <a:off x="6172200" y="5888736"/>
            <a:ext cx="1417320" cy="347472"/>
          </a:xfrm>
          <a:prstGeom prst="roundRect">
            <a:avLst>
              <a:gd name="adj" fmla="val 50000"/>
            </a:avLst>
          </a:prstGeom>
          <a:solidFill>
            <a:srgbClr val="F3F4F6"/>
          </a:solidFill>
          <a:ln/>
        </p:spPr>
      </p:sp>
      <p:sp>
        <p:nvSpPr>
          <p:cNvPr id="13" name="Text 10"/>
          <p:cNvSpPr txBox="1"/>
          <p:nvPr/>
        </p:nvSpPr>
        <p:spPr>
          <a:xfrm>
            <a:off x="6172200" y="5888736"/>
            <a:ext cx="1417320" cy="347472"/>
          </a:xfrm>
          <a:prstGeom prst="rect">
            <a:avLst/>
          </a:prstGeom>
          <a:noFill/>
          <a:ln/>
        </p:spPr>
        <p:txBody>
          <a:bodyPr wrap="square" lIns="0" tIns="0" rIns="0" bIns="0" rtlCol="0" anchor="ctr"/>
          <a:lstStyle/>
          <a:p>
            <a:pPr algn="ctr" indent="0" marL="0">
              <a:buNone/>
            </a:pPr>
            <a:r>
              <a:rPr lang="en-US" sz="1050" dirty="0">
                <a:solidFill>
                  <a:srgbClr val="1B1B1F"/>
                </a:solidFill>
                <a:latin typeface="Consolas" pitchFamily="34" charset="0"/>
                <a:ea typeface="Consolas" pitchFamily="34" charset="-122"/>
                <a:cs typeface="Consolas" pitchFamily="34" charset="-120"/>
              </a:rPr>
              <a:t>superset-data</a:t>
            </a:r>
            <a:endParaRPr lang="en-US" sz="1050" dirty="0"/>
          </a:p>
        </p:txBody>
      </p:sp>
      <p:sp>
        <p:nvSpPr>
          <p:cNvPr id="14" name="chip"/>
          <p:cNvSpPr/>
          <p:nvPr/>
        </p:nvSpPr>
        <p:spPr>
          <a:xfrm>
            <a:off x="7680960" y="5888736"/>
            <a:ext cx="1920240" cy="347472"/>
          </a:xfrm>
          <a:prstGeom prst="roundRect">
            <a:avLst>
              <a:gd name="adj" fmla="val 50000"/>
            </a:avLst>
          </a:prstGeom>
          <a:solidFill>
            <a:srgbClr val="FFFFFF"/>
          </a:solidFill>
          <a:ln w="9525">
            <a:solidFill>
              <a:srgbClr val="D1D5DB"/>
            </a:solidFill>
            <a:prstDash val="solid"/>
          </a:ln>
        </p:spPr>
      </p:sp>
      <p:sp>
        <p:nvSpPr>
          <p:cNvPr id="15" name="Text 12"/>
          <p:cNvSpPr txBox="1"/>
          <p:nvPr/>
        </p:nvSpPr>
        <p:spPr>
          <a:xfrm>
            <a:off x="7680960" y="5888736"/>
            <a:ext cx="1920240" cy="347472"/>
          </a:xfrm>
          <a:prstGeom prst="rect">
            <a:avLst/>
          </a:prstGeom>
          <a:noFill/>
          <a:ln/>
        </p:spPr>
        <p:txBody>
          <a:bodyPr wrap="square" lIns="0" tIns="0" rIns="0" bIns="0" rtlCol="0" anchor="ctr"/>
          <a:lstStyle/>
          <a:p>
            <a:pPr algn="ctr" indent="0" marL="0">
              <a:buNone/>
            </a:pPr>
            <a:r>
              <a:rPr lang="en-US" sz="1050" dirty="0">
                <a:solidFill>
                  <a:srgbClr val="1B1B1F"/>
                </a:solidFill>
                <a:latin typeface="Consolas" pitchFamily="34" charset="0"/>
                <a:ea typeface="Consolas" pitchFamily="34" charset="-122"/>
                <a:cs typeface="Consolas" pitchFamily="34" charset="-120"/>
              </a:rPr>
              <a:t>./airflow/dags (bind)</a:t>
            </a:r>
            <a:endParaRPr lang="en-US" sz="1050" dirty="0"/>
          </a:p>
        </p:txBody>
      </p:sp>
      <p:sp>
        <p:nvSpPr>
          <p:cNvPr id="16" name="chip"/>
          <p:cNvSpPr/>
          <p:nvPr/>
        </p:nvSpPr>
        <p:spPr>
          <a:xfrm>
            <a:off x="9692640" y="5888736"/>
            <a:ext cx="1737360" cy="347472"/>
          </a:xfrm>
          <a:prstGeom prst="roundRect">
            <a:avLst>
              <a:gd name="adj" fmla="val 50000"/>
            </a:avLst>
          </a:prstGeom>
          <a:solidFill>
            <a:srgbClr val="FFFFFF"/>
          </a:solidFill>
          <a:ln w="9525">
            <a:solidFill>
              <a:srgbClr val="D1D5DB"/>
            </a:solidFill>
            <a:prstDash val="solid"/>
          </a:ln>
        </p:spPr>
      </p:sp>
      <p:sp>
        <p:nvSpPr>
          <p:cNvPr id="17" name="Text 14"/>
          <p:cNvSpPr txBox="1"/>
          <p:nvPr/>
        </p:nvSpPr>
        <p:spPr>
          <a:xfrm>
            <a:off x="9692640" y="5888736"/>
            <a:ext cx="1737360" cy="347472"/>
          </a:xfrm>
          <a:prstGeom prst="rect">
            <a:avLst/>
          </a:prstGeom>
          <a:noFill/>
          <a:ln/>
        </p:spPr>
        <p:txBody>
          <a:bodyPr wrap="square" lIns="0" tIns="0" rIns="0" bIns="0" rtlCol="0" anchor="ctr"/>
          <a:lstStyle/>
          <a:p>
            <a:pPr algn="ctr" indent="0" marL="0">
              <a:buNone/>
            </a:pPr>
            <a:r>
              <a:rPr lang="en-US" sz="1050" dirty="0">
                <a:solidFill>
                  <a:srgbClr val="1B1B1F"/>
                </a:solidFill>
                <a:latin typeface="Consolas" pitchFamily="34" charset="0"/>
                <a:ea typeface="Consolas" pitchFamily="34" charset="-122"/>
                <a:cs typeface="Consolas" pitchFamily="34" charset="-120"/>
              </a:rPr>
              <a:t>./data (read-only)</a:t>
            </a:r>
            <a:endParaRPr lang="en-US" sz="10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5 · DOCKER COMPOSE</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Keputusan desain: aman, berurutan, dan ringan</a:t>
            </a:r>
            <a:endParaRPr lang="en-US" sz="3000" dirty="0"/>
          </a:p>
        </p:txBody>
      </p:sp>
      <p:sp>
        <p:nvSpPr>
          <p:cNvPr id="4" name="compose phase"/>
          <p:cNvSpPr/>
          <p:nvPr/>
        </p:nvSpPr>
        <p:spPr>
          <a:xfrm>
            <a:off x="548640" y="1417320"/>
            <a:ext cx="2651760" cy="1965960"/>
          </a:xfrm>
          <a:prstGeom prst="roundRect">
            <a:avLst>
              <a:gd name="adj" fmla="val 3721"/>
            </a:avLst>
          </a:prstGeom>
          <a:solidFill>
            <a:schemeClr val="bg2"/>
          </a:solidFill>
          <a:ln/>
        </p:spPr>
      </p:sp>
      <p:sp>
        <p:nvSpPr>
          <p:cNvPr id="5" name="Text 3"/>
          <p:cNvSpPr txBox="1"/>
          <p:nvPr/>
        </p:nvSpPr>
        <p:spPr>
          <a:xfrm>
            <a:off x="731520" y="1554480"/>
            <a:ext cx="22860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FASE 1 · SEHAT DULU</a:t>
            </a:r>
            <a:endParaRPr lang="en-US" sz="1100" dirty="0"/>
          </a:p>
        </p:txBody>
      </p:sp>
      <p:sp>
        <p:nvSpPr>
          <p:cNvPr id="6" name="Text 4"/>
          <p:cNvSpPr txBox="1"/>
          <p:nvPr/>
        </p:nvSpPr>
        <p:spPr>
          <a:xfrm>
            <a:off x="731520" y="1801368"/>
            <a:ext cx="2286000" cy="256032"/>
          </a:xfrm>
          <a:prstGeom prst="rect">
            <a:avLst/>
          </a:prstGeom>
          <a:noFill/>
          <a:ln/>
        </p:spPr>
        <p:txBody>
          <a:bodyPr wrap="square" lIns="0" tIns="0" rIns="0" bIns="0" rtlCol="0" anchor="t"/>
          <a:lstStyle/>
          <a:p>
            <a:pPr indent="0" marL="0">
              <a:buNone/>
            </a:pPr>
            <a:r>
              <a:rPr lang="en-US" sz="1100" i="1" dirty="0">
                <a:solidFill>
                  <a:schemeClr val="accent2"/>
                </a:solidFill>
              </a:rPr>
              <a:t>healthcheck</a:t>
            </a:r>
            <a:endParaRPr lang="en-US" sz="1100" dirty="0"/>
          </a:p>
        </p:txBody>
      </p:sp>
      <p:sp>
        <p:nvSpPr>
          <p:cNvPr id="7" name="flow box"/>
          <p:cNvSpPr/>
          <p:nvPr/>
        </p:nvSpPr>
        <p:spPr>
          <a:xfrm>
            <a:off x="731520" y="2148840"/>
            <a:ext cx="2286000" cy="502920"/>
          </a:xfrm>
          <a:prstGeom prst="roundRect">
            <a:avLst>
              <a:gd name="adj" fmla="val 10909"/>
            </a:avLst>
          </a:prstGeom>
          <a:solidFill>
            <a:srgbClr val="FFFFFF"/>
          </a:solidFill>
          <a:ln w="9525">
            <a:solidFill>
              <a:srgbClr val="D1D5DB"/>
            </a:solidFill>
            <a:prstDash val="solid"/>
          </a:ln>
        </p:spPr>
      </p:sp>
      <p:sp>
        <p:nvSpPr>
          <p:cNvPr id="8" name="Text 6"/>
          <p:cNvSpPr txBox="1"/>
          <p:nvPr/>
        </p:nvSpPr>
        <p:spPr>
          <a:xfrm>
            <a:off x="786384" y="2148840"/>
            <a:ext cx="2176272" cy="502920"/>
          </a:xfrm>
          <a:prstGeom prst="rect">
            <a:avLst/>
          </a:prstGeom>
          <a:noFill/>
          <a:ln/>
        </p:spPr>
        <p:txBody>
          <a:bodyPr wrap="square" lIns="0" tIns="0" rIns="0" bIns="0" rtlCol="0" anchor="ctr"/>
          <a:lstStyle/>
          <a:p>
            <a:pPr algn="ctr" indent="0" marL="0">
              <a:buNone/>
            </a:pPr>
            <a:r>
              <a:rPr lang="en-US" sz="1150" b="1" dirty="0">
                <a:solidFill>
                  <a:srgbClr val="1B1B1F"/>
                </a:solidFill>
                <a:latin typeface="Consolas" pitchFamily="34" charset="0"/>
                <a:ea typeface="Consolas" pitchFamily="34" charset="-122"/>
                <a:cs typeface="Consolas" pitchFamily="34" charset="-120"/>
              </a:rPr>
              <a:t>postgres</a:t>
            </a:r>
            <a:endParaRPr lang="en-US" sz="1150" dirty="0"/>
          </a:p>
          <a:p>
            <a:pPr algn="ctr" indent="0" marL="0">
              <a:buNone/>
            </a:pPr>
            <a:r>
              <a:rPr lang="en-US" sz="1050" dirty="0">
                <a:solidFill>
                  <a:srgbClr val="4B5563"/>
                </a:solidFill>
              </a:rPr>
              <a:t>pg_isready</a:t>
            </a:r>
            <a:endParaRPr lang="en-US" sz="1150" dirty="0"/>
          </a:p>
        </p:txBody>
      </p:sp>
      <p:sp>
        <p:nvSpPr>
          <p:cNvPr id="9" name="flow box"/>
          <p:cNvSpPr/>
          <p:nvPr/>
        </p:nvSpPr>
        <p:spPr>
          <a:xfrm>
            <a:off x="731520" y="2743200"/>
            <a:ext cx="2286000" cy="502920"/>
          </a:xfrm>
          <a:prstGeom prst="roundRect">
            <a:avLst>
              <a:gd name="adj" fmla="val 10909"/>
            </a:avLst>
          </a:prstGeom>
          <a:solidFill>
            <a:srgbClr val="FFFFFF"/>
          </a:solidFill>
          <a:ln w="9525">
            <a:solidFill>
              <a:srgbClr val="D1D5DB"/>
            </a:solidFill>
            <a:prstDash val="solid"/>
          </a:ln>
        </p:spPr>
      </p:sp>
      <p:sp>
        <p:nvSpPr>
          <p:cNvPr id="10" name="Text 8"/>
          <p:cNvSpPr txBox="1"/>
          <p:nvPr/>
        </p:nvSpPr>
        <p:spPr>
          <a:xfrm>
            <a:off x="786384" y="2743200"/>
            <a:ext cx="2176272" cy="502920"/>
          </a:xfrm>
          <a:prstGeom prst="rect">
            <a:avLst/>
          </a:prstGeom>
          <a:noFill/>
          <a:ln/>
        </p:spPr>
        <p:txBody>
          <a:bodyPr wrap="square" lIns="0" tIns="0" rIns="0" bIns="0" rtlCol="0" anchor="ctr"/>
          <a:lstStyle/>
          <a:p>
            <a:pPr algn="ctr" indent="0" marL="0">
              <a:buNone/>
            </a:pPr>
            <a:r>
              <a:rPr lang="en-US" sz="1150" b="1" dirty="0">
                <a:solidFill>
                  <a:srgbClr val="1B1B1F"/>
                </a:solidFill>
                <a:latin typeface="Consolas" pitchFamily="34" charset="0"/>
                <a:ea typeface="Consolas" pitchFamily="34" charset="-122"/>
                <a:cs typeface="Consolas" pitchFamily="34" charset="-120"/>
              </a:rPr>
              <a:t>clickhouse</a:t>
            </a:r>
            <a:endParaRPr lang="en-US" sz="1150" dirty="0"/>
          </a:p>
          <a:p>
            <a:pPr algn="ctr" indent="0" marL="0">
              <a:buNone/>
            </a:pPr>
            <a:r>
              <a:rPr lang="en-US" sz="1050" dirty="0">
                <a:solidFill>
                  <a:srgbClr val="4B5563"/>
                </a:solidFill>
              </a:rPr>
              <a:t>GET /ping</a:t>
            </a:r>
            <a:endParaRPr lang="en-US" sz="1150" dirty="0"/>
          </a:p>
        </p:txBody>
      </p:sp>
      <p:sp>
        <p:nvSpPr>
          <p:cNvPr id="11" name="connector"/>
          <p:cNvSpPr/>
          <p:nvPr/>
        </p:nvSpPr>
        <p:spPr>
          <a:xfrm>
            <a:off x="3255264" y="2400300"/>
            <a:ext cx="347472" cy="0"/>
          </a:xfrm>
          <a:prstGeom prst="line">
            <a:avLst/>
          </a:prstGeom>
          <a:noFill/>
          <a:ln w="25400">
            <a:solidFill>
              <a:srgbClr val="4B5563"/>
            </a:solidFill>
            <a:prstDash val="solid"/>
            <a:tailEnd type="triangle"/>
          </a:ln>
        </p:spPr>
      </p:sp>
      <p:sp>
        <p:nvSpPr>
          <p:cNvPr id="12" name="compose phase"/>
          <p:cNvSpPr/>
          <p:nvPr/>
        </p:nvSpPr>
        <p:spPr>
          <a:xfrm>
            <a:off x="3657600" y="1417320"/>
            <a:ext cx="2651760" cy="1965960"/>
          </a:xfrm>
          <a:prstGeom prst="roundRect">
            <a:avLst>
              <a:gd name="adj" fmla="val 3721"/>
            </a:avLst>
          </a:prstGeom>
          <a:solidFill>
            <a:schemeClr val="bg2"/>
          </a:solidFill>
          <a:ln/>
        </p:spPr>
      </p:sp>
      <p:sp>
        <p:nvSpPr>
          <p:cNvPr id="13" name="Text 11"/>
          <p:cNvSpPr txBox="1"/>
          <p:nvPr/>
        </p:nvSpPr>
        <p:spPr>
          <a:xfrm>
            <a:off x="3840480" y="1554480"/>
            <a:ext cx="22860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FASE 2 · BOOTSTRAP</a:t>
            </a:r>
            <a:endParaRPr lang="en-US" sz="1100" dirty="0"/>
          </a:p>
        </p:txBody>
      </p:sp>
      <p:sp>
        <p:nvSpPr>
          <p:cNvPr id="14" name="Text 12"/>
          <p:cNvSpPr txBox="1"/>
          <p:nvPr/>
        </p:nvSpPr>
        <p:spPr>
          <a:xfrm>
            <a:off x="3840480" y="1801368"/>
            <a:ext cx="2286000" cy="256032"/>
          </a:xfrm>
          <a:prstGeom prst="rect">
            <a:avLst/>
          </a:prstGeom>
          <a:noFill/>
          <a:ln/>
        </p:spPr>
        <p:txBody>
          <a:bodyPr wrap="square" lIns="0" tIns="0" rIns="0" bIns="0" rtlCol="0" anchor="t"/>
          <a:lstStyle/>
          <a:p>
            <a:pPr indent="0" marL="0">
              <a:buNone/>
            </a:pPr>
            <a:r>
              <a:rPr lang="en-US" sz="1100" i="1" dirty="0">
                <a:solidFill>
                  <a:schemeClr val="accent2"/>
                </a:solidFill>
              </a:rPr>
              <a:t>sekali jalan</a:t>
            </a:r>
            <a:endParaRPr lang="en-US" sz="1100" dirty="0"/>
          </a:p>
        </p:txBody>
      </p:sp>
      <p:sp>
        <p:nvSpPr>
          <p:cNvPr id="15" name="flow box"/>
          <p:cNvSpPr/>
          <p:nvPr/>
        </p:nvSpPr>
        <p:spPr>
          <a:xfrm>
            <a:off x="3840480" y="2148840"/>
            <a:ext cx="2286000" cy="502920"/>
          </a:xfrm>
          <a:prstGeom prst="roundRect">
            <a:avLst>
              <a:gd name="adj" fmla="val 10909"/>
            </a:avLst>
          </a:prstGeom>
          <a:solidFill>
            <a:srgbClr val="FFFFFF"/>
          </a:solidFill>
          <a:ln w="9525">
            <a:solidFill>
              <a:srgbClr val="D1D5DB"/>
            </a:solidFill>
            <a:prstDash val="solid"/>
          </a:ln>
        </p:spPr>
      </p:sp>
      <p:sp>
        <p:nvSpPr>
          <p:cNvPr id="16" name="Text 14"/>
          <p:cNvSpPr txBox="1"/>
          <p:nvPr/>
        </p:nvSpPr>
        <p:spPr>
          <a:xfrm>
            <a:off x="3895344" y="2148840"/>
            <a:ext cx="2176272" cy="502920"/>
          </a:xfrm>
          <a:prstGeom prst="rect">
            <a:avLst/>
          </a:prstGeom>
          <a:noFill/>
          <a:ln/>
        </p:spPr>
        <p:txBody>
          <a:bodyPr wrap="square" lIns="0" tIns="0" rIns="0" bIns="0" rtlCol="0" anchor="ctr"/>
          <a:lstStyle/>
          <a:p>
            <a:pPr algn="ctr" indent="0" marL="0">
              <a:buNone/>
            </a:pPr>
            <a:r>
              <a:rPr lang="en-US" sz="1150" b="1" dirty="0">
                <a:solidFill>
                  <a:srgbClr val="1B1B1F"/>
                </a:solidFill>
                <a:latin typeface="Consolas" pitchFamily="34" charset="0"/>
                <a:ea typeface="Consolas" pitchFamily="34" charset="-122"/>
                <a:cs typeface="Consolas" pitchFamily="34" charset="-120"/>
              </a:rPr>
              <a:t>airflow-init</a:t>
            </a:r>
            <a:endParaRPr lang="en-US" sz="1150" dirty="0"/>
          </a:p>
          <a:p>
            <a:pPr algn="ctr" indent="0" marL="0">
              <a:buNone/>
            </a:pPr>
            <a:r>
              <a:rPr lang="en-US" sz="1050" dirty="0">
                <a:solidFill>
                  <a:srgbClr val="4B5563"/>
                </a:solidFill>
              </a:rPr>
              <a:t>migrasi + admin</a:t>
            </a:r>
            <a:endParaRPr lang="en-US" sz="1150" dirty="0"/>
          </a:p>
        </p:txBody>
      </p:sp>
      <p:sp>
        <p:nvSpPr>
          <p:cNvPr id="17" name="flow box"/>
          <p:cNvSpPr/>
          <p:nvPr/>
        </p:nvSpPr>
        <p:spPr>
          <a:xfrm>
            <a:off x="3840480" y="2743200"/>
            <a:ext cx="2286000" cy="502920"/>
          </a:xfrm>
          <a:prstGeom prst="roundRect">
            <a:avLst>
              <a:gd name="adj" fmla="val 10909"/>
            </a:avLst>
          </a:prstGeom>
          <a:solidFill>
            <a:srgbClr val="FFFFFF"/>
          </a:solidFill>
          <a:ln w="9525">
            <a:solidFill>
              <a:srgbClr val="D1D5DB"/>
            </a:solidFill>
            <a:prstDash val="solid"/>
          </a:ln>
        </p:spPr>
      </p:sp>
      <p:sp>
        <p:nvSpPr>
          <p:cNvPr id="18" name="Text 16"/>
          <p:cNvSpPr txBox="1"/>
          <p:nvPr/>
        </p:nvSpPr>
        <p:spPr>
          <a:xfrm>
            <a:off x="3895344" y="2743200"/>
            <a:ext cx="2176272" cy="502920"/>
          </a:xfrm>
          <a:prstGeom prst="rect">
            <a:avLst/>
          </a:prstGeom>
          <a:noFill/>
          <a:ln/>
        </p:spPr>
        <p:txBody>
          <a:bodyPr wrap="square" lIns="0" tIns="0" rIns="0" bIns="0" rtlCol="0" anchor="ctr"/>
          <a:lstStyle/>
          <a:p>
            <a:pPr algn="ctr" indent="0" marL="0">
              <a:buNone/>
            </a:pPr>
            <a:r>
              <a:rPr lang="en-US" sz="1150" b="1" dirty="0">
                <a:solidFill>
                  <a:srgbClr val="1B1B1F"/>
                </a:solidFill>
                <a:latin typeface="Consolas" pitchFamily="34" charset="0"/>
                <a:ea typeface="Consolas" pitchFamily="34" charset="-122"/>
                <a:cs typeface="Consolas" pitchFamily="34" charset="-120"/>
              </a:rPr>
              <a:t>superset-init</a:t>
            </a:r>
            <a:endParaRPr lang="en-US" sz="1150" dirty="0"/>
          </a:p>
          <a:p>
            <a:pPr algn="ctr" indent="0" marL="0">
              <a:buNone/>
            </a:pPr>
            <a:r>
              <a:rPr lang="en-US" sz="1050" dirty="0">
                <a:solidFill>
                  <a:srgbClr val="4B5563"/>
                </a:solidFill>
              </a:rPr>
              <a:t>upgrade + admin</a:t>
            </a:r>
            <a:endParaRPr lang="en-US" sz="1150" dirty="0"/>
          </a:p>
        </p:txBody>
      </p:sp>
      <p:sp>
        <p:nvSpPr>
          <p:cNvPr id="19" name="connector"/>
          <p:cNvSpPr/>
          <p:nvPr/>
        </p:nvSpPr>
        <p:spPr>
          <a:xfrm>
            <a:off x="6364224" y="2400300"/>
            <a:ext cx="347472" cy="0"/>
          </a:xfrm>
          <a:prstGeom prst="line">
            <a:avLst/>
          </a:prstGeom>
          <a:noFill/>
          <a:ln w="25400">
            <a:solidFill>
              <a:srgbClr val="4B5563"/>
            </a:solidFill>
            <a:prstDash val="solid"/>
            <a:tailEnd type="triangle"/>
          </a:ln>
        </p:spPr>
      </p:sp>
      <p:sp>
        <p:nvSpPr>
          <p:cNvPr id="20" name="compose phase"/>
          <p:cNvSpPr/>
          <p:nvPr/>
        </p:nvSpPr>
        <p:spPr>
          <a:xfrm>
            <a:off x="6766560" y="1417320"/>
            <a:ext cx="4876495" cy="1965960"/>
          </a:xfrm>
          <a:prstGeom prst="roundRect">
            <a:avLst>
              <a:gd name="adj" fmla="val 3721"/>
            </a:avLst>
          </a:prstGeom>
          <a:solidFill>
            <a:srgbClr val="FDECEC"/>
          </a:solidFill>
          <a:ln/>
        </p:spPr>
      </p:sp>
      <p:sp>
        <p:nvSpPr>
          <p:cNvPr id="21" name="Text 19"/>
          <p:cNvSpPr txBox="1"/>
          <p:nvPr/>
        </p:nvSpPr>
        <p:spPr>
          <a:xfrm>
            <a:off x="6949440" y="1554480"/>
            <a:ext cx="451073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FASE 3 · BERJALAN</a:t>
            </a:r>
            <a:endParaRPr lang="en-US" sz="1100" dirty="0"/>
          </a:p>
        </p:txBody>
      </p:sp>
      <p:sp>
        <p:nvSpPr>
          <p:cNvPr id="22" name="Text 20"/>
          <p:cNvSpPr txBox="1"/>
          <p:nvPr/>
        </p:nvSpPr>
        <p:spPr>
          <a:xfrm>
            <a:off x="6949440" y="1801368"/>
            <a:ext cx="4510735" cy="256032"/>
          </a:xfrm>
          <a:prstGeom prst="rect">
            <a:avLst/>
          </a:prstGeom>
          <a:noFill/>
          <a:ln/>
        </p:spPr>
        <p:txBody>
          <a:bodyPr wrap="square" lIns="0" tIns="0" rIns="0" bIns="0" rtlCol="0" anchor="t"/>
          <a:lstStyle/>
          <a:p>
            <a:pPr indent="0" marL="0">
              <a:buNone/>
            </a:pPr>
            <a:r>
              <a:rPr lang="en-US" sz="1100" i="1" dirty="0">
                <a:solidFill>
                  <a:schemeClr val="accent2"/>
                </a:solidFill>
              </a:rPr>
              <a:t>restart: unless-stopped</a:t>
            </a:r>
            <a:endParaRPr lang="en-US" sz="1100" dirty="0"/>
          </a:p>
        </p:txBody>
      </p:sp>
      <p:sp>
        <p:nvSpPr>
          <p:cNvPr id="23" name="flow box"/>
          <p:cNvSpPr/>
          <p:nvPr/>
        </p:nvSpPr>
        <p:spPr>
          <a:xfrm>
            <a:off x="6949440" y="2148840"/>
            <a:ext cx="2186788" cy="502920"/>
          </a:xfrm>
          <a:prstGeom prst="roundRect">
            <a:avLst>
              <a:gd name="adj" fmla="val 10909"/>
            </a:avLst>
          </a:prstGeom>
          <a:solidFill>
            <a:srgbClr val="FFFFFF"/>
          </a:solidFill>
          <a:ln w="9525">
            <a:solidFill>
              <a:srgbClr val="D1D5DB"/>
            </a:solidFill>
            <a:prstDash val="solid"/>
          </a:ln>
        </p:spPr>
      </p:sp>
      <p:sp>
        <p:nvSpPr>
          <p:cNvPr id="24" name="Text 22"/>
          <p:cNvSpPr txBox="1"/>
          <p:nvPr/>
        </p:nvSpPr>
        <p:spPr>
          <a:xfrm>
            <a:off x="7004304" y="2148840"/>
            <a:ext cx="2077060" cy="502920"/>
          </a:xfrm>
          <a:prstGeom prst="rect">
            <a:avLst/>
          </a:prstGeom>
          <a:noFill/>
          <a:ln/>
        </p:spPr>
        <p:txBody>
          <a:bodyPr wrap="square" lIns="0" tIns="0" rIns="0" bIns="0" rtlCol="0" anchor="ctr"/>
          <a:lstStyle/>
          <a:p>
            <a:pPr algn="ctr" indent="0" marL="0">
              <a:buNone/>
            </a:pPr>
            <a:r>
              <a:rPr lang="en-US" sz="1150" b="1" dirty="0">
                <a:solidFill>
                  <a:srgbClr val="1B1B1F"/>
                </a:solidFill>
                <a:latin typeface="Consolas" pitchFamily="34" charset="0"/>
                <a:ea typeface="Consolas" pitchFamily="34" charset="-122"/>
                <a:cs typeface="Consolas" pitchFamily="34" charset="-120"/>
              </a:rPr>
              <a:t>airflow-apiserver</a:t>
            </a:r>
            <a:endParaRPr lang="en-US" sz="1150" dirty="0"/>
          </a:p>
          <a:p>
            <a:pPr algn="ctr" indent="0" marL="0">
              <a:buNone/>
            </a:pPr>
            <a:r>
              <a:rPr lang="en-US" sz="1050" dirty="0">
                <a:solidFill>
                  <a:srgbClr val="4B5563"/>
                </a:solidFill>
              </a:rPr>
              <a:t>:8080</a:t>
            </a:r>
            <a:endParaRPr lang="en-US" sz="1150" dirty="0"/>
          </a:p>
        </p:txBody>
      </p:sp>
      <p:sp>
        <p:nvSpPr>
          <p:cNvPr id="25" name="flow box"/>
          <p:cNvSpPr/>
          <p:nvPr/>
        </p:nvSpPr>
        <p:spPr>
          <a:xfrm>
            <a:off x="9273388" y="2148840"/>
            <a:ext cx="2186788" cy="502920"/>
          </a:xfrm>
          <a:prstGeom prst="roundRect">
            <a:avLst>
              <a:gd name="adj" fmla="val 10909"/>
            </a:avLst>
          </a:prstGeom>
          <a:solidFill>
            <a:srgbClr val="FFFFFF"/>
          </a:solidFill>
          <a:ln w="9525">
            <a:solidFill>
              <a:srgbClr val="D1D5DB"/>
            </a:solidFill>
            <a:prstDash val="solid"/>
          </a:ln>
        </p:spPr>
      </p:sp>
      <p:sp>
        <p:nvSpPr>
          <p:cNvPr id="26" name="Text 24"/>
          <p:cNvSpPr txBox="1"/>
          <p:nvPr/>
        </p:nvSpPr>
        <p:spPr>
          <a:xfrm>
            <a:off x="9328252" y="2148840"/>
            <a:ext cx="2077060" cy="502920"/>
          </a:xfrm>
          <a:prstGeom prst="rect">
            <a:avLst/>
          </a:prstGeom>
          <a:noFill/>
          <a:ln/>
        </p:spPr>
        <p:txBody>
          <a:bodyPr wrap="square" lIns="0" tIns="0" rIns="0" bIns="0" rtlCol="0" anchor="ctr"/>
          <a:lstStyle/>
          <a:p>
            <a:pPr algn="ctr" indent="0" marL="0">
              <a:buNone/>
            </a:pPr>
            <a:r>
              <a:rPr lang="en-US" sz="1150" b="1" dirty="0">
                <a:solidFill>
                  <a:srgbClr val="1B1B1F"/>
                </a:solidFill>
                <a:latin typeface="Consolas" pitchFamily="34" charset="0"/>
                <a:ea typeface="Consolas" pitchFamily="34" charset="-122"/>
                <a:cs typeface="Consolas" pitchFamily="34" charset="-120"/>
              </a:rPr>
              <a:t>airflow-scheduler</a:t>
            </a:r>
            <a:endParaRPr lang="en-US" sz="1150" dirty="0"/>
          </a:p>
          <a:p>
            <a:pPr algn="ctr" indent="0" marL="0">
              <a:buNone/>
            </a:pPr>
            <a:r>
              <a:rPr lang="en-US" sz="1050" dirty="0">
                <a:solidFill>
                  <a:srgbClr val="4B5563"/>
                </a:solidFill>
              </a:rPr>
              <a:t>task + dbt</a:t>
            </a:r>
            <a:endParaRPr lang="en-US" sz="1150" dirty="0"/>
          </a:p>
        </p:txBody>
      </p:sp>
      <p:sp>
        <p:nvSpPr>
          <p:cNvPr id="27" name="flow box"/>
          <p:cNvSpPr/>
          <p:nvPr/>
        </p:nvSpPr>
        <p:spPr>
          <a:xfrm>
            <a:off x="6949440" y="2743200"/>
            <a:ext cx="2186788" cy="502920"/>
          </a:xfrm>
          <a:prstGeom prst="roundRect">
            <a:avLst>
              <a:gd name="adj" fmla="val 10909"/>
            </a:avLst>
          </a:prstGeom>
          <a:solidFill>
            <a:srgbClr val="FFFFFF"/>
          </a:solidFill>
          <a:ln w="9525">
            <a:solidFill>
              <a:srgbClr val="D1D5DB"/>
            </a:solidFill>
            <a:prstDash val="solid"/>
          </a:ln>
        </p:spPr>
      </p:sp>
      <p:sp>
        <p:nvSpPr>
          <p:cNvPr id="28" name="Text 26"/>
          <p:cNvSpPr txBox="1"/>
          <p:nvPr/>
        </p:nvSpPr>
        <p:spPr>
          <a:xfrm>
            <a:off x="7004304" y="2743200"/>
            <a:ext cx="2077060" cy="502920"/>
          </a:xfrm>
          <a:prstGeom prst="rect">
            <a:avLst/>
          </a:prstGeom>
          <a:noFill/>
          <a:ln/>
        </p:spPr>
        <p:txBody>
          <a:bodyPr wrap="square" lIns="0" tIns="0" rIns="0" bIns="0" rtlCol="0" anchor="ctr"/>
          <a:lstStyle/>
          <a:p>
            <a:pPr algn="ctr" indent="0" marL="0">
              <a:buNone/>
            </a:pPr>
            <a:r>
              <a:rPr lang="en-US" sz="1150" b="1" dirty="0">
                <a:solidFill>
                  <a:srgbClr val="1B1B1F"/>
                </a:solidFill>
                <a:latin typeface="Consolas" pitchFamily="34" charset="0"/>
                <a:ea typeface="Consolas" pitchFamily="34" charset="-122"/>
                <a:cs typeface="Consolas" pitchFamily="34" charset="-120"/>
              </a:rPr>
              <a:t>airflow-dag-processor</a:t>
            </a:r>
            <a:endParaRPr lang="en-US" sz="1150" dirty="0"/>
          </a:p>
          <a:p>
            <a:pPr algn="ctr" indent="0" marL="0">
              <a:buNone/>
            </a:pPr>
            <a:r>
              <a:rPr lang="en-US" sz="1050" dirty="0">
                <a:solidFill>
                  <a:srgbClr val="4B5563"/>
                </a:solidFill>
              </a:rPr>
              <a:t>parse DAG</a:t>
            </a:r>
            <a:endParaRPr lang="en-US" sz="1150" dirty="0"/>
          </a:p>
        </p:txBody>
      </p:sp>
      <p:sp>
        <p:nvSpPr>
          <p:cNvPr id="29" name="flow box"/>
          <p:cNvSpPr/>
          <p:nvPr/>
        </p:nvSpPr>
        <p:spPr>
          <a:xfrm>
            <a:off x="9273388" y="2743200"/>
            <a:ext cx="2186788" cy="502920"/>
          </a:xfrm>
          <a:prstGeom prst="roundRect">
            <a:avLst>
              <a:gd name="adj" fmla="val 10909"/>
            </a:avLst>
          </a:prstGeom>
          <a:solidFill>
            <a:srgbClr val="FFFFFF"/>
          </a:solidFill>
          <a:ln w="9525">
            <a:solidFill>
              <a:srgbClr val="D1D5DB"/>
            </a:solidFill>
            <a:prstDash val="solid"/>
          </a:ln>
        </p:spPr>
      </p:sp>
      <p:sp>
        <p:nvSpPr>
          <p:cNvPr id="30" name="Text 28"/>
          <p:cNvSpPr txBox="1"/>
          <p:nvPr/>
        </p:nvSpPr>
        <p:spPr>
          <a:xfrm>
            <a:off x="9328252" y="2743200"/>
            <a:ext cx="2077060" cy="502920"/>
          </a:xfrm>
          <a:prstGeom prst="rect">
            <a:avLst/>
          </a:prstGeom>
          <a:noFill/>
          <a:ln/>
        </p:spPr>
        <p:txBody>
          <a:bodyPr wrap="square" lIns="0" tIns="0" rIns="0" bIns="0" rtlCol="0" anchor="ctr"/>
          <a:lstStyle/>
          <a:p>
            <a:pPr algn="ctr" indent="0" marL="0">
              <a:buNone/>
            </a:pPr>
            <a:r>
              <a:rPr lang="en-US" sz="1150" b="1" dirty="0">
                <a:solidFill>
                  <a:srgbClr val="1B1B1F"/>
                </a:solidFill>
                <a:latin typeface="Consolas" pitchFamily="34" charset="0"/>
                <a:ea typeface="Consolas" pitchFamily="34" charset="-122"/>
                <a:cs typeface="Consolas" pitchFamily="34" charset="-120"/>
              </a:rPr>
              <a:t>superset</a:t>
            </a:r>
            <a:endParaRPr lang="en-US" sz="1150" dirty="0"/>
          </a:p>
          <a:p>
            <a:pPr algn="ctr" indent="0" marL="0">
              <a:buNone/>
            </a:pPr>
            <a:r>
              <a:rPr lang="en-US" sz="1050" dirty="0">
                <a:solidFill>
                  <a:srgbClr val="4B5563"/>
                </a:solidFill>
              </a:rPr>
              <a:t>:8088</a:t>
            </a:r>
            <a:endParaRPr lang="en-US" sz="1150" dirty="0"/>
          </a:p>
        </p:txBody>
      </p:sp>
      <p:sp>
        <p:nvSpPr>
          <p:cNvPr id="31" name="Text 29"/>
          <p:cNvSpPr txBox="1"/>
          <p:nvPr/>
        </p:nvSpPr>
        <p:spPr>
          <a:xfrm>
            <a:off x="548640" y="3474720"/>
            <a:ext cx="11094415" cy="274320"/>
          </a:xfrm>
          <a:prstGeom prst="rect">
            <a:avLst/>
          </a:prstGeom>
          <a:noFill/>
          <a:ln/>
        </p:spPr>
        <p:txBody>
          <a:bodyPr wrap="square" lIns="0" tIns="0" rIns="0" bIns="0" rtlCol="0" anchor="t"/>
          <a:lstStyle/>
          <a:p>
            <a:pPr indent="0" marL="0">
              <a:buNone/>
            </a:pPr>
            <a:r>
              <a:rPr lang="en-US" sz="1100" i="1" dirty="0">
                <a:solidFill>
                  <a:schemeClr val="accent2"/>
                </a:solidFill>
              </a:rPr>
              <a:t>depends_on: service_healthy (fase 1) dan service_completed_successfully (fase 2) → urutan start deterministik.</a:t>
            </a:r>
            <a:endParaRPr lang="en-US" sz="1100" dirty="0"/>
          </a:p>
        </p:txBody>
      </p:sp>
      <p:sp>
        <p:nvSpPr>
          <p:cNvPr id="32" name="info card"/>
          <p:cNvSpPr/>
          <p:nvPr/>
        </p:nvSpPr>
        <p:spPr>
          <a:xfrm>
            <a:off x="548640" y="3840480"/>
            <a:ext cx="3515258" cy="1143000"/>
          </a:xfrm>
          <a:prstGeom prst="roundRect">
            <a:avLst>
              <a:gd name="adj" fmla="val 6400"/>
            </a:avLst>
          </a:prstGeom>
          <a:solidFill>
            <a:schemeClr val="bg2"/>
          </a:solidFill>
          <a:ln/>
        </p:spPr>
      </p:sp>
      <p:sp>
        <p:nvSpPr>
          <p:cNvPr id="33" name="icon circle"/>
          <p:cNvSpPr/>
          <p:nvPr/>
        </p:nvSpPr>
        <p:spPr>
          <a:xfrm>
            <a:off x="731520" y="4023360"/>
            <a:ext cx="347472" cy="347472"/>
          </a:xfrm>
          <a:prstGeom prst="ellipse">
            <a:avLst/>
          </a:prstGeom>
          <a:solidFill>
            <a:schemeClr val="accent1"/>
          </a:solidFill>
          <a:ln/>
        </p:spPr>
      </p:sp>
      <p:pic>
        <p:nvPicPr>
          <p:cNvPr id="34" name="icon" descr="preencoded.png">    </p:cNvPr>
          <p:cNvPicPr>
            <a:picLocks noChangeAspect="1"/>
          </p:cNvPicPr>
          <p:nvPr/>
        </p:nvPicPr>
        <p:blipFill>
          <a:blip r:embed="rId1"/>
          <a:stretch>
            <a:fillRect/>
          </a:stretch>
        </p:blipFill>
        <p:spPr>
          <a:xfrm>
            <a:off x="814913" y="4106753"/>
            <a:ext cx="180685" cy="180685"/>
          </a:xfrm>
          <a:prstGeom prst="rect">
            <a:avLst/>
          </a:prstGeom>
        </p:spPr>
      </p:pic>
      <p:sp>
        <p:nvSpPr>
          <p:cNvPr id="35" name="Text 32"/>
          <p:cNvSpPr txBox="1"/>
          <p:nvPr/>
        </p:nvSpPr>
        <p:spPr>
          <a:xfrm>
            <a:off x="1170432" y="4023360"/>
            <a:ext cx="2710586" cy="347472"/>
          </a:xfrm>
          <a:prstGeom prst="rect">
            <a:avLst/>
          </a:prstGeom>
          <a:noFill/>
          <a:ln/>
        </p:spPr>
        <p:txBody>
          <a:bodyPr wrap="square" lIns="0" tIns="0" rIns="0" bIns="0" rtlCol="0" anchor="ctr"/>
          <a:lstStyle/>
          <a:p>
            <a:pPr indent="0" marL="0">
              <a:buNone/>
            </a:pPr>
            <a:r>
              <a:rPr lang="en-US" sz="1350" b="1" dirty="0">
                <a:solidFill>
                  <a:schemeClr val="tx1"/>
                </a:solidFill>
              </a:rPr>
              <a:t>Tanpa secret di file</a:t>
            </a:r>
            <a:endParaRPr lang="en-US" sz="1350" dirty="0"/>
          </a:p>
        </p:txBody>
      </p:sp>
      <p:sp>
        <p:nvSpPr>
          <p:cNvPr id="36" name="Text 33"/>
          <p:cNvSpPr txBox="1"/>
          <p:nvPr/>
        </p:nvSpPr>
        <p:spPr>
          <a:xfrm>
            <a:off x="731520" y="4480560"/>
            <a:ext cx="3149498" cy="411480"/>
          </a:xfrm>
          <a:prstGeom prst="rect">
            <a:avLst/>
          </a:prstGeom>
          <a:noFill/>
          <a:ln/>
        </p:spPr>
        <p:txBody>
          <a:bodyPr wrap="square" lIns="0" tIns="0" rIns="0" bIns="0" rtlCol="0" anchor="t"/>
          <a:lstStyle/>
          <a:p>
            <a:pPr indent="0" marL="0">
              <a:buNone/>
            </a:pPr>
            <a:r>
              <a:rPr lang="en-US" sz="1200" dirty="0">
                <a:solidFill>
                  <a:schemeClr val="tx1"/>
                </a:solidFill>
              </a:rPr>
              <a:t>Semua kredensial ${VAR:?…} dari .env: compose menolak start bila ada yang kosong.</a:t>
            </a:r>
            <a:endParaRPr lang="en-US" sz="1200" dirty="0"/>
          </a:p>
        </p:txBody>
      </p:sp>
      <p:sp>
        <p:nvSpPr>
          <p:cNvPr id="37" name="info card"/>
          <p:cNvSpPr/>
          <p:nvPr/>
        </p:nvSpPr>
        <p:spPr>
          <a:xfrm>
            <a:off x="4338218" y="3840480"/>
            <a:ext cx="3515258" cy="1143000"/>
          </a:xfrm>
          <a:prstGeom prst="roundRect">
            <a:avLst>
              <a:gd name="adj" fmla="val 6400"/>
            </a:avLst>
          </a:prstGeom>
          <a:solidFill>
            <a:schemeClr val="bg2"/>
          </a:solidFill>
          <a:ln/>
        </p:spPr>
      </p:sp>
      <p:sp>
        <p:nvSpPr>
          <p:cNvPr id="38" name="icon circle"/>
          <p:cNvSpPr/>
          <p:nvPr/>
        </p:nvSpPr>
        <p:spPr>
          <a:xfrm>
            <a:off x="4521098" y="4023360"/>
            <a:ext cx="347472" cy="347472"/>
          </a:xfrm>
          <a:prstGeom prst="ellipse">
            <a:avLst/>
          </a:prstGeom>
          <a:solidFill>
            <a:schemeClr val="accent1"/>
          </a:solidFill>
          <a:ln/>
        </p:spPr>
      </p:sp>
      <p:pic>
        <p:nvPicPr>
          <p:cNvPr id="39" name="icon" descr="preencoded.png">    </p:cNvPr>
          <p:cNvPicPr>
            <a:picLocks noChangeAspect="1"/>
          </p:cNvPicPr>
          <p:nvPr/>
        </p:nvPicPr>
        <p:blipFill>
          <a:blip r:embed="rId2"/>
          <a:stretch>
            <a:fillRect/>
          </a:stretch>
        </p:blipFill>
        <p:spPr>
          <a:xfrm>
            <a:off x="4604492" y="4106753"/>
            <a:ext cx="180685" cy="180685"/>
          </a:xfrm>
          <a:prstGeom prst="rect">
            <a:avLst/>
          </a:prstGeom>
        </p:spPr>
      </p:pic>
      <p:sp>
        <p:nvSpPr>
          <p:cNvPr id="40" name="Text 36"/>
          <p:cNvSpPr txBox="1"/>
          <p:nvPr/>
        </p:nvSpPr>
        <p:spPr>
          <a:xfrm>
            <a:off x="4960010" y="4023360"/>
            <a:ext cx="2710586" cy="347472"/>
          </a:xfrm>
          <a:prstGeom prst="rect">
            <a:avLst/>
          </a:prstGeom>
          <a:noFill/>
          <a:ln/>
        </p:spPr>
        <p:txBody>
          <a:bodyPr wrap="square" lIns="0" tIns="0" rIns="0" bIns="0" rtlCol="0" anchor="ctr"/>
          <a:lstStyle/>
          <a:p>
            <a:pPr indent="0" marL="0">
              <a:buNone/>
            </a:pPr>
            <a:r>
              <a:rPr lang="en-US" sz="1350" b="1" dirty="0">
                <a:solidFill>
                  <a:schemeClr val="tx1"/>
                </a:solidFill>
              </a:rPr>
              <a:t>LocalExecutor</a:t>
            </a:r>
            <a:endParaRPr lang="en-US" sz="1350" dirty="0"/>
          </a:p>
        </p:txBody>
      </p:sp>
      <p:sp>
        <p:nvSpPr>
          <p:cNvPr id="41" name="Text 37"/>
          <p:cNvSpPr txBox="1"/>
          <p:nvPr/>
        </p:nvSpPr>
        <p:spPr>
          <a:xfrm>
            <a:off x="4521098" y="4480560"/>
            <a:ext cx="3149498" cy="411480"/>
          </a:xfrm>
          <a:prstGeom prst="rect">
            <a:avLst/>
          </a:prstGeom>
          <a:noFill/>
          <a:ln/>
        </p:spPr>
        <p:txBody>
          <a:bodyPr wrap="square" lIns="0" tIns="0" rIns="0" bIns="0" rtlCol="0" anchor="t"/>
          <a:lstStyle/>
          <a:p>
            <a:pPr indent="0" marL="0">
              <a:buNone/>
            </a:pPr>
            <a:r>
              <a:rPr lang="en-US" sz="1200" dirty="0">
                <a:solidFill>
                  <a:schemeClr val="tx1"/>
                </a:solidFill>
              </a:rPr>
              <a:t>Tanpa Redis/Celery: hemat RAM; task &amp; dbt dijalankan scheduler.</a:t>
            </a:r>
            <a:endParaRPr lang="en-US" sz="1200" dirty="0"/>
          </a:p>
        </p:txBody>
      </p:sp>
      <p:sp>
        <p:nvSpPr>
          <p:cNvPr id="42" name="info card"/>
          <p:cNvSpPr/>
          <p:nvPr/>
        </p:nvSpPr>
        <p:spPr>
          <a:xfrm>
            <a:off x="8127797" y="3840480"/>
            <a:ext cx="3515258" cy="1143000"/>
          </a:xfrm>
          <a:prstGeom prst="roundRect">
            <a:avLst>
              <a:gd name="adj" fmla="val 6400"/>
            </a:avLst>
          </a:prstGeom>
          <a:solidFill>
            <a:schemeClr val="bg2"/>
          </a:solidFill>
          <a:ln/>
        </p:spPr>
      </p:sp>
      <p:sp>
        <p:nvSpPr>
          <p:cNvPr id="43" name="icon circle"/>
          <p:cNvSpPr/>
          <p:nvPr/>
        </p:nvSpPr>
        <p:spPr>
          <a:xfrm>
            <a:off x="8310677" y="4023360"/>
            <a:ext cx="347472" cy="347472"/>
          </a:xfrm>
          <a:prstGeom prst="ellipse">
            <a:avLst/>
          </a:prstGeom>
          <a:solidFill>
            <a:schemeClr val="accent1"/>
          </a:solidFill>
          <a:ln/>
        </p:spPr>
      </p:sp>
      <p:pic>
        <p:nvPicPr>
          <p:cNvPr id="44" name="icon" descr="preencoded.png">    </p:cNvPr>
          <p:cNvPicPr>
            <a:picLocks noChangeAspect="1"/>
          </p:cNvPicPr>
          <p:nvPr/>
        </p:nvPicPr>
        <p:blipFill>
          <a:blip r:embed="rId3"/>
          <a:stretch>
            <a:fillRect/>
          </a:stretch>
        </p:blipFill>
        <p:spPr>
          <a:xfrm>
            <a:off x="8394070" y="4106753"/>
            <a:ext cx="180685" cy="180685"/>
          </a:xfrm>
          <a:prstGeom prst="rect">
            <a:avLst/>
          </a:prstGeom>
        </p:spPr>
      </p:pic>
      <p:sp>
        <p:nvSpPr>
          <p:cNvPr id="45" name="Text 40"/>
          <p:cNvSpPr txBox="1"/>
          <p:nvPr/>
        </p:nvSpPr>
        <p:spPr>
          <a:xfrm>
            <a:off x="8749589" y="4023360"/>
            <a:ext cx="2710586" cy="347472"/>
          </a:xfrm>
          <a:prstGeom prst="rect">
            <a:avLst/>
          </a:prstGeom>
          <a:noFill/>
          <a:ln/>
        </p:spPr>
        <p:txBody>
          <a:bodyPr wrap="square" lIns="0" tIns="0" rIns="0" bIns="0" rtlCol="0" anchor="ctr"/>
          <a:lstStyle/>
          <a:p>
            <a:pPr indent="0" marL="0">
              <a:buNone/>
            </a:pPr>
            <a:r>
              <a:rPr lang="en-US" sz="1350" b="1" dirty="0">
                <a:solidFill>
                  <a:schemeClr val="tx1"/>
                </a:solidFill>
              </a:rPr>
              <a:t>dbt di venv terpisah</a:t>
            </a:r>
            <a:endParaRPr lang="en-US" sz="1350" dirty="0"/>
          </a:p>
        </p:txBody>
      </p:sp>
      <p:sp>
        <p:nvSpPr>
          <p:cNvPr id="46" name="Text 41"/>
          <p:cNvSpPr txBox="1"/>
          <p:nvPr/>
        </p:nvSpPr>
        <p:spPr>
          <a:xfrm>
            <a:off x="8310677" y="4480560"/>
            <a:ext cx="3149498" cy="411480"/>
          </a:xfrm>
          <a:prstGeom prst="rect">
            <a:avLst/>
          </a:prstGeom>
          <a:noFill/>
          <a:ln/>
        </p:spPr>
        <p:txBody>
          <a:bodyPr wrap="square" lIns="0" tIns="0" rIns="0" bIns="0" rtlCol="0" anchor="t"/>
          <a:lstStyle/>
          <a:p>
            <a:pPr indent="0" marL="0">
              <a:buNone/>
            </a:pPr>
            <a:r>
              <a:rPr lang="en-US" sz="1200" dirty="0">
                <a:solidFill>
                  <a:schemeClr val="tx1"/>
                </a:solidFill>
              </a:rPr>
              <a:t>Image Airflow custom: /opt/dbt_venv mencegah bentrok dependensi dbt ↔ Airflow.</a:t>
            </a:r>
            <a:endParaRPr lang="en-US" sz="1200" dirty="0"/>
          </a:p>
        </p:txBody>
      </p:sp>
      <p:sp>
        <p:nvSpPr>
          <p:cNvPr id="47" name="info card"/>
          <p:cNvSpPr/>
          <p:nvPr/>
        </p:nvSpPr>
        <p:spPr>
          <a:xfrm>
            <a:off x="548640" y="5093208"/>
            <a:ext cx="3515258" cy="1143000"/>
          </a:xfrm>
          <a:prstGeom prst="roundRect">
            <a:avLst>
              <a:gd name="adj" fmla="val 6400"/>
            </a:avLst>
          </a:prstGeom>
          <a:solidFill>
            <a:schemeClr val="bg2"/>
          </a:solidFill>
          <a:ln/>
        </p:spPr>
      </p:sp>
      <p:sp>
        <p:nvSpPr>
          <p:cNvPr id="48" name="icon circle"/>
          <p:cNvSpPr/>
          <p:nvPr/>
        </p:nvSpPr>
        <p:spPr>
          <a:xfrm>
            <a:off x="731520" y="5276088"/>
            <a:ext cx="347472" cy="347472"/>
          </a:xfrm>
          <a:prstGeom prst="ellipse">
            <a:avLst/>
          </a:prstGeom>
          <a:solidFill>
            <a:schemeClr val="accent1"/>
          </a:solidFill>
          <a:ln/>
        </p:spPr>
      </p:sp>
      <p:pic>
        <p:nvPicPr>
          <p:cNvPr id="49" name="icon" descr="preencoded.png">    </p:cNvPr>
          <p:cNvPicPr>
            <a:picLocks noChangeAspect="1"/>
          </p:cNvPicPr>
          <p:nvPr/>
        </p:nvPicPr>
        <p:blipFill>
          <a:blip r:embed="rId4"/>
          <a:stretch>
            <a:fillRect/>
          </a:stretch>
        </p:blipFill>
        <p:spPr>
          <a:xfrm>
            <a:off x="814913" y="5359481"/>
            <a:ext cx="180685" cy="180685"/>
          </a:xfrm>
          <a:prstGeom prst="rect">
            <a:avLst/>
          </a:prstGeom>
        </p:spPr>
      </p:pic>
      <p:sp>
        <p:nvSpPr>
          <p:cNvPr id="50" name="Text 44"/>
          <p:cNvSpPr txBox="1"/>
          <p:nvPr/>
        </p:nvSpPr>
        <p:spPr>
          <a:xfrm>
            <a:off x="1170432" y="5276088"/>
            <a:ext cx="2710586" cy="347472"/>
          </a:xfrm>
          <a:prstGeom prst="rect">
            <a:avLst/>
          </a:prstGeom>
          <a:noFill/>
          <a:ln/>
        </p:spPr>
        <p:txBody>
          <a:bodyPr wrap="square" lIns="0" tIns="0" rIns="0" bIns="0" rtlCol="0" anchor="ctr"/>
          <a:lstStyle/>
          <a:p>
            <a:pPr indent="0" marL="0">
              <a:buNone/>
            </a:pPr>
            <a:r>
              <a:rPr lang="en-US" sz="1350" b="1" dirty="0">
                <a:solidFill>
                  <a:schemeClr val="tx1"/>
                </a:solidFill>
              </a:rPr>
              <a:t>Ramah laptop</a:t>
            </a:r>
            <a:endParaRPr lang="en-US" sz="1350" dirty="0"/>
          </a:p>
        </p:txBody>
      </p:sp>
      <p:sp>
        <p:nvSpPr>
          <p:cNvPr id="51" name="Text 45"/>
          <p:cNvSpPr txBox="1"/>
          <p:nvPr/>
        </p:nvSpPr>
        <p:spPr>
          <a:xfrm>
            <a:off x="731520" y="5733288"/>
            <a:ext cx="3149498" cy="411480"/>
          </a:xfrm>
          <a:prstGeom prst="rect">
            <a:avLst/>
          </a:prstGeom>
          <a:noFill/>
          <a:ln/>
        </p:spPr>
        <p:txBody>
          <a:bodyPr wrap="square" lIns="0" tIns="0" rIns="0" bIns="0" rtlCol="0" anchor="t"/>
          <a:lstStyle/>
          <a:p>
            <a:pPr indent="0" marL="0">
              <a:buNone/>
            </a:pPr>
            <a:r>
              <a:rPr lang="en-US" sz="1200" dirty="0">
                <a:solidFill>
                  <a:schemeClr val="tx1"/>
                </a:solidFill>
              </a:rPr>
              <a:t>ClickHouse mem_limit 2g, cache diperkecil; 1 Postgres untuk 2 metadata DB.</a:t>
            </a:r>
            <a:endParaRPr lang="en-US" sz="1200" dirty="0"/>
          </a:p>
        </p:txBody>
      </p:sp>
      <p:sp>
        <p:nvSpPr>
          <p:cNvPr id="52" name="info card"/>
          <p:cNvSpPr/>
          <p:nvPr/>
        </p:nvSpPr>
        <p:spPr>
          <a:xfrm>
            <a:off x="4338218" y="5093208"/>
            <a:ext cx="3515258" cy="1143000"/>
          </a:xfrm>
          <a:prstGeom prst="roundRect">
            <a:avLst>
              <a:gd name="adj" fmla="val 6400"/>
            </a:avLst>
          </a:prstGeom>
          <a:solidFill>
            <a:schemeClr val="bg2"/>
          </a:solidFill>
          <a:ln/>
        </p:spPr>
      </p:sp>
      <p:sp>
        <p:nvSpPr>
          <p:cNvPr id="53" name="icon circle"/>
          <p:cNvSpPr/>
          <p:nvPr/>
        </p:nvSpPr>
        <p:spPr>
          <a:xfrm>
            <a:off x="4521098" y="5276088"/>
            <a:ext cx="347472" cy="347472"/>
          </a:xfrm>
          <a:prstGeom prst="ellipse">
            <a:avLst/>
          </a:prstGeom>
          <a:solidFill>
            <a:schemeClr val="accent1"/>
          </a:solidFill>
          <a:ln/>
        </p:spPr>
      </p:sp>
      <p:pic>
        <p:nvPicPr>
          <p:cNvPr id="54" name="icon" descr="preencoded.png">    </p:cNvPr>
          <p:cNvPicPr>
            <a:picLocks noChangeAspect="1"/>
          </p:cNvPicPr>
          <p:nvPr/>
        </p:nvPicPr>
        <p:blipFill>
          <a:blip r:embed="rId5"/>
          <a:stretch>
            <a:fillRect/>
          </a:stretch>
        </p:blipFill>
        <p:spPr>
          <a:xfrm>
            <a:off x="4604492" y="5359481"/>
            <a:ext cx="180685" cy="180685"/>
          </a:xfrm>
          <a:prstGeom prst="rect">
            <a:avLst/>
          </a:prstGeom>
        </p:spPr>
      </p:pic>
      <p:sp>
        <p:nvSpPr>
          <p:cNvPr id="55" name="Text 48"/>
          <p:cNvSpPr txBox="1"/>
          <p:nvPr/>
        </p:nvSpPr>
        <p:spPr>
          <a:xfrm>
            <a:off x="4960010" y="5276088"/>
            <a:ext cx="2710586" cy="347472"/>
          </a:xfrm>
          <a:prstGeom prst="rect">
            <a:avLst/>
          </a:prstGeom>
          <a:noFill/>
          <a:ln/>
        </p:spPr>
        <p:txBody>
          <a:bodyPr wrap="square" lIns="0" tIns="0" rIns="0" bIns="0" rtlCol="0" anchor="ctr"/>
          <a:lstStyle/>
          <a:p>
            <a:pPr indent="0" marL="0">
              <a:buNone/>
            </a:pPr>
            <a:r>
              <a:rPr lang="en-US" sz="1350" b="1" dirty="0">
                <a:solidFill>
                  <a:schemeClr val="tx1"/>
                </a:solidFill>
              </a:rPr>
              <a:t>Build sekali</a:t>
            </a:r>
            <a:endParaRPr lang="en-US" sz="1350" dirty="0"/>
          </a:p>
        </p:txBody>
      </p:sp>
      <p:sp>
        <p:nvSpPr>
          <p:cNvPr id="56" name="Text 49"/>
          <p:cNvSpPr txBox="1"/>
          <p:nvPr/>
        </p:nvSpPr>
        <p:spPr>
          <a:xfrm>
            <a:off x="4521098" y="5733288"/>
            <a:ext cx="3149498" cy="411480"/>
          </a:xfrm>
          <a:prstGeom prst="rect">
            <a:avLst/>
          </a:prstGeom>
          <a:noFill/>
          <a:ln/>
        </p:spPr>
        <p:txBody>
          <a:bodyPr wrap="square" lIns="0" tIns="0" rIns="0" bIns="0" rtlCol="0" anchor="t"/>
          <a:lstStyle/>
          <a:p>
            <a:pPr indent="0" marL="0">
              <a:buNone/>
            </a:pPr>
            <a:r>
              <a:rPr lang="en-US" sz="1200" dirty="0">
                <a:solidFill>
                  <a:schemeClr val="tx1"/>
                </a:solidFill>
              </a:rPr>
              <a:t>Image dibangun sekali oleh airflow-init; service lain pull_policy: never.</a:t>
            </a:r>
            <a:endParaRPr lang="en-US" sz="1200" dirty="0"/>
          </a:p>
        </p:txBody>
      </p:sp>
      <p:sp>
        <p:nvSpPr>
          <p:cNvPr id="57" name="info card"/>
          <p:cNvSpPr/>
          <p:nvPr/>
        </p:nvSpPr>
        <p:spPr>
          <a:xfrm>
            <a:off x="8127797" y="5093208"/>
            <a:ext cx="3515258" cy="1143000"/>
          </a:xfrm>
          <a:prstGeom prst="roundRect">
            <a:avLst>
              <a:gd name="adj" fmla="val 6400"/>
            </a:avLst>
          </a:prstGeom>
          <a:solidFill>
            <a:schemeClr val="bg2"/>
          </a:solidFill>
          <a:ln/>
        </p:spPr>
      </p:sp>
      <p:sp>
        <p:nvSpPr>
          <p:cNvPr id="58" name="icon circle"/>
          <p:cNvSpPr/>
          <p:nvPr/>
        </p:nvSpPr>
        <p:spPr>
          <a:xfrm>
            <a:off x="8310677" y="5276088"/>
            <a:ext cx="347472" cy="347472"/>
          </a:xfrm>
          <a:prstGeom prst="ellipse">
            <a:avLst/>
          </a:prstGeom>
          <a:solidFill>
            <a:schemeClr val="accent1"/>
          </a:solidFill>
          <a:ln/>
        </p:spPr>
      </p:sp>
      <p:pic>
        <p:nvPicPr>
          <p:cNvPr id="59" name="icon" descr="preencoded.png">    </p:cNvPr>
          <p:cNvPicPr>
            <a:picLocks noChangeAspect="1"/>
          </p:cNvPicPr>
          <p:nvPr/>
        </p:nvPicPr>
        <p:blipFill>
          <a:blip r:embed="rId6"/>
          <a:stretch>
            <a:fillRect/>
          </a:stretch>
        </p:blipFill>
        <p:spPr>
          <a:xfrm>
            <a:off x="8394070" y="5359481"/>
            <a:ext cx="180685" cy="180685"/>
          </a:xfrm>
          <a:prstGeom prst="rect">
            <a:avLst/>
          </a:prstGeom>
        </p:spPr>
      </p:pic>
      <p:sp>
        <p:nvSpPr>
          <p:cNvPr id="60" name="Text 52"/>
          <p:cNvSpPr txBox="1"/>
          <p:nvPr/>
        </p:nvSpPr>
        <p:spPr>
          <a:xfrm>
            <a:off x="8749589" y="5276088"/>
            <a:ext cx="2710586" cy="347472"/>
          </a:xfrm>
          <a:prstGeom prst="rect">
            <a:avLst/>
          </a:prstGeom>
          <a:noFill/>
          <a:ln/>
        </p:spPr>
        <p:txBody>
          <a:bodyPr wrap="square" lIns="0" tIns="0" rIns="0" bIns="0" rtlCol="0" anchor="ctr"/>
          <a:lstStyle/>
          <a:p>
            <a:pPr indent="0" marL="0">
              <a:buNone/>
            </a:pPr>
            <a:r>
              <a:rPr lang="en-US" sz="1350" b="1" dirty="0">
                <a:solidFill>
                  <a:schemeClr val="tx1"/>
                </a:solidFill>
              </a:rPr>
              <a:t>Siap jalan sendiri</a:t>
            </a:r>
            <a:endParaRPr lang="en-US" sz="1350" dirty="0"/>
          </a:p>
        </p:txBody>
      </p:sp>
      <p:sp>
        <p:nvSpPr>
          <p:cNvPr id="61" name="Text 53"/>
          <p:cNvSpPr txBox="1"/>
          <p:nvPr/>
        </p:nvSpPr>
        <p:spPr>
          <a:xfrm>
            <a:off x="8310677" y="5733288"/>
            <a:ext cx="3149498" cy="411480"/>
          </a:xfrm>
          <a:prstGeom prst="rect">
            <a:avLst/>
          </a:prstGeom>
          <a:noFill/>
          <a:ln/>
        </p:spPr>
        <p:txBody>
          <a:bodyPr wrap="square" lIns="0" tIns="0" rIns="0" bIns="0" rtlCol="0" anchor="t"/>
          <a:lstStyle/>
          <a:p>
            <a:pPr indent="0" marL="0">
              <a:buNone/>
            </a:pPr>
            <a:r>
              <a:rPr lang="en-US" sz="1200" dirty="0">
                <a:solidFill>
                  <a:schemeClr val="tx1"/>
                </a:solidFill>
              </a:rPr>
              <a:t>DAG aktif saat dibuat: run pertama otomatis setelah docker compose up -d --build.</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6 · ARSITEKTUR MEDALLION</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Medallion di ClickHouse: Bronze → Silver → Gold</a:t>
            </a:r>
            <a:endParaRPr lang="en-US" sz="3000" dirty="0"/>
          </a:p>
        </p:txBody>
      </p:sp>
      <p:sp>
        <p:nvSpPr>
          <p:cNvPr id="4" name="medallion layer"/>
          <p:cNvSpPr/>
          <p:nvPr/>
        </p:nvSpPr>
        <p:spPr>
          <a:xfrm>
            <a:off x="548640" y="1417320"/>
            <a:ext cx="3332378" cy="3429000"/>
          </a:xfrm>
          <a:prstGeom prst="roundRect">
            <a:avLst>
              <a:gd name="adj" fmla="val 2195"/>
            </a:avLst>
          </a:prstGeom>
          <a:solidFill>
            <a:schemeClr val="bg2"/>
          </a:solidFill>
          <a:ln/>
        </p:spPr>
      </p:sp>
      <p:sp>
        <p:nvSpPr>
          <p:cNvPr id="5" name="layer header"/>
          <p:cNvSpPr/>
          <p:nvPr/>
        </p:nvSpPr>
        <p:spPr>
          <a:xfrm>
            <a:off x="548640" y="1417320"/>
            <a:ext cx="3332378" cy="749808"/>
          </a:xfrm>
          <a:prstGeom prst="roundRect">
            <a:avLst>
              <a:gd name="adj" fmla="val 9756"/>
            </a:avLst>
          </a:prstGeom>
          <a:solidFill>
            <a:srgbClr val="F3E1CF"/>
          </a:solidFill>
          <a:ln/>
        </p:spPr>
      </p:sp>
      <p:sp>
        <p:nvSpPr>
          <p:cNvPr id="6" name="layer header base"/>
          <p:cNvSpPr/>
          <p:nvPr/>
        </p:nvSpPr>
        <p:spPr>
          <a:xfrm>
            <a:off x="548640" y="2057400"/>
            <a:ext cx="3332378" cy="109728"/>
          </a:xfrm>
          <a:prstGeom prst="rect">
            <a:avLst/>
          </a:prstGeom>
          <a:solidFill>
            <a:srgbClr val="F3E1CF"/>
          </a:solidFill>
          <a:ln/>
        </p:spPr>
      </p:sp>
      <p:sp>
        <p:nvSpPr>
          <p:cNvPr id="7" name="Text 5"/>
          <p:cNvSpPr txBox="1"/>
          <p:nvPr/>
        </p:nvSpPr>
        <p:spPr>
          <a:xfrm>
            <a:off x="749808" y="1527048"/>
            <a:ext cx="2930042" cy="292608"/>
          </a:xfrm>
          <a:prstGeom prst="rect">
            <a:avLst/>
          </a:prstGeom>
          <a:noFill/>
          <a:ln/>
        </p:spPr>
        <p:txBody>
          <a:bodyPr wrap="square" lIns="0" tIns="0" rIns="0" bIns="0" rtlCol="0" anchor="t"/>
          <a:lstStyle/>
          <a:p>
            <a:pPr indent="0" marL="0">
              <a:buNone/>
            </a:pPr>
            <a:r>
              <a:rPr lang="en-US" sz="1600" b="1" spc="200" kern="0" dirty="0">
                <a:solidFill>
                  <a:srgbClr val="8A4B1F"/>
                </a:solidFill>
                <a:latin typeface="Arial" pitchFamily="34" charset="0"/>
                <a:ea typeface="Arial" pitchFamily="34" charset="-122"/>
                <a:cs typeface="Arial" pitchFamily="34" charset="-120"/>
              </a:rPr>
              <a:t>BRONZE</a:t>
            </a:r>
            <a:endParaRPr lang="en-US" sz="1600" dirty="0"/>
          </a:p>
        </p:txBody>
      </p:sp>
      <p:sp>
        <p:nvSpPr>
          <p:cNvPr id="8" name="Text 6"/>
          <p:cNvSpPr txBox="1"/>
          <p:nvPr/>
        </p:nvSpPr>
        <p:spPr>
          <a:xfrm>
            <a:off x="749808" y="1828800"/>
            <a:ext cx="2930042" cy="274320"/>
          </a:xfrm>
          <a:prstGeom prst="rect">
            <a:avLst/>
          </a:prstGeom>
          <a:noFill/>
          <a:ln/>
        </p:spPr>
        <p:txBody>
          <a:bodyPr wrap="square" lIns="0" tIns="0" rIns="0" bIns="0" rtlCol="0" anchor="t"/>
          <a:lstStyle/>
          <a:p>
            <a:pPr indent="0" marL="0">
              <a:buNone/>
            </a:pPr>
            <a:r>
              <a:rPr lang="en-US" sz="1250" dirty="0">
                <a:solidFill>
                  <a:srgbClr val="4B5563"/>
                </a:solidFill>
              </a:rPr>
              <a:t>database </a:t>
            </a:r>
            <a:pPr indent="0" marL="0">
              <a:buNone/>
            </a:pPr>
            <a:r>
              <a:rPr lang="en-US" sz="1250" b="1" dirty="0">
                <a:solidFill>
                  <a:srgbClr val="1B1B1F"/>
                </a:solidFill>
                <a:latin typeface="Consolas" pitchFamily="34" charset="0"/>
                <a:ea typeface="Consolas" pitchFamily="34" charset="-122"/>
                <a:cs typeface="Consolas" pitchFamily="34" charset="-120"/>
              </a:rPr>
              <a:t>raw</a:t>
            </a:r>
            <a:endParaRPr lang="en-US" sz="1250" dirty="0"/>
          </a:p>
        </p:txBody>
      </p:sp>
      <p:sp>
        <p:nvSpPr>
          <p:cNvPr id="9" name="Text 7"/>
          <p:cNvSpPr txBox="1"/>
          <p:nvPr/>
        </p:nvSpPr>
        <p:spPr>
          <a:xfrm>
            <a:off x="749808" y="2286000"/>
            <a:ext cx="2930042" cy="274320"/>
          </a:xfrm>
          <a:prstGeom prst="rect">
            <a:avLst/>
          </a:prstGeom>
          <a:noFill/>
          <a:ln/>
        </p:spPr>
        <p:txBody>
          <a:bodyPr wrap="square" lIns="0" tIns="0" rIns="0" bIns="0" rtlCol="0" anchor="t"/>
          <a:lstStyle/>
          <a:p>
            <a:pPr indent="0" marL="0">
              <a:buNone/>
            </a:pPr>
            <a:r>
              <a:rPr lang="en-US" sz="1300" b="1" dirty="0">
                <a:solidFill>
                  <a:schemeClr val="tx1"/>
                </a:solidFill>
              </a:rPr>
              <a:t>Respons API apa adanya (JSON verbatim)</a:t>
            </a:r>
            <a:endParaRPr lang="en-US" sz="1300" dirty="0"/>
          </a:p>
        </p:txBody>
      </p:sp>
      <p:sp>
        <p:nvSpPr>
          <p:cNvPr id="10" name="Text 8"/>
          <p:cNvSpPr txBox="1"/>
          <p:nvPr/>
        </p:nvSpPr>
        <p:spPr>
          <a:xfrm>
            <a:off x="749808" y="2606040"/>
            <a:ext cx="2930042" cy="9144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spotify_search_responses</a:t>
            </a:r>
            <a:endParaRPr lang="en-US" sz="1050" dirty="0"/>
          </a:p>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spotify_track_responses</a:t>
            </a:r>
            <a:endParaRPr lang="en-US" sz="1050" dirty="0"/>
          </a:p>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youtube_search_responses</a:t>
            </a:r>
            <a:endParaRPr lang="en-US" sz="1050" dirty="0"/>
          </a:p>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youtube_video_responses</a:t>
            </a:r>
            <a:endParaRPr lang="en-US" sz="1050" dirty="0"/>
          </a:p>
        </p:txBody>
      </p:sp>
      <p:sp>
        <p:nvSpPr>
          <p:cNvPr id="11" name="Text 9"/>
          <p:cNvSpPr txBox="1"/>
          <p:nvPr/>
        </p:nvSpPr>
        <p:spPr>
          <a:xfrm>
            <a:off x="749808" y="3593592"/>
            <a:ext cx="2930042" cy="384048"/>
          </a:xfrm>
          <a:prstGeom prst="rect">
            <a:avLst/>
          </a:prstGeom>
          <a:noFill/>
          <a:ln/>
        </p:spPr>
        <p:txBody>
          <a:bodyPr wrap="square" lIns="0" tIns="0" rIns="0" bIns="0" rtlCol="0" anchor="t"/>
          <a:lstStyle/>
          <a:p>
            <a:pPr indent="0" marL="0">
              <a:buNone/>
            </a:pPr>
            <a:r>
              <a:rPr lang="en-US" sz="1150" b="1" dirty="0">
                <a:solidFill>
                  <a:srgbClr val="8A4B1F"/>
                </a:solidFill>
              </a:rPr>
              <a:t>Engine  </a:t>
            </a:r>
            <a:pPr indent="0" marL="0">
              <a:buNone/>
            </a:pPr>
            <a:r>
              <a:rPr lang="en-US" sz="1150" dirty="0">
                <a:solidFill>
                  <a:srgbClr val="1B1B1F"/>
                </a:solidFill>
              </a:rPr>
              <a:t>MergeTree append-only, ZSTD(3), partisi bulanan</a:t>
            </a:r>
            <a:endParaRPr lang="en-US" sz="1150" dirty="0"/>
          </a:p>
        </p:txBody>
      </p:sp>
      <p:sp>
        <p:nvSpPr>
          <p:cNvPr id="12" name="Text 10"/>
          <p:cNvSpPr txBox="1"/>
          <p:nvPr/>
        </p:nvSpPr>
        <p:spPr>
          <a:xfrm>
            <a:off x="749808" y="3995928"/>
            <a:ext cx="2930042" cy="384048"/>
          </a:xfrm>
          <a:prstGeom prst="rect">
            <a:avLst/>
          </a:prstGeom>
          <a:noFill/>
          <a:ln/>
        </p:spPr>
        <p:txBody>
          <a:bodyPr wrap="square" lIns="0" tIns="0" rIns="0" bIns="0" rtlCol="0" anchor="t"/>
          <a:lstStyle/>
          <a:p>
            <a:pPr indent="0" marL="0">
              <a:buNone/>
            </a:pPr>
            <a:r>
              <a:rPr lang="en-US" sz="1150" b="1" dirty="0">
                <a:solidFill>
                  <a:srgbClr val="8A4B1F"/>
                </a:solidFill>
              </a:rPr>
              <a:t>Ditulis  </a:t>
            </a:r>
            <a:pPr indent="0" marL="0">
              <a:buNone/>
            </a:pPr>
            <a:r>
              <a:rPr lang="en-US" sz="1150" dirty="0">
                <a:solidFill>
                  <a:srgbClr val="1B1B1F"/>
                </a:solidFill>
              </a:rPr>
              <a:t>extract_spotify, extract_youtube</a:t>
            </a:r>
            <a:endParaRPr lang="en-US" sz="1150" dirty="0"/>
          </a:p>
        </p:txBody>
      </p:sp>
      <p:sp>
        <p:nvSpPr>
          <p:cNvPr id="13" name="Text 11"/>
          <p:cNvSpPr txBox="1"/>
          <p:nvPr/>
        </p:nvSpPr>
        <p:spPr>
          <a:xfrm>
            <a:off x="749808" y="4398264"/>
            <a:ext cx="2930042" cy="384048"/>
          </a:xfrm>
          <a:prstGeom prst="rect">
            <a:avLst/>
          </a:prstGeom>
          <a:noFill/>
          <a:ln/>
        </p:spPr>
        <p:txBody>
          <a:bodyPr wrap="square" lIns="0" tIns="0" rIns="0" bIns="0" rtlCol="0" anchor="t"/>
          <a:lstStyle/>
          <a:p>
            <a:pPr indent="0" marL="0">
              <a:buNone/>
            </a:pPr>
            <a:r>
              <a:rPr lang="en-US" sz="1150" b="1" dirty="0">
                <a:solidFill>
                  <a:srgbClr val="8A4B1F"/>
                </a:solidFill>
              </a:rPr>
              <a:t>Nilai  </a:t>
            </a:r>
            <a:pPr indent="0" marL="0">
              <a:buNone/>
            </a:pPr>
            <a:r>
              <a:rPr lang="en-US" sz="1150" dirty="0">
                <a:solidFill>
                  <a:srgbClr val="1B1B1F"/>
                </a:solidFill>
              </a:rPr>
              <a:t>bug parsing → proses ulang tanpa memakai kuota</a:t>
            </a:r>
            <a:endParaRPr lang="en-US" sz="1150" dirty="0"/>
          </a:p>
        </p:txBody>
      </p:sp>
      <p:sp>
        <p:nvSpPr>
          <p:cNvPr id="14" name="layer arrow"/>
          <p:cNvSpPr/>
          <p:nvPr/>
        </p:nvSpPr>
        <p:spPr>
          <a:xfrm>
            <a:off x="3954170" y="2834640"/>
            <a:ext cx="402336" cy="457200"/>
          </a:xfrm>
          <a:prstGeom prst="rightArrow">
            <a:avLst/>
          </a:prstGeom>
          <a:solidFill>
            <a:srgbClr val="4B5563"/>
          </a:solidFill>
          <a:ln/>
        </p:spPr>
      </p:sp>
      <p:sp>
        <p:nvSpPr>
          <p:cNvPr id="15" name="Text 13"/>
          <p:cNvSpPr txBox="1"/>
          <p:nvPr/>
        </p:nvSpPr>
        <p:spPr>
          <a:xfrm>
            <a:off x="3881018" y="3337560"/>
            <a:ext cx="548640" cy="256032"/>
          </a:xfrm>
          <a:prstGeom prst="rect">
            <a:avLst/>
          </a:prstGeom>
          <a:noFill/>
          <a:ln/>
        </p:spPr>
        <p:txBody>
          <a:bodyPr wrap="square" lIns="0" tIns="0" rIns="0" bIns="0" rtlCol="0" anchor="t"/>
          <a:lstStyle/>
          <a:p>
            <a:pPr algn="ctr" indent="0" marL="0">
              <a:buNone/>
            </a:pPr>
            <a:r>
              <a:rPr lang="en-US" sz="1100" b="1" dirty="0">
                <a:solidFill>
                  <a:schemeClr val="accent1"/>
                </a:solidFill>
              </a:rPr>
              <a:t>pandas</a:t>
            </a:r>
            <a:endParaRPr lang="en-US" sz="1100" dirty="0"/>
          </a:p>
        </p:txBody>
      </p:sp>
      <p:sp>
        <p:nvSpPr>
          <p:cNvPr id="16" name="medallion layer"/>
          <p:cNvSpPr/>
          <p:nvPr/>
        </p:nvSpPr>
        <p:spPr>
          <a:xfrm>
            <a:off x="4429658" y="1417320"/>
            <a:ext cx="3332378" cy="3429000"/>
          </a:xfrm>
          <a:prstGeom prst="roundRect">
            <a:avLst>
              <a:gd name="adj" fmla="val 2195"/>
            </a:avLst>
          </a:prstGeom>
          <a:solidFill>
            <a:schemeClr val="bg2"/>
          </a:solidFill>
          <a:ln/>
        </p:spPr>
      </p:sp>
      <p:sp>
        <p:nvSpPr>
          <p:cNvPr id="17" name="layer header"/>
          <p:cNvSpPr/>
          <p:nvPr/>
        </p:nvSpPr>
        <p:spPr>
          <a:xfrm>
            <a:off x="4429658" y="1417320"/>
            <a:ext cx="3332378" cy="749808"/>
          </a:xfrm>
          <a:prstGeom prst="roundRect">
            <a:avLst>
              <a:gd name="adj" fmla="val 9756"/>
            </a:avLst>
          </a:prstGeom>
          <a:solidFill>
            <a:srgbClr val="E5E7EB"/>
          </a:solidFill>
          <a:ln/>
        </p:spPr>
      </p:sp>
      <p:sp>
        <p:nvSpPr>
          <p:cNvPr id="18" name="layer header base"/>
          <p:cNvSpPr/>
          <p:nvPr/>
        </p:nvSpPr>
        <p:spPr>
          <a:xfrm>
            <a:off x="4429658" y="2057400"/>
            <a:ext cx="3332378" cy="109728"/>
          </a:xfrm>
          <a:prstGeom prst="rect">
            <a:avLst/>
          </a:prstGeom>
          <a:solidFill>
            <a:srgbClr val="E5E7EB"/>
          </a:solidFill>
          <a:ln/>
        </p:spPr>
      </p:sp>
      <p:sp>
        <p:nvSpPr>
          <p:cNvPr id="19" name="Text 17"/>
          <p:cNvSpPr txBox="1"/>
          <p:nvPr/>
        </p:nvSpPr>
        <p:spPr>
          <a:xfrm>
            <a:off x="4630826" y="1527048"/>
            <a:ext cx="2930042" cy="292608"/>
          </a:xfrm>
          <a:prstGeom prst="rect">
            <a:avLst/>
          </a:prstGeom>
          <a:noFill/>
          <a:ln/>
        </p:spPr>
        <p:txBody>
          <a:bodyPr wrap="square" lIns="0" tIns="0" rIns="0" bIns="0" rtlCol="0" anchor="t"/>
          <a:lstStyle/>
          <a:p>
            <a:pPr indent="0" marL="0">
              <a:buNone/>
            </a:pPr>
            <a:r>
              <a:rPr lang="en-US" sz="1600" b="1" spc="200" kern="0" dirty="0">
                <a:solidFill>
                  <a:srgbClr val="374151"/>
                </a:solidFill>
                <a:latin typeface="Arial" pitchFamily="34" charset="0"/>
                <a:ea typeface="Arial" pitchFamily="34" charset="-122"/>
                <a:cs typeface="Arial" pitchFamily="34" charset="-120"/>
              </a:rPr>
              <a:t>SILVER</a:t>
            </a:r>
            <a:endParaRPr lang="en-US" sz="1600" dirty="0"/>
          </a:p>
        </p:txBody>
      </p:sp>
      <p:sp>
        <p:nvSpPr>
          <p:cNvPr id="20" name="Text 18"/>
          <p:cNvSpPr txBox="1"/>
          <p:nvPr/>
        </p:nvSpPr>
        <p:spPr>
          <a:xfrm>
            <a:off x="4630826" y="1828800"/>
            <a:ext cx="2930042" cy="274320"/>
          </a:xfrm>
          <a:prstGeom prst="rect">
            <a:avLst/>
          </a:prstGeom>
          <a:noFill/>
          <a:ln/>
        </p:spPr>
        <p:txBody>
          <a:bodyPr wrap="square" lIns="0" tIns="0" rIns="0" bIns="0" rtlCol="0" anchor="t"/>
          <a:lstStyle/>
          <a:p>
            <a:pPr indent="0" marL="0">
              <a:buNone/>
            </a:pPr>
            <a:r>
              <a:rPr lang="en-US" sz="1250" dirty="0">
                <a:solidFill>
                  <a:srgbClr val="4B5563"/>
                </a:solidFill>
              </a:rPr>
              <a:t>database </a:t>
            </a:r>
            <a:pPr indent="0" marL="0">
              <a:buNone/>
            </a:pPr>
            <a:r>
              <a:rPr lang="en-US" sz="1250" b="1" dirty="0">
                <a:solidFill>
                  <a:srgbClr val="1B1B1F"/>
                </a:solidFill>
                <a:latin typeface="Consolas" pitchFamily="34" charset="0"/>
                <a:ea typeface="Consolas" pitchFamily="34" charset="-122"/>
                <a:cs typeface="Consolas" pitchFamily="34" charset="-120"/>
              </a:rPr>
              <a:t>clean</a:t>
            </a:r>
            <a:endParaRPr lang="en-US" sz="1250" dirty="0"/>
          </a:p>
        </p:txBody>
      </p:sp>
      <p:sp>
        <p:nvSpPr>
          <p:cNvPr id="21" name="Text 19"/>
          <p:cNvSpPr txBox="1"/>
          <p:nvPr/>
        </p:nvSpPr>
        <p:spPr>
          <a:xfrm>
            <a:off x="4630826" y="2286000"/>
            <a:ext cx="2930042" cy="274320"/>
          </a:xfrm>
          <a:prstGeom prst="rect">
            <a:avLst/>
          </a:prstGeom>
          <a:noFill/>
          <a:ln/>
        </p:spPr>
        <p:txBody>
          <a:bodyPr wrap="square" lIns="0" tIns="0" rIns="0" bIns="0" rtlCol="0" anchor="t"/>
          <a:lstStyle/>
          <a:p>
            <a:pPr indent="0" marL="0">
              <a:buNone/>
            </a:pPr>
            <a:r>
              <a:rPr lang="en-US" sz="1300" b="1" dirty="0">
                <a:solidFill>
                  <a:schemeClr val="tx1"/>
                </a:solidFill>
              </a:rPr>
              <a:t>Data tervalidasi, terstandar, unik</a:t>
            </a:r>
            <a:endParaRPr lang="en-US" sz="1300" dirty="0"/>
          </a:p>
        </p:txBody>
      </p:sp>
      <p:sp>
        <p:nvSpPr>
          <p:cNvPr id="22" name="Text 20"/>
          <p:cNvSpPr txBox="1"/>
          <p:nvPr/>
        </p:nvSpPr>
        <p:spPr>
          <a:xfrm>
            <a:off x="4630826" y="2606040"/>
            <a:ext cx="2930042" cy="9144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catalog_songs · spotify_tracks · youtube_videos (SCD2)</a:t>
            </a:r>
            <a:endParaRPr lang="en-US" sz="1050" dirty="0"/>
          </a:p>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spotify_searches · youtube_searches</a:t>
            </a:r>
            <a:endParaRPr lang="en-US" sz="1050" dirty="0"/>
          </a:p>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spotify_search_hits · youtube_search_hits</a:t>
            </a:r>
            <a:endParaRPr lang="en-US" sz="1050" dirty="0"/>
          </a:p>
        </p:txBody>
      </p:sp>
      <p:sp>
        <p:nvSpPr>
          <p:cNvPr id="23" name="Text 21"/>
          <p:cNvSpPr txBox="1"/>
          <p:nvPr/>
        </p:nvSpPr>
        <p:spPr>
          <a:xfrm>
            <a:off x="4630826" y="3593592"/>
            <a:ext cx="2930042" cy="384048"/>
          </a:xfrm>
          <a:prstGeom prst="rect">
            <a:avLst/>
          </a:prstGeom>
          <a:noFill/>
          <a:ln/>
        </p:spPr>
        <p:txBody>
          <a:bodyPr wrap="square" lIns="0" tIns="0" rIns="0" bIns="0" rtlCol="0" anchor="t"/>
          <a:lstStyle/>
          <a:p>
            <a:pPr indent="0" marL="0">
              <a:buNone/>
            </a:pPr>
            <a:r>
              <a:rPr lang="en-US" sz="1150" b="1" dirty="0">
                <a:solidFill>
                  <a:srgbClr val="374151"/>
                </a:solidFill>
              </a:rPr>
              <a:t>Engine  </a:t>
            </a:r>
            <a:pPr indent="0" marL="0">
              <a:buNone/>
            </a:pPr>
            <a:r>
              <a:rPr lang="en-US" sz="1150" dirty="0">
                <a:solidFill>
                  <a:srgbClr val="1B1B1F"/>
                </a:solidFill>
              </a:rPr>
              <a:t>ReplacingMergeTree(updated_at) → upsert, baca FINAL</a:t>
            </a:r>
            <a:endParaRPr lang="en-US" sz="1150" dirty="0"/>
          </a:p>
        </p:txBody>
      </p:sp>
      <p:sp>
        <p:nvSpPr>
          <p:cNvPr id="24" name="Text 22"/>
          <p:cNvSpPr txBox="1"/>
          <p:nvPr/>
        </p:nvSpPr>
        <p:spPr>
          <a:xfrm>
            <a:off x="4630826" y="3995928"/>
            <a:ext cx="2930042" cy="384048"/>
          </a:xfrm>
          <a:prstGeom prst="rect">
            <a:avLst/>
          </a:prstGeom>
          <a:noFill/>
          <a:ln/>
        </p:spPr>
        <p:txBody>
          <a:bodyPr wrap="square" lIns="0" tIns="0" rIns="0" bIns="0" rtlCol="0" anchor="t"/>
          <a:lstStyle/>
          <a:p>
            <a:pPr indent="0" marL="0">
              <a:buNone/>
            </a:pPr>
            <a:r>
              <a:rPr lang="en-US" sz="1150" b="1" dirty="0">
                <a:solidFill>
                  <a:srgbClr val="374151"/>
                </a:solidFill>
              </a:rPr>
              <a:t>Ditulis  </a:t>
            </a:r>
            <a:pPr indent="0" marL="0">
              <a:buNone/>
            </a:pPr>
            <a:r>
              <a:rPr lang="en-US" sz="1150" dirty="0">
                <a:solidFill>
                  <a:srgbClr val="1B1B1F"/>
                </a:solidFill>
              </a:rPr>
              <a:t>load_catalog, preprocess_* (pandas)</a:t>
            </a:r>
            <a:endParaRPr lang="en-US" sz="1150" dirty="0"/>
          </a:p>
        </p:txBody>
      </p:sp>
      <p:sp>
        <p:nvSpPr>
          <p:cNvPr id="25" name="Text 23"/>
          <p:cNvSpPr txBox="1"/>
          <p:nvPr/>
        </p:nvSpPr>
        <p:spPr>
          <a:xfrm>
            <a:off x="4630826" y="4398264"/>
            <a:ext cx="2930042" cy="384048"/>
          </a:xfrm>
          <a:prstGeom prst="rect">
            <a:avLst/>
          </a:prstGeom>
          <a:noFill/>
          <a:ln/>
        </p:spPr>
        <p:txBody>
          <a:bodyPr wrap="square" lIns="0" tIns="0" rIns="0" bIns="0" rtlCol="0" anchor="t"/>
          <a:lstStyle/>
          <a:p>
            <a:pPr indent="0" marL="0">
              <a:buNone/>
            </a:pPr>
            <a:r>
              <a:rPr lang="en-US" sz="1150" b="1" dirty="0">
                <a:solidFill>
                  <a:srgbClr val="374151"/>
                </a:solidFill>
              </a:rPr>
              <a:t>Nilai  </a:t>
            </a:r>
            <a:pPr indent="0" marL="0">
              <a:buNone/>
            </a:pPr>
            <a:r>
              <a:rPr lang="en-US" sz="1150" dirty="0">
                <a:solidFill>
                  <a:srgbClr val="1B1B1F"/>
                </a:solidFill>
              </a:rPr>
              <a:t>satu kebenaran bersih + histori perubahan</a:t>
            </a:r>
            <a:endParaRPr lang="en-US" sz="1150" dirty="0"/>
          </a:p>
        </p:txBody>
      </p:sp>
      <p:sp>
        <p:nvSpPr>
          <p:cNvPr id="26" name="layer arrow"/>
          <p:cNvSpPr/>
          <p:nvPr/>
        </p:nvSpPr>
        <p:spPr>
          <a:xfrm>
            <a:off x="7835189" y="2834640"/>
            <a:ext cx="402336" cy="457200"/>
          </a:xfrm>
          <a:prstGeom prst="rightArrow">
            <a:avLst/>
          </a:prstGeom>
          <a:solidFill>
            <a:srgbClr val="4B5563"/>
          </a:solidFill>
          <a:ln/>
        </p:spPr>
      </p:sp>
      <p:sp>
        <p:nvSpPr>
          <p:cNvPr id="27" name="Text 25"/>
          <p:cNvSpPr txBox="1"/>
          <p:nvPr/>
        </p:nvSpPr>
        <p:spPr>
          <a:xfrm>
            <a:off x="7762037" y="3337560"/>
            <a:ext cx="548640" cy="256032"/>
          </a:xfrm>
          <a:prstGeom prst="rect">
            <a:avLst/>
          </a:prstGeom>
          <a:noFill/>
          <a:ln/>
        </p:spPr>
        <p:txBody>
          <a:bodyPr wrap="square" lIns="0" tIns="0" rIns="0" bIns="0" rtlCol="0" anchor="t"/>
          <a:lstStyle/>
          <a:p>
            <a:pPr algn="ctr" indent="0" marL="0">
              <a:buNone/>
            </a:pPr>
            <a:r>
              <a:rPr lang="en-US" sz="1100" b="1" dirty="0">
                <a:solidFill>
                  <a:schemeClr val="accent1"/>
                </a:solidFill>
              </a:rPr>
              <a:t>dbt</a:t>
            </a:r>
            <a:endParaRPr lang="en-US" sz="1100" dirty="0"/>
          </a:p>
        </p:txBody>
      </p:sp>
      <p:sp>
        <p:nvSpPr>
          <p:cNvPr id="28" name="medallion layer"/>
          <p:cNvSpPr/>
          <p:nvPr/>
        </p:nvSpPr>
        <p:spPr>
          <a:xfrm>
            <a:off x="8310677" y="1417320"/>
            <a:ext cx="3332378" cy="3429000"/>
          </a:xfrm>
          <a:prstGeom prst="roundRect">
            <a:avLst>
              <a:gd name="adj" fmla="val 2195"/>
            </a:avLst>
          </a:prstGeom>
          <a:solidFill>
            <a:schemeClr val="bg2"/>
          </a:solidFill>
          <a:ln/>
        </p:spPr>
      </p:sp>
      <p:sp>
        <p:nvSpPr>
          <p:cNvPr id="29" name="layer header"/>
          <p:cNvSpPr/>
          <p:nvPr/>
        </p:nvSpPr>
        <p:spPr>
          <a:xfrm>
            <a:off x="8310677" y="1417320"/>
            <a:ext cx="3332378" cy="749808"/>
          </a:xfrm>
          <a:prstGeom prst="roundRect">
            <a:avLst>
              <a:gd name="adj" fmla="val 9756"/>
            </a:avLst>
          </a:prstGeom>
          <a:solidFill>
            <a:srgbClr val="FBEFC7"/>
          </a:solidFill>
          <a:ln/>
        </p:spPr>
      </p:sp>
      <p:sp>
        <p:nvSpPr>
          <p:cNvPr id="30" name="layer header base"/>
          <p:cNvSpPr/>
          <p:nvPr/>
        </p:nvSpPr>
        <p:spPr>
          <a:xfrm>
            <a:off x="8310677" y="2057400"/>
            <a:ext cx="3332378" cy="109728"/>
          </a:xfrm>
          <a:prstGeom prst="rect">
            <a:avLst/>
          </a:prstGeom>
          <a:solidFill>
            <a:srgbClr val="FBEFC7"/>
          </a:solidFill>
          <a:ln/>
        </p:spPr>
      </p:sp>
      <p:sp>
        <p:nvSpPr>
          <p:cNvPr id="31" name="Text 29"/>
          <p:cNvSpPr txBox="1"/>
          <p:nvPr/>
        </p:nvSpPr>
        <p:spPr>
          <a:xfrm>
            <a:off x="8511845" y="1527048"/>
            <a:ext cx="2930042" cy="292608"/>
          </a:xfrm>
          <a:prstGeom prst="rect">
            <a:avLst/>
          </a:prstGeom>
          <a:noFill/>
          <a:ln/>
        </p:spPr>
        <p:txBody>
          <a:bodyPr wrap="square" lIns="0" tIns="0" rIns="0" bIns="0" rtlCol="0" anchor="t"/>
          <a:lstStyle/>
          <a:p>
            <a:pPr indent="0" marL="0">
              <a:buNone/>
            </a:pPr>
            <a:r>
              <a:rPr lang="en-US" sz="1600" b="1" spc="200" kern="0" dirty="0">
                <a:solidFill>
                  <a:srgbClr val="8A6100"/>
                </a:solidFill>
                <a:latin typeface="Arial" pitchFamily="34" charset="0"/>
                <a:ea typeface="Arial" pitchFamily="34" charset="-122"/>
                <a:cs typeface="Arial" pitchFamily="34" charset="-120"/>
              </a:rPr>
              <a:t>GOLD</a:t>
            </a:r>
            <a:endParaRPr lang="en-US" sz="1600" dirty="0"/>
          </a:p>
        </p:txBody>
      </p:sp>
      <p:sp>
        <p:nvSpPr>
          <p:cNvPr id="32" name="Text 30"/>
          <p:cNvSpPr txBox="1"/>
          <p:nvPr/>
        </p:nvSpPr>
        <p:spPr>
          <a:xfrm>
            <a:off x="8511845" y="1828800"/>
            <a:ext cx="2930042" cy="274320"/>
          </a:xfrm>
          <a:prstGeom prst="rect">
            <a:avLst/>
          </a:prstGeom>
          <a:noFill/>
          <a:ln/>
        </p:spPr>
        <p:txBody>
          <a:bodyPr wrap="square" lIns="0" tIns="0" rIns="0" bIns="0" rtlCol="0" anchor="t"/>
          <a:lstStyle/>
          <a:p>
            <a:pPr indent="0" marL="0">
              <a:buNone/>
            </a:pPr>
            <a:r>
              <a:rPr lang="en-US" sz="1250" dirty="0">
                <a:solidFill>
                  <a:srgbClr val="4B5563"/>
                </a:solidFill>
              </a:rPr>
              <a:t>database </a:t>
            </a:r>
            <a:pPr indent="0" marL="0">
              <a:buNone/>
            </a:pPr>
            <a:r>
              <a:rPr lang="en-US" sz="1250" b="1" dirty="0">
                <a:solidFill>
                  <a:srgbClr val="1B1B1F"/>
                </a:solidFill>
                <a:latin typeface="Consolas" pitchFamily="34" charset="0"/>
                <a:ea typeface="Consolas" pitchFamily="34" charset="-122"/>
                <a:cs typeface="Consolas" pitchFamily="34" charset="-120"/>
              </a:rPr>
              <a:t>marts</a:t>
            </a:r>
            <a:endParaRPr lang="en-US" sz="1250" dirty="0"/>
          </a:p>
        </p:txBody>
      </p:sp>
      <p:sp>
        <p:nvSpPr>
          <p:cNvPr id="33" name="Text 31"/>
          <p:cNvSpPr txBox="1"/>
          <p:nvPr/>
        </p:nvSpPr>
        <p:spPr>
          <a:xfrm>
            <a:off x="8511845" y="2286000"/>
            <a:ext cx="2930042" cy="274320"/>
          </a:xfrm>
          <a:prstGeom prst="rect">
            <a:avLst/>
          </a:prstGeom>
          <a:noFill/>
          <a:ln/>
        </p:spPr>
        <p:txBody>
          <a:bodyPr wrap="square" lIns="0" tIns="0" rIns="0" bIns="0" rtlCol="0" anchor="t"/>
          <a:lstStyle/>
          <a:p>
            <a:pPr indent="0" marL="0">
              <a:buNone/>
            </a:pPr>
            <a:r>
              <a:rPr lang="en-US" sz="1300" b="1" dirty="0">
                <a:solidFill>
                  <a:schemeClr val="tx1"/>
                </a:solidFill>
              </a:rPr>
              <a:t>Model dimensional siap analisis</a:t>
            </a:r>
            <a:endParaRPr lang="en-US" sz="1300" dirty="0"/>
          </a:p>
        </p:txBody>
      </p:sp>
      <p:sp>
        <p:nvSpPr>
          <p:cNvPr id="34" name="Text 32"/>
          <p:cNvSpPr txBox="1"/>
          <p:nvPr/>
        </p:nvSpPr>
        <p:spPr>
          <a:xfrm>
            <a:off x="8511845" y="2606040"/>
            <a:ext cx="2930042" cy="9144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5 dim · 2 bridge · 3 history</a:t>
            </a:r>
            <a:endParaRPr lang="en-US" sz="1050" dirty="0"/>
          </a:p>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3 mart jawaban (mart_song_overview)</a:t>
            </a:r>
            <a:endParaRPr lang="en-US" sz="1050" dirty="0"/>
          </a:p>
          <a:p>
            <a:pPr marL="152400" indent="-152400">
              <a:spcAft>
                <a:spcPts val="300"/>
              </a:spcAft>
              <a:buSzPct val="100000"/>
              <a:buChar char="•"/>
            </a:pPr>
            <a:r>
              <a:rPr lang="en-US" sz="1050" dirty="0">
                <a:solidFill>
                  <a:srgbClr val="1B1B1F"/>
                </a:solidFill>
                <a:latin typeface="Consolas" pitchFamily="34" charset="0"/>
                <a:ea typeface="Consolas" pitchFamily="34" charset="-122"/>
                <a:cs typeface="Consolas" pitchFamily="34" charset="-120"/>
              </a:rPr>
              <a:t>6 monitoring (view atas ops &amp; dq)</a:t>
            </a:r>
            <a:endParaRPr lang="en-US" sz="1050" dirty="0"/>
          </a:p>
        </p:txBody>
      </p:sp>
      <p:sp>
        <p:nvSpPr>
          <p:cNvPr id="35" name="Text 33"/>
          <p:cNvSpPr txBox="1"/>
          <p:nvPr/>
        </p:nvSpPr>
        <p:spPr>
          <a:xfrm>
            <a:off x="8511845" y="3593592"/>
            <a:ext cx="2930042" cy="384048"/>
          </a:xfrm>
          <a:prstGeom prst="rect">
            <a:avLst/>
          </a:prstGeom>
          <a:noFill/>
          <a:ln/>
        </p:spPr>
        <p:txBody>
          <a:bodyPr wrap="square" lIns="0" tIns="0" rIns="0" bIns="0" rtlCol="0" anchor="t"/>
          <a:lstStyle/>
          <a:p>
            <a:pPr indent="0" marL="0">
              <a:buNone/>
            </a:pPr>
            <a:r>
              <a:rPr lang="en-US" sz="1150" b="1" dirty="0">
                <a:solidFill>
                  <a:srgbClr val="8A6100"/>
                </a:solidFill>
              </a:rPr>
              <a:t>Engine  </a:t>
            </a:r>
            <a:pPr indent="0" marL="0">
              <a:buNone/>
            </a:pPr>
            <a:r>
              <a:rPr lang="en-US" sz="1150" dirty="0">
                <a:solidFill>
                  <a:srgbClr val="1B1B1F"/>
                </a:solidFill>
              </a:rPr>
              <a:t>MergeTree, swap atomik (EXCHANGE TABLES)</a:t>
            </a:r>
            <a:endParaRPr lang="en-US" sz="1150" dirty="0"/>
          </a:p>
        </p:txBody>
      </p:sp>
      <p:sp>
        <p:nvSpPr>
          <p:cNvPr id="36" name="Text 34"/>
          <p:cNvSpPr txBox="1"/>
          <p:nvPr/>
        </p:nvSpPr>
        <p:spPr>
          <a:xfrm>
            <a:off x="8511845" y="3995928"/>
            <a:ext cx="2930042" cy="384048"/>
          </a:xfrm>
          <a:prstGeom prst="rect">
            <a:avLst/>
          </a:prstGeom>
          <a:noFill/>
          <a:ln/>
        </p:spPr>
        <p:txBody>
          <a:bodyPr wrap="square" lIns="0" tIns="0" rIns="0" bIns="0" rtlCol="0" anchor="t"/>
          <a:lstStyle/>
          <a:p>
            <a:pPr indent="0" marL="0">
              <a:buNone/>
            </a:pPr>
            <a:r>
              <a:rPr lang="en-US" sz="1150" b="1" dirty="0">
                <a:solidFill>
                  <a:srgbClr val="8A6100"/>
                </a:solidFill>
              </a:rPr>
              <a:t>Ditulis  </a:t>
            </a:r>
            <a:pPr indent="0" marL="0">
              <a:buNone/>
            </a:pPr>
            <a:r>
              <a:rPr lang="en-US" sz="1150" dirty="0">
                <a:solidFill>
                  <a:srgbClr val="1B1B1F"/>
                </a:solidFill>
              </a:rPr>
              <a:t>dbt via staging &amp; intermediate</a:t>
            </a:r>
            <a:endParaRPr lang="en-US" sz="1150" dirty="0"/>
          </a:p>
        </p:txBody>
      </p:sp>
      <p:sp>
        <p:nvSpPr>
          <p:cNvPr id="37" name="Text 35"/>
          <p:cNvSpPr txBox="1"/>
          <p:nvPr/>
        </p:nvSpPr>
        <p:spPr>
          <a:xfrm>
            <a:off x="8511845" y="4398264"/>
            <a:ext cx="2930042" cy="384048"/>
          </a:xfrm>
          <a:prstGeom prst="rect">
            <a:avLst/>
          </a:prstGeom>
          <a:noFill/>
          <a:ln/>
        </p:spPr>
        <p:txBody>
          <a:bodyPr wrap="square" lIns="0" tIns="0" rIns="0" bIns="0" rtlCol="0" anchor="t"/>
          <a:lstStyle/>
          <a:p>
            <a:pPr indent="0" marL="0">
              <a:buNone/>
            </a:pPr>
            <a:r>
              <a:rPr lang="en-US" sz="1150" b="1" dirty="0">
                <a:solidFill>
                  <a:srgbClr val="8A6100"/>
                </a:solidFill>
              </a:rPr>
              <a:t>Dibaca  </a:t>
            </a:r>
            <a:pPr indent="0" marL="0">
              <a:buNone/>
            </a:pPr>
            <a:r>
              <a:rPr lang="en-US" sz="1150" dirty="0">
                <a:solidFill>
                  <a:srgbClr val="1B1B1F"/>
                </a:solidFill>
              </a:rPr>
              <a:t>Superset &amp; analis (superset_ro)</a:t>
            </a:r>
            <a:endParaRPr lang="en-US" sz="1150" dirty="0"/>
          </a:p>
        </p:txBody>
      </p:sp>
      <p:sp>
        <p:nvSpPr>
          <p:cNvPr id="38" name="info card"/>
          <p:cNvSpPr/>
          <p:nvPr/>
        </p:nvSpPr>
        <p:spPr>
          <a:xfrm>
            <a:off x="548640" y="5074920"/>
            <a:ext cx="3515258" cy="1188720"/>
          </a:xfrm>
          <a:prstGeom prst="roundRect">
            <a:avLst>
              <a:gd name="adj" fmla="val 6154"/>
            </a:avLst>
          </a:prstGeom>
          <a:solidFill>
            <a:srgbClr val="FFF7E6"/>
          </a:solidFill>
          <a:ln/>
        </p:spPr>
      </p:sp>
      <p:sp>
        <p:nvSpPr>
          <p:cNvPr id="39" name="icon circle"/>
          <p:cNvSpPr/>
          <p:nvPr/>
        </p:nvSpPr>
        <p:spPr>
          <a:xfrm>
            <a:off x="731520" y="5257800"/>
            <a:ext cx="329184" cy="329184"/>
          </a:xfrm>
          <a:prstGeom prst="ellipse">
            <a:avLst/>
          </a:prstGeom>
          <a:solidFill>
            <a:srgbClr val="F2A900"/>
          </a:solidFill>
          <a:ln/>
        </p:spPr>
      </p:sp>
      <p:pic>
        <p:nvPicPr>
          <p:cNvPr id="40" name="icon" descr="preencoded.png">    </p:cNvPr>
          <p:cNvPicPr>
            <a:picLocks noChangeAspect="1"/>
          </p:cNvPicPr>
          <p:nvPr/>
        </p:nvPicPr>
        <p:blipFill>
          <a:blip r:embed="rId1"/>
          <a:stretch>
            <a:fillRect/>
          </a:stretch>
        </p:blipFill>
        <p:spPr>
          <a:xfrm>
            <a:off x="810524" y="5336804"/>
            <a:ext cx="171176" cy="171176"/>
          </a:xfrm>
          <a:prstGeom prst="rect">
            <a:avLst/>
          </a:prstGeom>
        </p:spPr>
      </p:pic>
      <p:sp>
        <p:nvSpPr>
          <p:cNvPr id="41" name="Text 38"/>
          <p:cNvSpPr txBox="1"/>
          <p:nvPr/>
        </p:nvSpPr>
        <p:spPr>
          <a:xfrm>
            <a:off x="1152144" y="5257800"/>
            <a:ext cx="2728874" cy="329184"/>
          </a:xfrm>
          <a:prstGeom prst="rect">
            <a:avLst/>
          </a:prstGeom>
          <a:noFill/>
          <a:ln/>
        </p:spPr>
        <p:txBody>
          <a:bodyPr wrap="square" lIns="0" tIns="0" rIns="0" bIns="0" rtlCol="0" anchor="ctr"/>
          <a:lstStyle/>
          <a:p>
            <a:pPr indent="0" marL="0">
              <a:buNone/>
            </a:pPr>
            <a:r>
              <a:rPr lang="en-US" sz="1300" b="1" dirty="0">
                <a:solidFill>
                  <a:schemeClr val="tx1"/>
                </a:solidFill>
              </a:rPr>
              <a:t>dq · karantina</a:t>
            </a:r>
            <a:endParaRPr lang="en-US" sz="1300" dirty="0"/>
          </a:p>
        </p:txBody>
      </p:sp>
      <p:sp>
        <p:nvSpPr>
          <p:cNvPr id="42" name="Text 39"/>
          <p:cNvSpPr txBox="1"/>
          <p:nvPr/>
        </p:nvSpPr>
        <p:spPr>
          <a:xfrm>
            <a:off x="731520" y="5696712"/>
            <a:ext cx="3149498" cy="475488"/>
          </a:xfrm>
          <a:prstGeom prst="rect">
            <a:avLst/>
          </a:prstGeom>
          <a:noFill/>
          <a:ln/>
        </p:spPr>
        <p:txBody>
          <a:bodyPr wrap="square" lIns="0" tIns="0" rIns="0" bIns="0" rtlCol="0" anchor="t"/>
          <a:lstStyle/>
          <a:p>
            <a:pPr indent="0" marL="0">
              <a:buNone/>
            </a:pPr>
            <a:r>
              <a:rPr lang="en-US" sz="1150" dirty="0">
                <a:solidFill>
                  <a:schemeClr val="tx1"/>
                </a:solidFill>
              </a:rPr>
              <a:t>quarantine_records + kegagalan test dbt → dashboard Data Quarantine.</a:t>
            </a:r>
            <a:endParaRPr lang="en-US" sz="1150" dirty="0"/>
          </a:p>
        </p:txBody>
      </p:sp>
      <p:sp>
        <p:nvSpPr>
          <p:cNvPr id="43" name="info card"/>
          <p:cNvSpPr/>
          <p:nvPr/>
        </p:nvSpPr>
        <p:spPr>
          <a:xfrm>
            <a:off x="4338218" y="5074920"/>
            <a:ext cx="3515258" cy="1188720"/>
          </a:xfrm>
          <a:prstGeom prst="roundRect">
            <a:avLst>
              <a:gd name="adj" fmla="val 6154"/>
            </a:avLst>
          </a:prstGeom>
          <a:solidFill>
            <a:schemeClr val="bg2"/>
          </a:solidFill>
          <a:ln/>
        </p:spPr>
      </p:sp>
      <p:sp>
        <p:nvSpPr>
          <p:cNvPr id="44" name="icon circle"/>
          <p:cNvSpPr/>
          <p:nvPr/>
        </p:nvSpPr>
        <p:spPr>
          <a:xfrm>
            <a:off x="4521098" y="5257800"/>
            <a:ext cx="329184" cy="329184"/>
          </a:xfrm>
          <a:prstGeom prst="ellipse">
            <a:avLst/>
          </a:prstGeom>
          <a:solidFill>
            <a:schemeClr val="accent1"/>
          </a:solidFill>
          <a:ln/>
        </p:spPr>
      </p:sp>
      <p:pic>
        <p:nvPicPr>
          <p:cNvPr id="45" name="icon" descr="preencoded.png">    </p:cNvPr>
          <p:cNvPicPr>
            <a:picLocks noChangeAspect="1"/>
          </p:cNvPicPr>
          <p:nvPr/>
        </p:nvPicPr>
        <p:blipFill>
          <a:blip r:embed="rId2"/>
          <a:stretch>
            <a:fillRect/>
          </a:stretch>
        </p:blipFill>
        <p:spPr>
          <a:xfrm>
            <a:off x="4600103" y="5336804"/>
            <a:ext cx="171176" cy="171176"/>
          </a:xfrm>
          <a:prstGeom prst="rect">
            <a:avLst/>
          </a:prstGeom>
        </p:spPr>
      </p:pic>
      <p:sp>
        <p:nvSpPr>
          <p:cNvPr id="46" name="Text 42"/>
          <p:cNvSpPr txBox="1"/>
          <p:nvPr/>
        </p:nvSpPr>
        <p:spPr>
          <a:xfrm>
            <a:off x="4941722" y="5257800"/>
            <a:ext cx="2728874" cy="329184"/>
          </a:xfrm>
          <a:prstGeom prst="rect">
            <a:avLst/>
          </a:prstGeom>
          <a:noFill/>
          <a:ln/>
        </p:spPr>
        <p:txBody>
          <a:bodyPr wrap="square" lIns="0" tIns="0" rIns="0" bIns="0" rtlCol="0" anchor="ctr"/>
          <a:lstStyle/>
          <a:p>
            <a:pPr indent="0" marL="0">
              <a:buNone/>
            </a:pPr>
            <a:r>
              <a:rPr lang="en-US" sz="1300" b="1" dirty="0">
                <a:solidFill>
                  <a:schemeClr val="tx1"/>
                </a:solidFill>
              </a:rPr>
              <a:t>ops · observability</a:t>
            </a:r>
            <a:endParaRPr lang="en-US" sz="1300" dirty="0"/>
          </a:p>
        </p:txBody>
      </p:sp>
      <p:sp>
        <p:nvSpPr>
          <p:cNvPr id="47" name="Text 43"/>
          <p:cNvSpPr txBox="1"/>
          <p:nvPr/>
        </p:nvSpPr>
        <p:spPr>
          <a:xfrm>
            <a:off x="4521098" y="5696712"/>
            <a:ext cx="3149498" cy="475488"/>
          </a:xfrm>
          <a:prstGeom prst="rect">
            <a:avLst/>
          </a:prstGeom>
          <a:noFill/>
          <a:ln/>
        </p:spPr>
        <p:txBody>
          <a:bodyPr wrap="square" lIns="0" tIns="0" rIns="0" bIns="0" rtlCol="0" anchor="t"/>
          <a:lstStyle/>
          <a:p>
            <a:pPr indent="0" marL="0">
              <a:buNone/>
            </a:pPr>
            <a:r>
              <a:rPr lang="en-US" sz="1150" dirty="0">
                <a:solidFill>
                  <a:schemeClr val="tx1"/>
                </a:solidFill>
              </a:rPr>
              <a:t>pipeline_runs, api_quota_usage, dq_results, load_watermarks, alert_log.</a:t>
            </a:r>
            <a:endParaRPr lang="en-US" sz="1150" dirty="0"/>
          </a:p>
        </p:txBody>
      </p:sp>
      <p:sp>
        <p:nvSpPr>
          <p:cNvPr id="48" name="info card"/>
          <p:cNvSpPr/>
          <p:nvPr/>
        </p:nvSpPr>
        <p:spPr>
          <a:xfrm>
            <a:off x="8127797" y="5074920"/>
            <a:ext cx="3515258" cy="1188720"/>
          </a:xfrm>
          <a:prstGeom prst="roundRect">
            <a:avLst>
              <a:gd name="adj" fmla="val 6154"/>
            </a:avLst>
          </a:prstGeom>
          <a:solidFill>
            <a:schemeClr val="bg2"/>
          </a:solidFill>
          <a:ln/>
        </p:spPr>
      </p:sp>
      <p:sp>
        <p:nvSpPr>
          <p:cNvPr id="49" name="icon circle"/>
          <p:cNvSpPr/>
          <p:nvPr/>
        </p:nvSpPr>
        <p:spPr>
          <a:xfrm>
            <a:off x="8310677" y="5257800"/>
            <a:ext cx="329184" cy="329184"/>
          </a:xfrm>
          <a:prstGeom prst="ellipse">
            <a:avLst/>
          </a:prstGeom>
          <a:solidFill>
            <a:schemeClr val="accent1"/>
          </a:solidFill>
          <a:ln/>
        </p:spPr>
      </p:sp>
      <p:pic>
        <p:nvPicPr>
          <p:cNvPr id="50" name="icon" descr="preencoded.png">    </p:cNvPr>
          <p:cNvPicPr>
            <a:picLocks noChangeAspect="1"/>
          </p:cNvPicPr>
          <p:nvPr/>
        </p:nvPicPr>
        <p:blipFill>
          <a:blip r:embed="rId3"/>
          <a:stretch>
            <a:fillRect/>
          </a:stretch>
        </p:blipFill>
        <p:spPr>
          <a:xfrm>
            <a:off x="8389681" y="5336804"/>
            <a:ext cx="171176" cy="171176"/>
          </a:xfrm>
          <a:prstGeom prst="rect">
            <a:avLst/>
          </a:prstGeom>
        </p:spPr>
      </p:pic>
      <p:sp>
        <p:nvSpPr>
          <p:cNvPr id="51" name="Text 46"/>
          <p:cNvSpPr txBox="1"/>
          <p:nvPr/>
        </p:nvSpPr>
        <p:spPr>
          <a:xfrm>
            <a:off x="8731301" y="5257800"/>
            <a:ext cx="2728874" cy="329184"/>
          </a:xfrm>
          <a:prstGeom prst="rect">
            <a:avLst/>
          </a:prstGeom>
          <a:noFill/>
          <a:ln/>
        </p:spPr>
        <p:txBody>
          <a:bodyPr wrap="square" lIns="0" tIns="0" rIns="0" bIns="0" rtlCol="0" anchor="ctr"/>
          <a:lstStyle/>
          <a:p>
            <a:pPr indent="0" marL="0">
              <a:buNone/>
            </a:pPr>
            <a:r>
              <a:rPr lang="en-US" sz="1300" b="1" dirty="0">
                <a:solidFill>
                  <a:schemeClr val="tx1"/>
                </a:solidFill>
              </a:rPr>
              <a:t>Satu penulis per layer</a:t>
            </a:r>
            <a:endParaRPr lang="en-US" sz="1300" dirty="0"/>
          </a:p>
        </p:txBody>
      </p:sp>
      <p:sp>
        <p:nvSpPr>
          <p:cNvPr id="52" name="Text 47"/>
          <p:cNvSpPr txBox="1"/>
          <p:nvPr/>
        </p:nvSpPr>
        <p:spPr>
          <a:xfrm>
            <a:off x="8310677" y="5696712"/>
            <a:ext cx="3149498" cy="475488"/>
          </a:xfrm>
          <a:prstGeom prst="rect">
            <a:avLst/>
          </a:prstGeom>
          <a:noFill/>
          <a:ln/>
        </p:spPr>
        <p:txBody>
          <a:bodyPr wrap="square" lIns="0" tIns="0" rIns="0" bIns="0" rtlCol="0" anchor="t"/>
          <a:lstStyle/>
          <a:p>
            <a:pPr indent="0" marL="0">
              <a:buNone/>
            </a:pPr>
            <a:r>
              <a:rPr lang="en-US" sz="1150" dirty="0">
                <a:solidFill>
                  <a:schemeClr val="tx1"/>
                </a:solidFill>
              </a:rPr>
              <a:t>Akses terpisah: etl menulis semua layer; analis hanya membaca Gold + dq + ops.</a:t>
            </a:r>
            <a:endParaRPr lang="en-US" sz="11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6 · ERD · SILVER (CLEAN)</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ERD Silver: tabel hasil pandas dengan kunci SCD Type 2</a:t>
            </a:r>
            <a:endParaRPr lang="en-US" sz="3000" dirty="0"/>
          </a:p>
        </p:txBody>
      </p:sp>
      <p:pic>
        <p:nvPicPr>
          <p:cNvPr id="4" name="09_erd_silver.png" descr="C:\Users\CODE.ID\AppData\Local\Temp\claude\c--pribadi-technical-test-massive-music-massive-music-elt\52e738a4-6aae-4658-ba81-31638200b1b2\scratchpad\deck\out\09_erd_silver.png">    </p:cNvPr>
          <p:cNvPicPr>
            <a:picLocks noChangeAspect="1"/>
          </p:cNvPicPr>
          <p:nvPr/>
        </p:nvPicPr>
        <p:blipFill>
          <a:blip r:embed="rId1"/>
          <a:stretch>
            <a:fillRect/>
          </a:stretch>
        </p:blipFill>
        <p:spPr>
          <a:xfrm>
            <a:off x="548640" y="1417320"/>
            <a:ext cx="7406640" cy="3992386"/>
          </a:xfrm>
          <a:prstGeom prst="rect">
            <a:avLst/>
          </a:prstGeom>
        </p:spPr>
      </p:pic>
      <p:sp>
        <p:nvSpPr>
          <p:cNvPr id="5" name="Text 2"/>
          <p:cNvSpPr txBox="1"/>
          <p:nvPr/>
        </p:nvSpPr>
        <p:spPr>
          <a:xfrm>
            <a:off x="8229600" y="1417320"/>
            <a:ext cx="341345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GRAIN &amp; CARA LOAD</a:t>
            </a:r>
            <a:endParaRPr lang="en-US" sz="1100" dirty="0"/>
          </a:p>
        </p:txBody>
      </p:sp>
      <p:sp>
        <p:nvSpPr>
          <p:cNvPr id="6" name="Text 3"/>
          <p:cNvSpPr txBox="1"/>
          <p:nvPr/>
        </p:nvSpPr>
        <p:spPr>
          <a:xfrm>
            <a:off x="8229600" y="1737360"/>
            <a:ext cx="3413455" cy="640080"/>
          </a:xfrm>
          <a:prstGeom prst="rect">
            <a:avLst/>
          </a:prstGeom>
          <a:noFill/>
          <a:ln/>
        </p:spPr>
        <p:txBody>
          <a:bodyPr wrap="square" lIns="0" tIns="0" rIns="0" bIns="0" rtlCol="0" anchor="t"/>
          <a:lstStyle/>
          <a:p>
            <a:pPr indent="0" marL="0">
              <a:buNone/>
            </a:pPr>
            <a:r>
              <a:rPr lang="en-US" sz="1200" b="1" dirty="0">
                <a:solidFill>
                  <a:schemeClr val="tx1"/>
                </a:solidFill>
                <a:latin typeface="Consolas" pitchFamily="34" charset="0"/>
                <a:ea typeface="Consolas" pitchFamily="34" charset="-122"/>
                <a:cs typeface="Consolas" pitchFamily="34" charset="-120"/>
              </a:rPr>
              <a:t>catalog_songs</a:t>
            </a:r>
            <a:endParaRPr lang="en-US" sz="1200" dirty="0"/>
          </a:p>
          <a:p>
            <a:pPr indent="0" marL="0">
              <a:buNone/>
            </a:pPr>
            <a:r>
              <a:rPr lang="en-US" sz="1200" dirty="0">
                <a:solidFill>
                  <a:srgbClr val="4B5563"/>
                </a:solidFill>
              </a:rPr>
              <a:t>kunci (song_code, version_no); SCD2 dari snapshot penuh sheet</a:t>
            </a:r>
            <a:endParaRPr lang="en-US" sz="1200" dirty="0"/>
          </a:p>
        </p:txBody>
      </p:sp>
      <p:sp>
        <p:nvSpPr>
          <p:cNvPr id="7" name="Text 4"/>
          <p:cNvSpPr txBox="1"/>
          <p:nvPr/>
        </p:nvSpPr>
        <p:spPr>
          <a:xfrm>
            <a:off x="8229600" y="2432304"/>
            <a:ext cx="3413455" cy="640080"/>
          </a:xfrm>
          <a:prstGeom prst="rect">
            <a:avLst/>
          </a:prstGeom>
          <a:noFill/>
          <a:ln/>
        </p:spPr>
        <p:txBody>
          <a:bodyPr wrap="square" lIns="0" tIns="0" rIns="0" bIns="0" rtlCol="0" anchor="t"/>
          <a:lstStyle/>
          <a:p>
            <a:pPr indent="0" marL="0">
              <a:buNone/>
            </a:pPr>
            <a:r>
              <a:rPr lang="en-US" sz="1200" b="1" dirty="0">
                <a:solidFill>
                  <a:schemeClr val="tx1"/>
                </a:solidFill>
                <a:latin typeface="Consolas" pitchFamily="34" charset="0"/>
                <a:ea typeface="Consolas" pitchFamily="34" charset="-122"/>
                <a:cs typeface="Consolas" pitchFamily="34" charset="-120"/>
              </a:rPr>
              <a:t>spotify_tracks · youtube_videos</a:t>
            </a:r>
            <a:endParaRPr lang="en-US" sz="1200" dirty="0"/>
          </a:p>
          <a:p>
            <a:pPr indent="0" marL="0">
              <a:buNone/>
            </a:pPr>
            <a:r>
              <a:rPr lang="en-US" sz="1200" dirty="0">
                <a:solidFill>
                  <a:srgbClr val="4B5563"/>
                </a:solidFill>
              </a:rPr>
              <a:t>kunci (id, version_no); SCD2; statistik video = type-1</a:t>
            </a:r>
            <a:endParaRPr lang="en-US" sz="1200" dirty="0"/>
          </a:p>
        </p:txBody>
      </p:sp>
      <p:sp>
        <p:nvSpPr>
          <p:cNvPr id="8" name="Text 5"/>
          <p:cNvSpPr txBox="1"/>
          <p:nvPr/>
        </p:nvSpPr>
        <p:spPr>
          <a:xfrm>
            <a:off x="8229600" y="3127248"/>
            <a:ext cx="3413455" cy="640080"/>
          </a:xfrm>
          <a:prstGeom prst="rect">
            <a:avLst/>
          </a:prstGeom>
          <a:noFill/>
          <a:ln/>
        </p:spPr>
        <p:txBody>
          <a:bodyPr wrap="square" lIns="0" tIns="0" rIns="0" bIns="0" rtlCol="0" anchor="t"/>
          <a:lstStyle/>
          <a:p>
            <a:pPr indent="0" marL="0">
              <a:buNone/>
            </a:pPr>
            <a:r>
              <a:rPr lang="en-US" sz="1200" b="1" dirty="0">
                <a:solidFill>
                  <a:schemeClr val="tx1"/>
                </a:solidFill>
                <a:latin typeface="Consolas" pitchFamily="34" charset="0"/>
                <a:ea typeface="Consolas" pitchFamily="34" charset="-122"/>
                <a:cs typeface="Consolas" pitchFamily="34" charset="-120"/>
              </a:rPr>
              <a:t>*_searches</a:t>
            </a:r>
            <a:endParaRPr lang="en-US" sz="1200" dirty="0"/>
          </a:p>
          <a:p>
            <a:pPr indent="0" marL="0">
              <a:buNone/>
            </a:pPr>
            <a:r>
              <a:rPr lang="en-US" sz="1200" dirty="0">
                <a:solidFill>
                  <a:srgbClr val="4B5563"/>
                </a:solidFill>
              </a:rPr>
              <a:t>1 baris per lagu; upsert status pencarian terakhir</a:t>
            </a:r>
            <a:endParaRPr lang="en-US" sz="1200" dirty="0"/>
          </a:p>
        </p:txBody>
      </p:sp>
      <p:sp>
        <p:nvSpPr>
          <p:cNvPr id="9" name="Text 6"/>
          <p:cNvSpPr txBox="1"/>
          <p:nvPr/>
        </p:nvSpPr>
        <p:spPr>
          <a:xfrm>
            <a:off x="8229600" y="3822192"/>
            <a:ext cx="3413455" cy="640080"/>
          </a:xfrm>
          <a:prstGeom prst="rect">
            <a:avLst/>
          </a:prstGeom>
          <a:noFill/>
          <a:ln/>
        </p:spPr>
        <p:txBody>
          <a:bodyPr wrap="square" lIns="0" tIns="0" rIns="0" bIns="0" rtlCol="0" anchor="t"/>
          <a:lstStyle/>
          <a:p>
            <a:pPr indent="0" marL="0">
              <a:buNone/>
            </a:pPr>
            <a:r>
              <a:rPr lang="en-US" sz="1200" b="1" dirty="0">
                <a:solidFill>
                  <a:schemeClr val="tx1"/>
                </a:solidFill>
                <a:latin typeface="Consolas" pitchFamily="34" charset="0"/>
                <a:ea typeface="Consolas" pitchFamily="34" charset="-122"/>
                <a:cs typeface="Consolas" pitchFamily="34" charset="-120"/>
              </a:rPr>
              <a:t>*_search_hits</a:t>
            </a:r>
            <a:endParaRPr lang="en-US" sz="1200" dirty="0"/>
          </a:p>
          <a:p>
            <a:pPr indent="0" marL="0">
              <a:buNone/>
            </a:pPr>
            <a:r>
              <a:rPr lang="en-US" sz="1200" dirty="0">
                <a:solidFill>
                  <a:srgbClr val="4B5563"/>
                </a:solidFill>
              </a:rPr>
              <a:t>1 baris per (lagu, kandidat); upsert; input matching dbt</a:t>
            </a:r>
            <a:endParaRPr lang="en-US" sz="1200" dirty="0"/>
          </a:p>
        </p:txBody>
      </p:sp>
      <p:sp>
        <p:nvSpPr>
          <p:cNvPr id="10" name="fk note"/>
          <p:cNvSpPr/>
          <p:nvPr/>
        </p:nvSpPr>
        <p:spPr>
          <a:xfrm>
            <a:off x="8229600" y="4526280"/>
            <a:ext cx="3413455" cy="1417320"/>
          </a:xfrm>
          <a:prstGeom prst="roundRect">
            <a:avLst>
              <a:gd name="adj" fmla="val 5161"/>
            </a:avLst>
          </a:prstGeom>
          <a:solidFill>
            <a:srgbClr val="FDECEC"/>
          </a:solidFill>
          <a:ln/>
        </p:spPr>
      </p:sp>
      <p:sp>
        <p:nvSpPr>
          <p:cNvPr id="11" name="Text 8"/>
          <p:cNvSpPr txBox="1"/>
          <p:nvPr/>
        </p:nvSpPr>
        <p:spPr>
          <a:xfrm>
            <a:off x="8412480" y="4636008"/>
            <a:ext cx="3047695" cy="1234440"/>
          </a:xfrm>
          <a:prstGeom prst="rect">
            <a:avLst/>
          </a:prstGeom>
          <a:noFill/>
          <a:ln/>
        </p:spPr>
        <p:txBody>
          <a:bodyPr wrap="square" lIns="0" tIns="0" rIns="0" bIns="0" rtlCol="0" anchor="ctr"/>
          <a:lstStyle/>
          <a:p>
            <a:pPr indent="0" marL="0">
              <a:buNone/>
            </a:pPr>
            <a:r>
              <a:rPr lang="en-US" sz="1200" b="1" dirty="0">
                <a:solidFill>
                  <a:schemeClr val="tx1"/>
                </a:solidFill>
              </a:rPr>
              <a:t>Relasi logis, dijaga test</a:t>
            </a:r>
            <a:endParaRPr lang="en-US" sz="1200" dirty="0"/>
          </a:p>
          <a:p>
            <a:pPr indent="0" marL="0">
              <a:buNone/>
            </a:pPr>
            <a:r>
              <a:rPr lang="en-US" sz="1200" dirty="0">
                <a:solidFill>
                  <a:srgbClr val="1B1B1F"/>
                </a:solidFill>
              </a:rPr>
              <a:t>ClickHouse tidak menegakkan foreign key; integritas dicek dbt (relationships, rekonsiliasi). Semua tabel ReplacingMergeTree, dibaca dengan FINAL.</a:t>
            </a:r>
            <a:endParaRPr lang="en-US" sz="1200" dirty="0"/>
          </a:p>
        </p:txBody>
      </p:sp>
      <p:sp>
        <p:nvSpPr>
          <p:cNvPr id="12" name="Text 9"/>
          <p:cNvSpPr txBox="1"/>
          <p:nvPr/>
        </p:nvSpPr>
        <p:spPr>
          <a:xfrm>
            <a:off x="548640" y="5760720"/>
            <a:ext cx="7406640" cy="274320"/>
          </a:xfrm>
          <a:prstGeom prst="rect">
            <a:avLst/>
          </a:prstGeom>
          <a:noFill/>
          <a:ln/>
        </p:spPr>
        <p:txBody>
          <a:bodyPr wrap="square" lIns="0" tIns="0" rIns="0" bIns="0" rtlCol="0" anchor="t"/>
          <a:lstStyle/>
          <a:p>
            <a:pPr indent="0" marL="0">
              <a:buNone/>
            </a:pPr>
            <a:r>
              <a:rPr lang="en-US" sz="1100" i="1" dirty="0">
                <a:solidFill>
                  <a:schemeClr val="accent2"/>
                </a:solidFill>
              </a:rPr>
              <a:t>Kunci PK = ORDER BY tabel (kunci upsert). Kolom ditampilkan sebagian.</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6 · ERD · GOLD (MARTS)</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ERD Gold: model dimensional untuk kedua jawaban</a:t>
            </a:r>
            <a:endParaRPr lang="en-US" sz="3000" dirty="0"/>
          </a:p>
        </p:txBody>
      </p:sp>
      <p:pic>
        <p:nvPicPr>
          <p:cNvPr id="4" name="05_erd.png" descr="C:\Users\CODE.ID\AppData\Local\Temp\claude\c--pribadi-technical-test-massive-music-massive-music-elt\52e738a4-6aae-4658-ba81-31638200b1b2\scratchpad\deck\out\05_erd.png">    </p:cNvPr>
          <p:cNvPicPr>
            <a:picLocks noChangeAspect="1"/>
          </p:cNvPicPr>
          <p:nvPr/>
        </p:nvPicPr>
        <p:blipFill>
          <a:blip r:embed="rId1"/>
          <a:stretch>
            <a:fillRect/>
          </a:stretch>
        </p:blipFill>
        <p:spPr>
          <a:xfrm>
            <a:off x="548640" y="1417320"/>
            <a:ext cx="7498080" cy="3940631"/>
          </a:xfrm>
          <a:prstGeom prst="rect">
            <a:avLst/>
          </a:prstGeom>
        </p:spPr>
      </p:pic>
      <p:sp>
        <p:nvSpPr>
          <p:cNvPr id="5" name="Text 2"/>
          <p:cNvSpPr txBox="1"/>
          <p:nvPr/>
        </p:nvSpPr>
        <p:spPr>
          <a:xfrm>
            <a:off x="8275320" y="1417320"/>
            <a:ext cx="336773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CARA MEMBACA</a:t>
            </a:r>
            <a:endParaRPr lang="en-US" sz="1100" dirty="0"/>
          </a:p>
        </p:txBody>
      </p:sp>
      <p:sp>
        <p:nvSpPr>
          <p:cNvPr id="6" name="Text 3"/>
          <p:cNvSpPr txBox="1"/>
          <p:nvPr/>
        </p:nvSpPr>
        <p:spPr>
          <a:xfrm>
            <a:off x="8275320" y="1737360"/>
            <a:ext cx="3367735" cy="2834640"/>
          </a:xfrm>
          <a:prstGeom prst="rect">
            <a:avLst/>
          </a:prstGeom>
          <a:noFill/>
          <a:ln/>
        </p:spPr>
        <p:txBody>
          <a:bodyPr wrap="square" lIns="0" tIns="0" rIns="0" bIns="0" rtlCol="0" anchor="t"/>
          <a:lstStyle/>
          <a:p>
            <a:pPr marL="177800" indent="-177800">
              <a:spcAft>
                <a:spcPts val="700"/>
              </a:spcAft>
              <a:buSzPct val="100000"/>
              <a:buChar char="•"/>
            </a:pPr>
            <a:r>
              <a:rPr lang="en-US" sz="1200" b="1" dirty="0">
                <a:solidFill>
                  <a:schemeClr val="tx1"/>
                </a:solidFill>
              </a:rPr>
              <a:t>dim_song </a:t>
            </a:r>
            <a:pPr indent="0" marL="0">
              <a:buNone/>
            </a:pPr>
            <a:r>
              <a:rPr lang="en-US" sz="1200" dirty="0">
                <a:solidFill>
                  <a:schemeClr val="tx1"/>
                </a:solidFill>
              </a:rPr>
              <a:t>pusat: 1 baris per lagu (versi SCD2 aktif)</a:t>
            </a:r>
            <a:endParaRPr lang="en-US" sz="1200" dirty="0"/>
          </a:p>
          <a:p>
            <a:pPr marL="177800" indent="-177800">
              <a:spcAft>
                <a:spcPts val="700"/>
              </a:spcAft>
              <a:buSzPct val="100000"/>
              <a:buChar char="•"/>
            </a:pPr>
            <a:r>
              <a:rPr lang="en-US" sz="1200" b="1" dirty="0">
                <a:solidFill>
                  <a:schemeClr val="tx1"/>
                </a:solidFill>
              </a:rPr>
              <a:t>Spotify: </a:t>
            </a:r>
            <a:pPr indent="0" marL="0">
              <a:buNone/>
            </a:pPr>
            <a:r>
              <a:rPr lang="en-US" sz="1200" dirty="0">
                <a:solidFill>
                  <a:schemeClr val="tx1"/>
                </a:solidFill>
              </a:rPr>
              <a:t>dim_song 1─N bridge_song_recording N─1 dim_recording (1 baris per ISRC) 1─N dim_spotify_track</a:t>
            </a:r>
            <a:endParaRPr lang="en-US" sz="1200" dirty="0"/>
          </a:p>
          <a:p>
            <a:pPr marL="177800" indent="-177800">
              <a:spcAft>
                <a:spcPts val="700"/>
              </a:spcAft>
              <a:buSzPct val="100000"/>
              <a:buChar char="•"/>
            </a:pPr>
            <a:r>
              <a:rPr lang="en-US" sz="1200" b="1" dirty="0">
                <a:solidFill>
                  <a:schemeClr val="tx1"/>
                </a:solidFill>
              </a:rPr>
              <a:t>YouTube: </a:t>
            </a:r>
            <a:pPr indent="0" marL="0">
              <a:buNone/>
            </a:pPr>
            <a:r>
              <a:rPr lang="en-US" sz="1200" dirty="0">
                <a:solidFill>
                  <a:schemeClr val="tx1"/>
                </a:solidFill>
              </a:rPr>
              <a:t>dim_song 1─N bridge_song_video N─1 dim_youtube_video N─1 dim_youtube_channel</a:t>
            </a:r>
            <a:endParaRPr lang="en-US" sz="1200" dirty="0"/>
          </a:p>
          <a:p>
            <a:pPr marL="177800" indent="-177800">
              <a:spcAft>
                <a:spcPts val="700"/>
              </a:spcAft>
              <a:buSzPct val="100000"/>
              <a:buChar char="•"/>
            </a:pPr>
            <a:r>
              <a:rPr lang="en-US" sz="1200" b="1" dirty="0">
                <a:solidFill>
                  <a:schemeClr val="tx1"/>
                </a:solidFill>
              </a:rPr>
              <a:t>Bridge </a:t>
            </a:r>
            <a:pPr indent="0" marL="0">
              <a:buNone/>
            </a:pPr>
            <a:r>
              <a:rPr lang="en-US" sz="1200" dirty="0">
                <a:solidFill>
                  <a:schemeClr val="tx1"/>
                </a:solidFill>
              </a:rPr>
              <a:t>menyimpan bukti: match_type, match_confidence, video_type, is_official_channel</a:t>
            </a:r>
            <a:endParaRPr lang="en-US" sz="1200" dirty="0"/>
          </a:p>
        </p:txBody>
      </p:sp>
      <p:sp>
        <p:nvSpPr>
          <p:cNvPr id="7" name="code box"/>
          <p:cNvSpPr/>
          <p:nvPr/>
        </p:nvSpPr>
        <p:spPr>
          <a:xfrm>
            <a:off x="8275320" y="4343400"/>
            <a:ext cx="3367735" cy="1920240"/>
          </a:xfrm>
          <a:prstGeom prst="roundRect">
            <a:avLst>
              <a:gd name="adj" fmla="val 2857"/>
            </a:avLst>
          </a:prstGeom>
          <a:solidFill>
            <a:srgbClr val="1B1B1F"/>
          </a:solidFill>
          <a:ln/>
        </p:spPr>
      </p:sp>
      <p:sp>
        <p:nvSpPr>
          <p:cNvPr id="8" name="Text 5"/>
          <p:cNvSpPr txBox="1"/>
          <p:nvPr/>
        </p:nvSpPr>
        <p:spPr>
          <a:xfrm>
            <a:off x="8503920" y="4489704"/>
            <a:ext cx="291053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SATU QUERY, DUA JAWABAN</a:t>
            </a:r>
            <a:endParaRPr lang="en-US" sz="1100" dirty="0"/>
          </a:p>
        </p:txBody>
      </p:sp>
      <p:sp>
        <p:nvSpPr>
          <p:cNvPr id="9" name="Text 6"/>
          <p:cNvSpPr txBox="1"/>
          <p:nvPr/>
        </p:nvSpPr>
        <p:spPr>
          <a:xfrm>
            <a:off x="8503920" y="4818888"/>
            <a:ext cx="2910535" cy="1335024"/>
          </a:xfrm>
          <a:prstGeom prst="rect">
            <a:avLst/>
          </a:prstGeom>
          <a:noFill/>
          <a:ln/>
        </p:spPr>
        <p:txBody>
          <a:bodyPr wrap="square" lIns="0" tIns="0" rIns="0" bIns="0" rtlCol="0" anchor="t"/>
          <a:lstStyle/>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SELECT song_code,</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       isrc_count,   </a:t>
            </a:r>
            <a:pPr indent="0" marL="0">
              <a:lnSpc>
                <a:spcPct val="105000"/>
              </a:lnSpc>
              <a:buNone/>
            </a:pPr>
            <a:r>
              <a:rPr lang="en-US" sz="1150" dirty="0">
                <a:solidFill>
                  <a:srgbClr val="9CA3AF"/>
                </a:solidFill>
                <a:latin typeface="Consolas" pitchFamily="34" charset="0"/>
                <a:ea typeface="Consolas" pitchFamily="34" charset="-122"/>
                <a:cs typeface="Consolas" pitchFamily="34" charset="-120"/>
              </a:rPr>
              <a:t>  -- Q2</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       video_count,  </a:t>
            </a:r>
            <a:pPr indent="0" marL="0">
              <a:lnSpc>
                <a:spcPct val="105000"/>
              </a:lnSpc>
              <a:buNone/>
            </a:pPr>
            <a:r>
              <a:rPr lang="en-US" sz="1150" dirty="0">
                <a:solidFill>
                  <a:srgbClr val="9CA3AF"/>
                </a:solidFill>
                <a:latin typeface="Consolas" pitchFamily="34" charset="0"/>
                <a:ea typeface="Consolas" pitchFamily="34" charset="-122"/>
                <a:cs typeface="Consolas" pitchFamily="34" charset="-120"/>
              </a:rPr>
              <a:t>  -- Q1</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       spotify_status,</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       youtube_status</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FROM marts.mart_song_overview;</a:t>
            </a:r>
            <a:endParaRPr lang="en-US" sz="1150" dirty="0"/>
          </a:p>
        </p:txBody>
      </p:sp>
      <p:sp>
        <p:nvSpPr>
          <p:cNvPr id="10" name="Text 7"/>
          <p:cNvSpPr txBox="1"/>
          <p:nvPr/>
        </p:nvSpPr>
        <p:spPr>
          <a:xfrm>
            <a:off x="548640" y="5760720"/>
            <a:ext cx="7498080" cy="274320"/>
          </a:xfrm>
          <a:prstGeom prst="rect">
            <a:avLst/>
          </a:prstGeom>
          <a:noFill/>
          <a:ln/>
        </p:spPr>
        <p:txBody>
          <a:bodyPr wrap="square" lIns="0" tIns="0" rIns="0" bIns="0" rtlCol="0" anchor="t"/>
          <a:lstStyle/>
          <a:p>
            <a:pPr indent="0" marL="0">
              <a:buNone/>
            </a:pPr>
            <a:r>
              <a:rPr lang="en-US" sz="1100" i="1" dirty="0">
                <a:solidFill>
                  <a:schemeClr val="accent2"/>
                </a:solidFill>
              </a:rPr>
              <a:t>Semua key diuji dbt: unique, not_null, relationships. Kolom ditampilkan sebagian.</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7 · DATA QUALITY &amp; VALIDASI</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Strategi data quality: tiga lapis pertahanan</a:t>
            </a:r>
            <a:endParaRPr lang="en-US" sz="3000" dirty="0"/>
          </a:p>
        </p:txBody>
      </p:sp>
      <p:sp>
        <p:nvSpPr>
          <p:cNvPr id="4" name="dq layer"/>
          <p:cNvSpPr/>
          <p:nvPr/>
        </p:nvSpPr>
        <p:spPr>
          <a:xfrm>
            <a:off x="548640" y="1417320"/>
            <a:ext cx="3393338" cy="3703320"/>
          </a:xfrm>
          <a:prstGeom prst="roundRect">
            <a:avLst>
              <a:gd name="adj" fmla="val 2156"/>
            </a:avLst>
          </a:prstGeom>
          <a:solidFill>
            <a:schemeClr val="bg2"/>
          </a:solidFill>
          <a:ln/>
        </p:spPr>
      </p:sp>
      <p:sp>
        <p:nvSpPr>
          <p:cNvPr id="5" name="icon circle"/>
          <p:cNvSpPr/>
          <p:nvPr/>
        </p:nvSpPr>
        <p:spPr>
          <a:xfrm>
            <a:off x="749808" y="1618488"/>
            <a:ext cx="457200" cy="45720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59536" y="1728216"/>
            <a:ext cx="237744" cy="237744"/>
          </a:xfrm>
          <a:prstGeom prst="rect">
            <a:avLst/>
          </a:prstGeom>
        </p:spPr>
      </p:pic>
      <p:sp>
        <p:nvSpPr>
          <p:cNvPr id="7" name="Text 4"/>
          <p:cNvSpPr txBox="1"/>
          <p:nvPr/>
        </p:nvSpPr>
        <p:spPr>
          <a:xfrm>
            <a:off x="1335024" y="1600200"/>
            <a:ext cx="2478938"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LAPIS 1</a:t>
            </a:r>
            <a:endParaRPr lang="en-US" sz="1100" dirty="0"/>
          </a:p>
        </p:txBody>
      </p:sp>
      <p:sp>
        <p:nvSpPr>
          <p:cNvPr id="8" name="Text 5"/>
          <p:cNvSpPr txBox="1"/>
          <p:nvPr/>
        </p:nvSpPr>
        <p:spPr>
          <a:xfrm>
            <a:off x="1335024" y="1819656"/>
            <a:ext cx="2478938"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Saat load (pandas)</a:t>
            </a:r>
            <a:endParaRPr lang="en-US" sz="1400" dirty="0"/>
          </a:p>
        </p:txBody>
      </p:sp>
      <p:sp>
        <p:nvSpPr>
          <p:cNvPr id="9" name="Text 6"/>
          <p:cNvSpPr txBox="1"/>
          <p:nvPr/>
        </p:nvSpPr>
        <p:spPr>
          <a:xfrm>
            <a:off x="749808" y="2221992"/>
            <a:ext cx="2991002" cy="274320"/>
          </a:xfrm>
          <a:prstGeom prst="rect">
            <a:avLst/>
          </a:prstGeom>
          <a:noFill/>
          <a:ln/>
        </p:spPr>
        <p:txBody>
          <a:bodyPr wrap="square" lIns="0" tIns="0" rIns="0" bIns="0" rtlCol="0" anchor="t"/>
          <a:lstStyle/>
          <a:p>
            <a:pPr indent="0" marL="0">
              <a:buNone/>
            </a:pPr>
            <a:r>
              <a:rPr lang="en-US" sz="1150" i="1" dirty="0">
                <a:solidFill>
                  <a:schemeClr val="accent2"/>
                </a:solidFill>
              </a:rPr>
              <a:t>load_catalog · preprocess_*</a:t>
            </a:r>
            <a:endParaRPr lang="en-US" sz="1150" dirty="0"/>
          </a:p>
        </p:txBody>
      </p:sp>
      <p:sp>
        <p:nvSpPr>
          <p:cNvPr id="10" name="Text 7"/>
          <p:cNvSpPr txBox="1"/>
          <p:nvPr/>
        </p:nvSpPr>
        <p:spPr>
          <a:xfrm>
            <a:off x="749808" y="2578608"/>
            <a:ext cx="2991002" cy="18288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kontrak skema sheet: CODE, ORIGINAL ARTIST, SONG TITLE</a:t>
            </a:r>
            <a:endParaRPr lang="en-US" sz="1250" dirty="0"/>
          </a:p>
          <a:p>
            <a:pPr marL="177800" indent="-177800">
              <a:spcAft>
                <a:spcPts val="500"/>
              </a:spcAft>
              <a:buSzPct val="100000"/>
              <a:buChar char="•"/>
            </a:pPr>
            <a:r>
              <a:rPr lang="en-US" sz="1250" dirty="0">
                <a:solidFill>
                  <a:schemeClr val="tx1"/>
                </a:solidFill>
              </a:rPr>
              <a:t>aturan per baris: kode, judul, ISRC, id Spotify / YouTube</a:t>
            </a:r>
            <a:endParaRPr lang="en-US" sz="1250" dirty="0"/>
          </a:p>
          <a:p>
            <a:pPr marL="177800" indent="-177800">
              <a:spcAft>
                <a:spcPts val="500"/>
              </a:spcAft>
              <a:buSzPct val="100000"/>
              <a:buChar char="•"/>
            </a:pPr>
            <a:r>
              <a:rPr lang="en-US" sz="1250" dirty="0">
                <a:solidFill>
                  <a:schemeClr val="tx1"/>
                </a:solidFill>
              </a:rPr>
              <a:t>dedup pada business key</a:t>
            </a:r>
            <a:endParaRPr lang="en-US" sz="1250" dirty="0"/>
          </a:p>
          <a:p>
            <a:pPr marL="177800" indent="-177800">
              <a:spcAft>
                <a:spcPts val="500"/>
              </a:spcAft>
              <a:buSzPct val="100000"/>
              <a:buChar char="•"/>
            </a:pPr>
            <a:r>
              <a:rPr lang="en-US" sz="1250" dirty="0">
                <a:solidFill>
                  <a:schemeClr val="tx1"/>
                </a:solidFill>
              </a:rPr>
              <a:t>guard: sheet kosong atau &gt; 20% lagu hilang → gagal</a:t>
            </a:r>
            <a:endParaRPr lang="en-US" sz="1250" dirty="0"/>
          </a:p>
        </p:txBody>
      </p:sp>
      <p:sp>
        <p:nvSpPr>
          <p:cNvPr id="11" name="dq output"/>
          <p:cNvSpPr/>
          <p:nvPr/>
        </p:nvSpPr>
        <p:spPr>
          <a:xfrm>
            <a:off x="731520" y="4407408"/>
            <a:ext cx="3027578" cy="530352"/>
          </a:xfrm>
          <a:prstGeom prst="roundRect">
            <a:avLst>
              <a:gd name="adj" fmla="val 13793"/>
            </a:avLst>
          </a:prstGeom>
          <a:solidFill>
            <a:srgbClr val="FFF7E6"/>
          </a:solidFill>
          <a:ln w="9525">
            <a:solidFill>
              <a:srgbClr val="F2A900"/>
            </a:solidFill>
            <a:prstDash val="solid"/>
          </a:ln>
        </p:spPr>
      </p:sp>
      <p:sp>
        <p:nvSpPr>
          <p:cNvPr id="12" name="Text 9"/>
          <p:cNvSpPr txBox="1"/>
          <p:nvPr/>
        </p:nvSpPr>
        <p:spPr>
          <a:xfrm>
            <a:off x="841248" y="4407408"/>
            <a:ext cx="2808122" cy="530352"/>
          </a:xfrm>
          <a:prstGeom prst="rect">
            <a:avLst/>
          </a:prstGeom>
          <a:noFill/>
          <a:ln/>
        </p:spPr>
        <p:txBody>
          <a:bodyPr wrap="square" lIns="0" tIns="0" rIns="0" bIns="0" rtlCol="0" anchor="ctr"/>
          <a:lstStyle/>
          <a:p>
            <a:pPr indent="0" marL="0">
              <a:buNone/>
            </a:pPr>
            <a:r>
              <a:rPr lang="en-US" sz="1150" b="1" dirty="0">
                <a:solidFill>
                  <a:schemeClr val="tx1"/>
                </a:solidFill>
              </a:rPr>
              <a:t>dq.quarantine_records → email + dashboard</a:t>
            </a:r>
            <a:endParaRPr lang="en-US" sz="1150" dirty="0"/>
          </a:p>
        </p:txBody>
      </p:sp>
      <p:sp>
        <p:nvSpPr>
          <p:cNvPr id="13" name="connector"/>
          <p:cNvSpPr/>
          <p:nvPr/>
        </p:nvSpPr>
        <p:spPr>
          <a:xfrm>
            <a:off x="3996842" y="3268980"/>
            <a:ext cx="347472" cy="0"/>
          </a:xfrm>
          <a:prstGeom prst="line">
            <a:avLst/>
          </a:prstGeom>
          <a:noFill/>
          <a:ln w="25400">
            <a:solidFill>
              <a:srgbClr val="4B5563"/>
            </a:solidFill>
            <a:prstDash val="solid"/>
            <a:tailEnd type="triangle"/>
          </a:ln>
        </p:spPr>
      </p:sp>
      <p:sp>
        <p:nvSpPr>
          <p:cNvPr id="14" name="dq layer"/>
          <p:cNvSpPr/>
          <p:nvPr/>
        </p:nvSpPr>
        <p:spPr>
          <a:xfrm>
            <a:off x="4399178" y="1417320"/>
            <a:ext cx="3393338" cy="3703320"/>
          </a:xfrm>
          <a:prstGeom prst="roundRect">
            <a:avLst>
              <a:gd name="adj" fmla="val 2156"/>
            </a:avLst>
          </a:prstGeom>
          <a:solidFill>
            <a:schemeClr val="bg2"/>
          </a:solidFill>
          <a:ln/>
        </p:spPr>
      </p:sp>
      <p:sp>
        <p:nvSpPr>
          <p:cNvPr id="15" name="icon circle"/>
          <p:cNvSpPr/>
          <p:nvPr/>
        </p:nvSpPr>
        <p:spPr>
          <a:xfrm>
            <a:off x="4600346" y="1618488"/>
            <a:ext cx="457200" cy="457200"/>
          </a:xfrm>
          <a:prstGeom prst="ellipse">
            <a:avLst/>
          </a:prstGeom>
          <a:solidFill>
            <a:schemeClr val="accent1"/>
          </a:solidFill>
          <a:ln/>
        </p:spPr>
      </p:sp>
      <p:pic>
        <p:nvPicPr>
          <p:cNvPr id="16" name="icon" descr="preencoded.png">    </p:cNvPr>
          <p:cNvPicPr>
            <a:picLocks noChangeAspect="1"/>
          </p:cNvPicPr>
          <p:nvPr/>
        </p:nvPicPr>
        <p:blipFill>
          <a:blip r:embed="rId2"/>
          <a:stretch>
            <a:fillRect/>
          </a:stretch>
        </p:blipFill>
        <p:spPr>
          <a:xfrm>
            <a:off x="4710074" y="1728216"/>
            <a:ext cx="237744" cy="237744"/>
          </a:xfrm>
          <a:prstGeom prst="rect">
            <a:avLst/>
          </a:prstGeom>
        </p:spPr>
      </p:pic>
      <p:sp>
        <p:nvSpPr>
          <p:cNvPr id="17" name="Text 13"/>
          <p:cNvSpPr txBox="1"/>
          <p:nvPr/>
        </p:nvSpPr>
        <p:spPr>
          <a:xfrm>
            <a:off x="5185562" y="1600200"/>
            <a:ext cx="2478938"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LAPIS 2</a:t>
            </a:r>
            <a:endParaRPr lang="en-US" sz="1100" dirty="0"/>
          </a:p>
        </p:txBody>
      </p:sp>
      <p:sp>
        <p:nvSpPr>
          <p:cNvPr id="18" name="Text 14"/>
          <p:cNvSpPr txBox="1"/>
          <p:nvPr/>
        </p:nvSpPr>
        <p:spPr>
          <a:xfrm>
            <a:off x="5185562" y="1819656"/>
            <a:ext cx="2478938"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Tiap model (dbt test)</a:t>
            </a:r>
            <a:endParaRPr lang="en-US" sz="1400" dirty="0"/>
          </a:p>
        </p:txBody>
      </p:sp>
      <p:sp>
        <p:nvSpPr>
          <p:cNvPr id="19" name="Text 15"/>
          <p:cNvSpPr txBox="1"/>
          <p:nvPr/>
        </p:nvSpPr>
        <p:spPr>
          <a:xfrm>
            <a:off x="4600346" y="2221992"/>
            <a:ext cx="2991002" cy="274320"/>
          </a:xfrm>
          <a:prstGeom prst="rect">
            <a:avLst/>
          </a:prstGeom>
          <a:noFill/>
          <a:ln/>
        </p:spPr>
        <p:txBody>
          <a:bodyPr wrap="square" lIns="0" tIns="0" rIns="0" bIns="0" rtlCol="0" anchor="t"/>
          <a:lstStyle/>
          <a:p>
            <a:pPr indent="0" marL="0">
              <a:buNone/>
            </a:pPr>
            <a:r>
              <a:rPr lang="en-US" sz="1150" i="1" dirty="0">
                <a:solidFill>
                  <a:schemeClr val="accent2"/>
                </a:solidFill>
              </a:rPr>
              <a:t>76 data test + 1 unit test</a:t>
            </a:r>
            <a:endParaRPr lang="en-US" sz="1150" dirty="0"/>
          </a:p>
        </p:txBody>
      </p:sp>
      <p:sp>
        <p:nvSpPr>
          <p:cNvPr id="20" name="Text 16"/>
          <p:cNvSpPr txBox="1"/>
          <p:nvPr/>
        </p:nvSpPr>
        <p:spPr>
          <a:xfrm>
            <a:off x="4600346" y="2578608"/>
            <a:ext cx="2991002" cy="18288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unique, not_null, relationships</a:t>
            </a:r>
            <a:endParaRPr lang="en-US" sz="1250" dirty="0"/>
          </a:p>
          <a:p>
            <a:pPr marL="177800" indent="-177800">
              <a:spcAft>
                <a:spcPts val="500"/>
              </a:spcAft>
              <a:buSzPct val="100000"/>
              <a:buChar char="•"/>
            </a:pPr>
            <a:r>
              <a:rPr lang="en-US" sz="1250" dirty="0">
                <a:solidFill>
                  <a:schemeClr val="tx1"/>
                </a:solidFill>
              </a:rPr>
              <a:t>format ISRC &amp; id (regex), accepted_values</a:t>
            </a:r>
            <a:endParaRPr lang="en-US" sz="1250" dirty="0"/>
          </a:p>
          <a:p>
            <a:pPr marL="177800" indent="-177800">
              <a:spcAft>
                <a:spcPts val="500"/>
              </a:spcAft>
              <a:buSzPct val="100000"/>
              <a:buChar char="•"/>
            </a:pPr>
            <a:r>
              <a:rPr lang="en-US" sz="1250" dirty="0">
                <a:solidFill>
                  <a:schemeClr val="tx1"/>
                </a:solidFill>
              </a:rPr>
              <a:t>integritas SCD2, rekonsiliasi, completeness</a:t>
            </a:r>
            <a:endParaRPr lang="en-US" sz="1250" dirty="0"/>
          </a:p>
          <a:p>
            <a:pPr marL="177800" indent="-177800">
              <a:spcAft>
                <a:spcPts val="500"/>
              </a:spcAft>
              <a:buSzPct val="100000"/>
              <a:buChar char="•"/>
            </a:pPr>
            <a:r>
              <a:rPr lang="en-US" sz="1250" dirty="0">
                <a:solidFill>
                  <a:schemeClr val="tx1"/>
                </a:solidFill>
              </a:rPr>
              <a:t>unit test semua cabang aturan matching</a:t>
            </a:r>
            <a:endParaRPr lang="en-US" sz="1250" dirty="0"/>
          </a:p>
        </p:txBody>
      </p:sp>
      <p:sp>
        <p:nvSpPr>
          <p:cNvPr id="21" name="dq output"/>
          <p:cNvSpPr/>
          <p:nvPr/>
        </p:nvSpPr>
        <p:spPr>
          <a:xfrm>
            <a:off x="4582058" y="4407408"/>
            <a:ext cx="3027578" cy="530352"/>
          </a:xfrm>
          <a:prstGeom prst="roundRect">
            <a:avLst>
              <a:gd name="adj" fmla="val 13793"/>
            </a:avLst>
          </a:prstGeom>
          <a:solidFill>
            <a:srgbClr val="FFFFFF"/>
          </a:solidFill>
          <a:ln w="9525">
            <a:solidFill>
              <a:srgbClr val="D1D5DB"/>
            </a:solidFill>
            <a:prstDash val="solid"/>
          </a:ln>
        </p:spPr>
      </p:sp>
      <p:sp>
        <p:nvSpPr>
          <p:cNvPr id="22" name="Text 18"/>
          <p:cNvSpPr txBox="1"/>
          <p:nvPr/>
        </p:nvSpPr>
        <p:spPr>
          <a:xfrm>
            <a:off x="4691786" y="4407408"/>
            <a:ext cx="2808122" cy="530352"/>
          </a:xfrm>
          <a:prstGeom prst="rect">
            <a:avLst/>
          </a:prstGeom>
          <a:noFill/>
          <a:ln/>
        </p:spPr>
        <p:txBody>
          <a:bodyPr wrap="square" lIns="0" tIns="0" rIns="0" bIns="0" rtlCol="0" anchor="ctr"/>
          <a:lstStyle/>
          <a:p>
            <a:pPr indent="0" marL="0">
              <a:buNone/>
            </a:pPr>
            <a:r>
              <a:rPr lang="en-US" sz="1150" b="1" dirty="0">
                <a:solidFill>
                  <a:schemeClr val="tx1"/>
                </a:solidFill>
              </a:rPr>
              <a:t>dq.* (store_failures) → model hilir berhenti</a:t>
            </a:r>
            <a:endParaRPr lang="en-US" sz="1150" dirty="0"/>
          </a:p>
        </p:txBody>
      </p:sp>
      <p:sp>
        <p:nvSpPr>
          <p:cNvPr id="23" name="connector"/>
          <p:cNvSpPr/>
          <p:nvPr/>
        </p:nvSpPr>
        <p:spPr>
          <a:xfrm>
            <a:off x="7847381" y="3268980"/>
            <a:ext cx="347472" cy="0"/>
          </a:xfrm>
          <a:prstGeom prst="line">
            <a:avLst/>
          </a:prstGeom>
          <a:noFill/>
          <a:ln w="25400">
            <a:solidFill>
              <a:srgbClr val="4B5563"/>
            </a:solidFill>
            <a:prstDash val="solid"/>
            <a:tailEnd type="triangle"/>
          </a:ln>
        </p:spPr>
      </p:sp>
      <p:sp>
        <p:nvSpPr>
          <p:cNvPr id="24" name="dq layer"/>
          <p:cNvSpPr/>
          <p:nvPr/>
        </p:nvSpPr>
        <p:spPr>
          <a:xfrm>
            <a:off x="8249717" y="1417320"/>
            <a:ext cx="3393338" cy="3703320"/>
          </a:xfrm>
          <a:prstGeom prst="roundRect">
            <a:avLst>
              <a:gd name="adj" fmla="val 2156"/>
            </a:avLst>
          </a:prstGeom>
          <a:solidFill>
            <a:schemeClr val="bg2"/>
          </a:solidFill>
          <a:ln/>
        </p:spPr>
      </p:sp>
      <p:sp>
        <p:nvSpPr>
          <p:cNvPr id="25" name="icon circle"/>
          <p:cNvSpPr/>
          <p:nvPr/>
        </p:nvSpPr>
        <p:spPr>
          <a:xfrm>
            <a:off x="8450885" y="1618488"/>
            <a:ext cx="457200" cy="457200"/>
          </a:xfrm>
          <a:prstGeom prst="ellipse">
            <a:avLst/>
          </a:prstGeom>
          <a:solidFill>
            <a:schemeClr val="accent1"/>
          </a:solidFill>
          <a:ln/>
        </p:spPr>
      </p:sp>
      <p:pic>
        <p:nvPicPr>
          <p:cNvPr id="26" name="icon" descr="preencoded.png">    </p:cNvPr>
          <p:cNvPicPr>
            <a:picLocks noChangeAspect="1"/>
          </p:cNvPicPr>
          <p:nvPr/>
        </p:nvPicPr>
        <p:blipFill>
          <a:blip r:embed="rId3"/>
          <a:stretch>
            <a:fillRect/>
          </a:stretch>
        </p:blipFill>
        <p:spPr>
          <a:xfrm>
            <a:off x="8560613" y="1728216"/>
            <a:ext cx="237744" cy="237744"/>
          </a:xfrm>
          <a:prstGeom prst="rect">
            <a:avLst/>
          </a:prstGeom>
        </p:spPr>
      </p:pic>
      <p:sp>
        <p:nvSpPr>
          <p:cNvPr id="27" name="Text 22"/>
          <p:cNvSpPr txBox="1"/>
          <p:nvPr/>
        </p:nvSpPr>
        <p:spPr>
          <a:xfrm>
            <a:off x="9036101" y="1600200"/>
            <a:ext cx="2478938"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LAPIS 3</a:t>
            </a:r>
            <a:endParaRPr lang="en-US" sz="1100" dirty="0"/>
          </a:p>
        </p:txBody>
      </p:sp>
      <p:sp>
        <p:nvSpPr>
          <p:cNvPr id="28" name="Text 23"/>
          <p:cNvSpPr txBox="1"/>
          <p:nvPr/>
        </p:nvSpPr>
        <p:spPr>
          <a:xfrm>
            <a:off x="9036101" y="1819656"/>
            <a:ext cx="2478938"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Pasca-load (dq_checks)</a:t>
            </a:r>
            <a:endParaRPr lang="en-US" sz="1400" dirty="0"/>
          </a:p>
        </p:txBody>
      </p:sp>
      <p:sp>
        <p:nvSpPr>
          <p:cNvPr id="29" name="Text 24"/>
          <p:cNvSpPr txBox="1"/>
          <p:nvPr/>
        </p:nvSpPr>
        <p:spPr>
          <a:xfrm>
            <a:off x="8450885" y="2221992"/>
            <a:ext cx="2991002" cy="274320"/>
          </a:xfrm>
          <a:prstGeom prst="rect">
            <a:avLst/>
          </a:prstGeom>
          <a:noFill/>
          <a:ln/>
        </p:spPr>
        <p:txBody>
          <a:bodyPr wrap="square" lIns="0" tIns="0" rIns="0" bIns="0" rtlCol="0" anchor="t"/>
          <a:lstStyle/>
          <a:p>
            <a:pPr indent="0" marL="0">
              <a:buNone/>
            </a:pPr>
            <a:r>
              <a:rPr lang="en-US" sz="1150" i="1" dirty="0">
                <a:solidFill>
                  <a:schemeClr val="accent2"/>
                </a:solidFill>
              </a:rPr>
              <a:t>10 cek statistik</a:t>
            </a:r>
            <a:endParaRPr lang="en-US" sz="1150" dirty="0"/>
          </a:p>
        </p:txBody>
      </p:sp>
      <p:sp>
        <p:nvSpPr>
          <p:cNvPr id="30" name="Text 25"/>
          <p:cNvSpPr txBox="1"/>
          <p:nvPr/>
        </p:nvSpPr>
        <p:spPr>
          <a:xfrm>
            <a:off x="8450885" y="2578608"/>
            <a:ext cx="2991002" cy="18288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error rate API: warning &gt; 5%, gagal &gt; 25%</a:t>
            </a:r>
            <a:endParaRPr lang="en-US" sz="1250" dirty="0"/>
          </a:p>
          <a:p>
            <a:pPr marL="177800" indent="-177800">
              <a:spcAft>
                <a:spcPts val="500"/>
              </a:spcAft>
              <a:buSzPct val="100000"/>
              <a:buChar char="•"/>
            </a:pPr>
            <a:r>
              <a:rPr lang="en-US" sz="1250" dirty="0">
                <a:solidFill>
                  <a:schemeClr val="tx1"/>
                </a:solidFill>
              </a:rPr>
              <a:t>match rate Spotify &amp; YouTube, quarantine rate</a:t>
            </a:r>
            <a:endParaRPr lang="en-US" sz="1250" dirty="0"/>
          </a:p>
          <a:p>
            <a:pPr marL="177800" indent="-177800">
              <a:spcAft>
                <a:spcPts val="500"/>
              </a:spcAft>
              <a:buSzPct val="100000"/>
              <a:buChar char="•"/>
            </a:pPr>
            <a:r>
              <a:rPr lang="en-US" sz="1250" dirty="0">
                <a:solidFill>
                  <a:schemeClr val="tx1"/>
                </a:solidFill>
              </a:rPr>
              <a:t>drift jumlah rekaman &gt; 30% vs run lalu</a:t>
            </a:r>
            <a:endParaRPr lang="en-US" sz="1250" dirty="0"/>
          </a:p>
          <a:p>
            <a:pPr marL="177800" indent="-177800">
              <a:spcAft>
                <a:spcPts val="500"/>
              </a:spcAft>
              <a:buSzPct val="100000"/>
              <a:buChar char="•"/>
            </a:pPr>
            <a:r>
              <a:rPr lang="en-US" sz="1250" dirty="0">
                <a:solidFill>
                  <a:schemeClr val="tx1"/>
                </a:solidFill>
              </a:rPr>
              <a:t>volume perubahan SCD2 &gt; 10% per run</a:t>
            </a:r>
            <a:endParaRPr lang="en-US" sz="1250" dirty="0"/>
          </a:p>
        </p:txBody>
      </p:sp>
      <p:sp>
        <p:nvSpPr>
          <p:cNvPr id="31" name="dq output"/>
          <p:cNvSpPr/>
          <p:nvPr/>
        </p:nvSpPr>
        <p:spPr>
          <a:xfrm>
            <a:off x="8432597" y="4407408"/>
            <a:ext cx="3027578" cy="530352"/>
          </a:xfrm>
          <a:prstGeom prst="roundRect">
            <a:avLst>
              <a:gd name="adj" fmla="val 13793"/>
            </a:avLst>
          </a:prstGeom>
          <a:solidFill>
            <a:srgbClr val="FFFFFF"/>
          </a:solidFill>
          <a:ln w="9525">
            <a:solidFill>
              <a:srgbClr val="D1D5DB"/>
            </a:solidFill>
            <a:prstDash val="solid"/>
          </a:ln>
        </p:spPr>
      </p:sp>
      <p:sp>
        <p:nvSpPr>
          <p:cNvPr id="32" name="Text 27"/>
          <p:cNvSpPr txBox="1"/>
          <p:nvPr/>
        </p:nvSpPr>
        <p:spPr>
          <a:xfrm>
            <a:off x="8542325" y="4407408"/>
            <a:ext cx="2808122" cy="530352"/>
          </a:xfrm>
          <a:prstGeom prst="rect">
            <a:avLst/>
          </a:prstGeom>
          <a:noFill/>
          <a:ln/>
        </p:spPr>
        <p:txBody>
          <a:bodyPr wrap="square" lIns="0" tIns="0" rIns="0" bIns="0" rtlCol="0" anchor="ctr"/>
          <a:lstStyle/>
          <a:p>
            <a:pPr indent="0" marL="0">
              <a:buNone/>
            </a:pPr>
            <a:r>
              <a:rPr lang="en-US" sz="1150" b="1" dirty="0">
                <a:solidFill>
                  <a:schemeClr val="tx1"/>
                </a:solidFill>
              </a:rPr>
              <a:t>ops.dq_results → error = task gagal + email</a:t>
            </a:r>
            <a:endParaRPr lang="en-US" sz="1150" dirty="0"/>
          </a:p>
        </p:txBody>
      </p:sp>
      <p:sp>
        <p:nvSpPr>
          <p:cNvPr id="33" name="principle banner"/>
          <p:cNvSpPr/>
          <p:nvPr/>
        </p:nvSpPr>
        <p:spPr>
          <a:xfrm>
            <a:off x="548640" y="5394960"/>
            <a:ext cx="11094415" cy="868680"/>
          </a:xfrm>
          <a:prstGeom prst="roundRect">
            <a:avLst>
              <a:gd name="adj" fmla="val 8421"/>
            </a:avLst>
          </a:prstGeom>
          <a:solidFill>
            <a:srgbClr val="1B1B1F"/>
          </a:solidFill>
          <a:ln/>
        </p:spPr>
      </p:sp>
      <p:sp>
        <p:nvSpPr>
          <p:cNvPr id="34" name="Text 29"/>
          <p:cNvSpPr txBox="1"/>
          <p:nvPr/>
        </p:nvSpPr>
        <p:spPr>
          <a:xfrm>
            <a:off x="822960" y="5468112"/>
            <a:ext cx="10545775" cy="722376"/>
          </a:xfrm>
          <a:prstGeom prst="rect">
            <a:avLst/>
          </a:prstGeom>
          <a:noFill/>
          <a:ln/>
        </p:spPr>
        <p:txBody>
          <a:bodyPr wrap="square" lIns="0" tIns="0" rIns="0" bIns="0" rtlCol="0" anchor="ctr"/>
          <a:lstStyle/>
          <a:p>
            <a:pPr indent="0" marL="0">
              <a:buNone/>
            </a:pPr>
            <a:r>
              <a:rPr lang="en-US" sz="1200" b="1" spc="100" kern="0" dirty="0">
                <a:solidFill>
                  <a:srgbClr val="E3262E"/>
                </a:solidFill>
              </a:rPr>
              <a:t>PRINSIP   </a:t>
            </a:r>
            <a:pPr indent="0" marL="0">
              <a:buNone/>
            </a:pPr>
            <a:r>
              <a:rPr lang="en-US" sz="1450" dirty="0">
                <a:solidFill>
                  <a:srgbClr val="FFFFFF"/>
                </a:solidFill>
              </a:rPr>
              <a:t>Tidak ada data yang dibuang diam-diam: yang tidak valid dikarantina beserta alasannya, yang kosong disimpan NULL dan dijelaskan kolom status — angka nol tidak pernah ambigu.</a:t>
            </a:r>
            <a:endParaRPr lang="en-US" sz="14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7 · DATA QUALITY &amp; VALIDASI</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Aturan validasi &amp; penanganan data bermasalah</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91640"/>
                <a:gridCol w="4754880"/>
                <a:gridCol w="4647895"/>
              </a:tblGrid>
              <a:tr h="502920">
                <a:tc>
                  <a:txBody>
                    <a:bodyPr/>
                    <a:lstStyle/>
                    <a:p>
                      <a:pPr indent="0" marL="0">
                        <a:buNone/>
                      </a:pPr>
                      <a:r>
                        <a:rPr lang="en-US" sz="1200" b="1" dirty="0">
                          <a:solidFill>
                            <a:srgbClr val="FFFFFF"/>
                          </a:solidFill>
                        </a:rPr>
                        <a:t>Entitas</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Aturan validasi → reject_reason</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Standardisasi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502920">
                <a:tc>
                  <a:txBody>
                    <a:bodyPr/>
                    <a:lstStyle/>
                    <a:p>
                      <a:pPr indent="0" marL="0">
                        <a:buNone/>
                      </a:pPr>
                      <a:r>
                        <a:rPr lang="en-US" sz="1200" b="1" dirty="0">
                          <a:solidFill>
                            <a:srgbClr val="1B1B1F"/>
                          </a:solidFill>
                        </a:rPr>
                        <a:t>Lagu katalog</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latin typeface="Consolas" pitchFamily="34" charset="0"/>
                          <a:ea typeface="Consolas" pitchFamily="34" charset="-122"/>
                          <a:cs typeface="Consolas" pitchFamily="34" charset="-120"/>
                        </a:rPr>
                        <a:t>missing_code · non_numeric_code · missing_title · duplicate_code (baris pertama dipertahankan)</a:t>
                      </a:r>
                      <a:endParaRPr lang="en-US" sz="11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NFKC, karakter tak terlihat dihapus (U+2060), 13809.0 → 13809, artis kosong → NULL</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B1B1F"/>
                          </a:solidFill>
                        </a:rPr>
                        <a:t>Sheet katalog</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kolom wajib hilang → task gagal; 0 baris valid atau &gt; 20% lagu hilang → task gagal</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kontrak skema + guard anomali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502920">
                <a:tc>
                  <a:txBody>
                    <a:bodyPr/>
                    <a:lstStyle/>
                    <a:p>
                      <a:pPr indent="0" marL="0">
                        <a:buNone/>
                      </a:pPr>
                      <a:r>
                        <a:rPr lang="en-US" sz="1200" b="1" dirty="0">
                          <a:solidFill>
                            <a:srgbClr val="1B1B1F"/>
                          </a:solidFill>
                        </a:rPr>
                        <a:t>Track Spotify</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latin typeface="Consolas" pitchFamily="34" charset="0"/>
                          <a:ea typeface="Consolas" pitchFamily="34" charset="-122"/>
                          <a:cs typeface="Consolas" pitchFamily="34" charset="-120"/>
                        </a:rPr>
                        <a:t>invalid_track_id · missing_isrc (setelah fallback) · invalid_isrc_format</a:t>
                      </a:r>
                      <a:endParaRPr lang="en-US" sz="11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ISRC huruf besar tanpa pemisah; tanggal rilis sesuai presisi (1974 → 1974-01-01)</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B1B1F"/>
                          </a:solidFill>
                        </a:rPr>
                        <a:t>Video YouTube</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dirty="0">
                          <a:solidFill>
                            <a:srgbClr val="1B1B1F"/>
                          </a:solidFill>
                          <a:latin typeface="Consolas" pitchFamily="34" charset="0"/>
                          <a:ea typeface="Consolas" pitchFamily="34" charset="-122"/>
                          <a:cs typeface="Consolas" pitchFamily="34" charset="-120"/>
                        </a:rPr>
                        <a:t>invalid_video_id · missing_channel_id · video_unavailable (dihapus / private)</a:t>
                      </a:r>
                      <a:endParaRPr lang="en-US" sz="11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judul HTML di-unescape, durasi ISO-8601 → detik, waktu UTC</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bl>
          </a:graphicData>
        </a:graphic>
      </p:graphicFrame>
      <p:sp>
        <p:nvSpPr>
          <p:cNvPr id="5" name="problem card"/>
          <p:cNvSpPr/>
          <p:nvPr/>
        </p:nvSpPr>
        <p:spPr>
          <a:xfrm>
            <a:off x="548640" y="4160520"/>
            <a:ext cx="3515258" cy="987552"/>
          </a:xfrm>
          <a:prstGeom prst="roundRect">
            <a:avLst>
              <a:gd name="adj" fmla="val 7407"/>
            </a:avLst>
          </a:prstGeom>
          <a:solidFill>
            <a:schemeClr val="bg2"/>
          </a:solidFill>
          <a:ln/>
        </p:spPr>
      </p:sp>
      <p:sp>
        <p:nvSpPr>
          <p:cNvPr id="6" name="Text 3"/>
          <p:cNvSpPr txBox="1"/>
          <p:nvPr/>
        </p:nvSpPr>
        <p:spPr>
          <a:xfrm>
            <a:off x="749808" y="4279392"/>
            <a:ext cx="3112922" cy="274320"/>
          </a:xfrm>
          <a:prstGeom prst="rect">
            <a:avLst/>
          </a:prstGeom>
          <a:noFill/>
          <a:ln/>
        </p:spPr>
        <p:txBody>
          <a:bodyPr wrap="square" lIns="0" tIns="0" rIns="0" bIns="0" rtlCol="0" anchor="t"/>
          <a:lstStyle/>
          <a:p>
            <a:pPr indent="0" marL="0">
              <a:buNone/>
            </a:pPr>
            <a:r>
              <a:rPr lang="en-US" sz="1350" b="1" dirty="0">
                <a:solidFill>
                  <a:schemeClr val="accent1"/>
                </a:solidFill>
              </a:rPr>
              <a:t>Nilai hilang</a:t>
            </a:r>
            <a:endParaRPr lang="en-US" sz="1350" dirty="0"/>
          </a:p>
        </p:txBody>
      </p:sp>
      <p:sp>
        <p:nvSpPr>
          <p:cNvPr id="7" name="Text 4"/>
          <p:cNvSpPr txBox="1"/>
          <p:nvPr/>
        </p:nvSpPr>
        <p:spPr>
          <a:xfrm>
            <a:off x="749808" y="4572000"/>
            <a:ext cx="3112922" cy="530352"/>
          </a:xfrm>
          <a:prstGeom prst="rect">
            <a:avLst/>
          </a:prstGeom>
          <a:noFill/>
          <a:ln/>
        </p:spPr>
        <p:txBody>
          <a:bodyPr wrap="square" lIns="0" tIns="0" rIns="0" bIns="0" rtlCol="0" anchor="t"/>
          <a:lstStyle/>
          <a:p>
            <a:pPr indent="0" marL="0">
              <a:buNone/>
            </a:pPr>
            <a:r>
              <a:rPr lang="en-US" sz="1200" dirty="0">
                <a:solidFill>
                  <a:schemeClr val="tx1"/>
                </a:solidFill>
              </a:rPr>
              <a:t>NULL + kolom status (is_artist_known, spotify_status, youtube_status) — bukan error.</a:t>
            </a:r>
            <a:endParaRPr lang="en-US" sz="1200" dirty="0"/>
          </a:p>
        </p:txBody>
      </p:sp>
      <p:sp>
        <p:nvSpPr>
          <p:cNvPr id="8" name="problem card"/>
          <p:cNvSpPr/>
          <p:nvPr/>
        </p:nvSpPr>
        <p:spPr>
          <a:xfrm>
            <a:off x="4338218" y="4160520"/>
            <a:ext cx="3515258" cy="987552"/>
          </a:xfrm>
          <a:prstGeom prst="roundRect">
            <a:avLst>
              <a:gd name="adj" fmla="val 7407"/>
            </a:avLst>
          </a:prstGeom>
          <a:solidFill>
            <a:schemeClr val="bg2"/>
          </a:solidFill>
          <a:ln/>
        </p:spPr>
      </p:sp>
      <p:sp>
        <p:nvSpPr>
          <p:cNvPr id="9" name="Text 6"/>
          <p:cNvSpPr txBox="1"/>
          <p:nvPr/>
        </p:nvSpPr>
        <p:spPr>
          <a:xfrm>
            <a:off x="4539386" y="4279392"/>
            <a:ext cx="3112922" cy="274320"/>
          </a:xfrm>
          <a:prstGeom prst="rect">
            <a:avLst/>
          </a:prstGeom>
          <a:noFill/>
          <a:ln/>
        </p:spPr>
        <p:txBody>
          <a:bodyPr wrap="square" lIns="0" tIns="0" rIns="0" bIns="0" rtlCol="0" anchor="t"/>
          <a:lstStyle/>
          <a:p>
            <a:pPr indent="0" marL="0">
              <a:buNone/>
            </a:pPr>
            <a:r>
              <a:rPr lang="en-US" sz="1350" b="1" dirty="0">
                <a:solidFill>
                  <a:schemeClr val="accent1"/>
                </a:solidFill>
              </a:rPr>
              <a:t>Format tidak konsisten</a:t>
            </a:r>
            <a:endParaRPr lang="en-US" sz="1350" dirty="0"/>
          </a:p>
        </p:txBody>
      </p:sp>
      <p:sp>
        <p:nvSpPr>
          <p:cNvPr id="10" name="Text 7"/>
          <p:cNvSpPr txBox="1"/>
          <p:nvPr/>
        </p:nvSpPr>
        <p:spPr>
          <a:xfrm>
            <a:off x="4539386" y="4572000"/>
            <a:ext cx="3112922" cy="530352"/>
          </a:xfrm>
          <a:prstGeom prst="rect">
            <a:avLst/>
          </a:prstGeom>
          <a:noFill/>
          <a:ln/>
        </p:spPr>
        <p:txBody>
          <a:bodyPr wrap="square" lIns="0" tIns="0" rIns="0" bIns="0" rtlCol="0" anchor="t"/>
          <a:lstStyle/>
          <a:p>
            <a:pPr indent="0" marL="0">
              <a:buNone/>
            </a:pPr>
            <a:r>
              <a:rPr lang="en-US" sz="1200" dirty="0">
                <a:solidFill>
                  <a:schemeClr val="tx1"/>
                </a:solidFill>
              </a:rPr>
              <a:t>distandarkan di pandas: ISRC, tanggal, durasi, HTML, Unicode.</a:t>
            </a:r>
            <a:endParaRPr lang="en-US" sz="1200" dirty="0"/>
          </a:p>
        </p:txBody>
      </p:sp>
      <p:sp>
        <p:nvSpPr>
          <p:cNvPr id="11" name="problem card"/>
          <p:cNvSpPr/>
          <p:nvPr/>
        </p:nvSpPr>
        <p:spPr>
          <a:xfrm>
            <a:off x="8127797" y="4160520"/>
            <a:ext cx="3515258" cy="987552"/>
          </a:xfrm>
          <a:prstGeom prst="roundRect">
            <a:avLst>
              <a:gd name="adj" fmla="val 7407"/>
            </a:avLst>
          </a:prstGeom>
          <a:solidFill>
            <a:schemeClr val="bg2"/>
          </a:solidFill>
          <a:ln/>
        </p:spPr>
      </p:sp>
      <p:sp>
        <p:nvSpPr>
          <p:cNvPr id="12" name="Text 9"/>
          <p:cNvSpPr txBox="1"/>
          <p:nvPr/>
        </p:nvSpPr>
        <p:spPr>
          <a:xfrm>
            <a:off x="8328965" y="4279392"/>
            <a:ext cx="3112922" cy="274320"/>
          </a:xfrm>
          <a:prstGeom prst="rect">
            <a:avLst/>
          </a:prstGeom>
          <a:noFill/>
          <a:ln/>
        </p:spPr>
        <p:txBody>
          <a:bodyPr wrap="square" lIns="0" tIns="0" rIns="0" bIns="0" rtlCol="0" anchor="t"/>
          <a:lstStyle/>
          <a:p>
            <a:pPr indent="0" marL="0">
              <a:buNone/>
            </a:pPr>
            <a:r>
              <a:rPr lang="en-US" sz="1350" b="1" dirty="0">
                <a:solidFill>
                  <a:schemeClr val="accent1"/>
                </a:solidFill>
              </a:rPr>
              <a:t>Identifier tidak valid</a:t>
            </a:r>
            <a:endParaRPr lang="en-US" sz="1350" dirty="0"/>
          </a:p>
        </p:txBody>
      </p:sp>
      <p:sp>
        <p:nvSpPr>
          <p:cNvPr id="13" name="Text 10"/>
          <p:cNvSpPr txBox="1"/>
          <p:nvPr/>
        </p:nvSpPr>
        <p:spPr>
          <a:xfrm>
            <a:off x="8328965" y="4572000"/>
            <a:ext cx="3112922" cy="530352"/>
          </a:xfrm>
          <a:prstGeom prst="rect">
            <a:avLst/>
          </a:prstGeom>
          <a:noFill/>
          <a:ln/>
        </p:spPr>
        <p:txBody>
          <a:bodyPr wrap="square" lIns="0" tIns="0" rIns="0" bIns="0" rtlCol="0" anchor="t"/>
          <a:lstStyle/>
          <a:p>
            <a:pPr indent="0" marL="0">
              <a:buNone/>
            </a:pPr>
            <a:r>
              <a:rPr lang="en-US" sz="1200" dirty="0">
                <a:solidFill>
                  <a:schemeClr val="tx1"/>
                </a:solidFill>
              </a:rPr>
              <a:t>dikarantina dengan alasan; tidak pernah masuk clean / marts.</a:t>
            </a:r>
            <a:endParaRPr lang="en-US" sz="1200" dirty="0"/>
          </a:p>
        </p:txBody>
      </p:sp>
      <p:sp>
        <p:nvSpPr>
          <p:cNvPr id="14" name="problem card"/>
          <p:cNvSpPr/>
          <p:nvPr/>
        </p:nvSpPr>
        <p:spPr>
          <a:xfrm>
            <a:off x="548640" y="5257800"/>
            <a:ext cx="3515258" cy="987552"/>
          </a:xfrm>
          <a:prstGeom prst="roundRect">
            <a:avLst>
              <a:gd name="adj" fmla="val 7407"/>
            </a:avLst>
          </a:prstGeom>
          <a:solidFill>
            <a:schemeClr val="bg2"/>
          </a:solidFill>
          <a:ln/>
        </p:spPr>
      </p:sp>
      <p:sp>
        <p:nvSpPr>
          <p:cNvPr id="15" name="Text 12"/>
          <p:cNvSpPr txBox="1"/>
          <p:nvPr/>
        </p:nvSpPr>
        <p:spPr>
          <a:xfrm>
            <a:off x="749808" y="5376672"/>
            <a:ext cx="3112922" cy="274320"/>
          </a:xfrm>
          <a:prstGeom prst="rect">
            <a:avLst/>
          </a:prstGeom>
          <a:noFill/>
          <a:ln/>
        </p:spPr>
        <p:txBody>
          <a:bodyPr wrap="square" lIns="0" tIns="0" rIns="0" bIns="0" rtlCol="0" anchor="t"/>
          <a:lstStyle/>
          <a:p>
            <a:pPr indent="0" marL="0">
              <a:buNone/>
            </a:pPr>
            <a:r>
              <a:rPr lang="en-US" sz="1350" b="1" dirty="0">
                <a:solidFill>
                  <a:schemeClr val="accent1"/>
                </a:solidFill>
              </a:rPr>
              <a:t>Duplikat</a:t>
            </a:r>
            <a:endParaRPr lang="en-US" sz="1350" dirty="0"/>
          </a:p>
        </p:txBody>
      </p:sp>
      <p:sp>
        <p:nvSpPr>
          <p:cNvPr id="16" name="Text 13"/>
          <p:cNvSpPr txBox="1"/>
          <p:nvPr/>
        </p:nvSpPr>
        <p:spPr>
          <a:xfrm>
            <a:off x="749808" y="5669280"/>
            <a:ext cx="3112922" cy="530352"/>
          </a:xfrm>
          <a:prstGeom prst="rect">
            <a:avLst/>
          </a:prstGeom>
          <a:noFill/>
          <a:ln/>
        </p:spPr>
        <p:txBody>
          <a:bodyPr wrap="square" lIns="0" tIns="0" rIns="0" bIns="0" rtlCol="0" anchor="t"/>
          <a:lstStyle/>
          <a:p>
            <a:pPr indent="0" marL="0">
              <a:buNone/>
            </a:pPr>
            <a:r>
              <a:rPr lang="en-US" sz="1200" dirty="0">
                <a:solidFill>
                  <a:schemeClr val="tx1"/>
                </a:solidFill>
              </a:rPr>
              <a:t>business key: baris katalog pertama, observasi API terbaru, ISRC lintas rilis.</a:t>
            </a:r>
            <a:endParaRPr lang="en-US" sz="1200" dirty="0"/>
          </a:p>
        </p:txBody>
      </p:sp>
      <p:sp>
        <p:nvSpPr>
          <p:cNvPr id="17" name="problem card"/>
          <p:cNvSpPr/>
          <p:nvPr/>
        </p:nvSpPr>
        <p:spPr>
          <a:xfrm>
            <a:off x="4338218" y="5257800"/>
            <a:ext cx="3515258" cy="987552"/>
          </a:xfrm>
          <a:prstGeom prst="roundRect">
            <a:avLst>
              <a:gd name="adj" fmla="val 7407"/>
            </a:avLst>
          </a:prstGeom>
          <a:solidFill>
            <a:schemeClr val="bg2"/>
          </a:solidFill>
          <a:ln/>
        </p:spPr>
      </p:sp>
      <p:sp>
        <p:nvSpPr>
          <p:cNvPr id="18" name="Text 15"/>
          <p:cNvSpPr txBox="1"/>
          <p:nvPr/>
        </p:nvSpPr>
        <p:spPr>
          <a:xfrm>
            <a:off x="4539386" y="5376672"/>
            <a:ext cx="3112922" cy="274320"/>
          </a:xfrm>
          <a:prstGeom prst="rect">
            <a:avLst/>
          </a:prstGeom>
          <a:noFill/>
          <a:ln/>
        </p:spPr>
        <p:txBody>
          <a:bodyPr wrap="square" lIns="0" tIns="0" rIns="0" bIns="0" rtlCol="0" anchor="t"/>
          <a:lstStyle/>
          <a:p>
            <a:pPr indent="0" marL="0">
              <a:buNone/>
            </a:pPr>
            <a:r>
              <a:rPr lang="en-US" sz="1350" b="1" dirty="0">
                <a:solidFill>
                  <a:schemeClr val="accent1"/>
                </a:solidFill>
              </a:rPr>
              <a:t>Data hilang diam-diam</a:t>
            </a:r>
            <a:endParaRPr lang="en-US" sz="1350" dirty="0"/>
          </a:p>
        </p:txBody>
      </p:sp>
      <p:sp>
        <p:nvSpPr>
          <p:cNvPr id="19" name="Text 16"/>
          <p:cNvSpPr txBox="1"/>
          <p:nvPr/>
        </p:nvSpPr>
        <p:spPr>
          <a:xfrm>
            <a:off x="4539386" y="5669280"/>
            <a:ext cx="3112922" cy="530352"/>
          </a:xfrm>
          <a:prstGeom prst="rect">
            <a:avLst/>
          </a:prstGeom>
          <a:noFill/>
          <a:ln/>
        </p:spPr>
        <p:txBody>
          <a:bodyPr wrap="square" lIns="0" tIns="0" rIns="0" bIns="0" rtlCol="0" anchor="t"/>
          <a:lstStyle/>
          <a:p>
            <a:pPr indent="0" marL="0">
              <a:buNone/>
            </a:pPr>
            <a:r>
              <a:rPr lang="en-US" sz="1200" dirty="0">
                <a:solidFill>
                  <a:schemeClr val="tx1"/>
                </a:solidFill>
              </a:rPr>
              <a:t>test completeness &amp; rekonsiliasi; drift rekaman &gt; 30% → warning.</a:t>
            </a:r>
            <a:endParaRPr lang="en-US" sz="1200" dirty="0"/>
          </a:p>
        </p:txBody>
      </p:sp>
      <p:sp>
        <p:nvSpPr>
          <p:cNvPr id="20" name="problem card"/>
          <p:cNvSpPr/>
          <p:nvPr/>
        </p:nvSpPr>
        <p:spPr>
          <a:xfrm>
            <a:off x="8127797" y="5257800"/>
            <a:ext cx="3515258" cy="987552"/>
          </a:xfrm>
          <a:prstGeom prst="roundRect">
            <a:avLst>
              <a:gd name="adj" fmla="val 7407"/>
            </a:avLst>
          </a:prstGeom>
          <a:solidFill>
            <a:schemeClr val="bg2"/>
          </a:solidFill>
          <a:ln/>
        </p:spPr>
      </p:sp>
      <p:sp>
        <p:nvSpPr>
          <p:cNvPr id="21" name="Text 18"/>
          <p:cNvSpPr txBox="1"/>
          <p:nvPr/>
        </p:nvSpPr>
        <p:spPr>
          <a:xfrm>
            <a:off x="8328965" y="5376672"/>
            <a:ext cx="3112922" cy="274320"/>
          </a:xfrm>
          <a:prstGeom prst="rect">
            <a:avLst/>
          </a:prstGeom>
          <a:noFill/>
          <a:ln/>
        </p:spPr>
        <p:txBody>
          <a:bodyPr wrap="square" lIns="0" tIns="0" rIns="0" bIns="0" rtlCol="0" anchor="t"/>
          <a:lstStyle/>
          <a:p>
            <a:pPr indent="0" marL="0">
              <a:buNone/>
            </a:pPr>
            <a:r>
              <a:rPr lang="en-US" sz="1350" b="1" dirty="0">
                <a:solidFill>
                  <a:schemeClr val="accent1"/>
                </a:solidFill>
              </a:rPr>
              <a:t>Sumber / API rusak</a:t>
            </a:r>
            <a:endParaRPr lang="en-US" sz="1350" dirty="0"/>
          </a:p>
        </p:txBody>
      </p:sp>
      <p:sp>
        <p:nvSpPr>
          <p:cNvPr id="22" name="Text 19"/>
          <p:cNvSpPr txBox="1"/>
          <p:nvPr/>
        </p:nvSpPr>
        <p:spPr>
          <a:xfrm>
            <a:off x="8328965" y="5669280"/>
            <a:ext cx="3112922" cy="530352"/>
          </a:xfrm>
          <a:prstGeom prst="rect">
            <a:avLst/>
          </a:prstGeom>
          <a:noFill/>
          <a:ln/>
        </p:spPr>
        <p:txBody>
          <a:bodyPr wrap="square" lIns="0" tIns="0" rIns="0" bIns="0" rtlCol="0" anchor="t"/>
          <a:lstStyle/>
          <a:p>
            <a:pPr indent="0" marL="0">
              <a:buNone/>
            </a:pPr>
            <a:r>
              <a:rPr lang="en-US" sz="1200" dirty="0">
                <a:solidFill>
                  <a:schemeClr val="tx1"/>
                </a:solidFill>
              </a:rPr>
              <a:t>kontrak skema, guard hapus massal, error rate &gt; 25% gagal, circuit breaker.</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7 · DATA QUALITY &amp; VALIDASI</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Hasil di data asli: 10/10 cek lulus, dbt build 105/105 lulus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086600" cy="914400"/>
        </p:xfrm>
        <a:graphic>
          <a:graphicData uri="http://schemas.openxmlformats.org/drawingml/2006/table">
            <a:tbl>
              <a:tblPr/>
              <a:tblGrid>
                <a:gridCol w="2514600"/>
                <a:gridCol w="731520"/>
                <a:gridCol w="1143000"/>
                <a:gridCol w="1920240"/>
                <a:gridCol w="777240"/>
              </a:tblGrid>
              <a:tr h="384048">
                <a:tc>
                  <a:txBody>
                    <a:bodyPr/>
                    <a:lstStyle/>
                    <a:p>
                      <a:pPr indent="0" marL="0">
                        <a:buNone/>
                      </a:pPr>
                      <a:r>
                        <a:rPr lang="en-US" sz="1150" b="1" dirty="0">
                          <a:solidFill>
                            <a:srgbClr val="FFFFFF"/>
                          </a:solidFill>
                        </a:rPr>
                        <a:t>Cek (dq_checks)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50" b="1" dirty="0">
                          <a:solidFill>
                            <a:srgbClr val="FFFFFF"/>
                          </a:solidFill>
                        </a:rPr>
                        <a:t>Layer</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50" b="1" dirty="0">
                          <a:solidFill>
                            <a:srgbClr val="FFFFFF"/>
                          </a:solidFill>
                        </a:rPr>
                        <a:t>Nilai</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50" b="1" dirty="0">
                          <a:solidFill>
                            <a:srgbClr val="FFFFFF"/>
                          </a:solidFill>
                        </a:rPr>
                        <a:t>Ambang</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50" b="1" dirty="0">
                          <a:solidFill>
                            <a:srgbClr val="FFFFFF"/>
                          </a:solidFill>
                        </a:rPr>
                        <a:t>Status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catalog_current_songs</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clean</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1B1F"/>
                          </a:solidFill>
                        </a:rPr>
                        <a:t>699</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&gt; 0</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catalog_quarantine_rate</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clean</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50" b="1" dirty="0">
                          <a:solidFill>
                            <a:srgbClr val="1B1B1F"/>
                          </a:solidFill>
                        </a:rPr>
                        <a:t>0,0%</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 2%</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catalog_scd2_change_rate</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clean</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1B1F"/>
                          </a:solidFill>
                        </a:rPr>
                        <a:t>0,0%</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 10% per run</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overview_completeness</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marts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50" b="1" dirty="0">
                          <a:solidFill>
                            <a:srgbClr val="1B1B1F"/>
                          </a:solidFill>
                        </a:rPr>
                        <a:t>699</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 dim_song (699)</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recording_count_drift</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marts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1B1F"/>
                          </a:solidFill>
                        </a:rPr>
                        <a:t>17,3%</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turun ≤ 30% vs run lalu</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spotify_api_error_rate</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raw</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50" b="1" dirty="0">
                          <a:solidFill>
                            <a:srgbClr val="1B1B1F"/>
                          </a:solidFill>
                        </a:rPr>
                        <a:t>0,0%</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warn &gt; 5%, gagal &gt; 25%</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youtube_api_error_rate</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raw</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1B1F"/>
                          </a:solidFill>
                        </a:rPr>
                        <a:t>0,0%</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warn &gt; 5%, gagal &gt; 25%</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spotify_match_rate</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marts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50" b="1" dirty="0">
                          <a:solidFill>
                            <a:srgbClr val="1B1B1F"/>
                          </a:solidFill>
                        </a:rPr>
                        <a:t>71,6%</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 60%</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youtube_match_rate</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marts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1B1F"/>
                          </a:solidFill>
                        </a:rPr>
                        <a:t>89,9%</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F"/>
                          </a:solidFill>
                        </a:rPr>
                        <a:t>≥ 50%</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B1B1F"/>
                          </a:solidFill>
                          <a:latin typeface="Consolas" pitchFamily="34" charset="0"/>
                          <a:ea typeface="Consolas" pitchFamily="34" charset="-122"/>
                          <a:cs typeface="Consolas" pitchFamily="34" charset="-120"/>
                        </a:rPr>
                        <a:t>youtube_quota_backlog</a:t>
                      </a:r>
                      <a:endParaRPr lang="en-US" sz="11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marts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algn="r" indent="0" marL="0">
                        <a:buNone/>
                      </a:pPr>
                      <a:r>
                        <a:rPr lang="en-US" sz="1150" b="1" dirty="0">
                          <a:solidFill>
                            <a:srgbClr val="1B1B1F"/>
                          </a:solidFill>
                        </a:rPr>
                        <a:t>610 lagu</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dirty="0">
                          <a:solidFill>
                            <a:srgbClr val="1B1B1F"/>
                          </a:solidFill>
                        </a:rPr>
                        <a:t>informasi</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50" b="1" dirty="0">
                          <a:solidFill>
                            <a:srgbClr val="15803D"/>
                          </a:solidFill>
                        </a:rPr>
                        <a:t>lulus</a:t>
                      </a:r>
                      <a:endParaRPr lang="en-US" sz="115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bl>
          </a:graphicData>
        </a:graphic>
      </p:graphicFrame>
      <p:sp>
        <p:nvSpPr>
          <p:cNvPr id="5" name="stat tile"/>
          <p:cNvSpPr/>
          <p:nvPr/>
        </p:nvSpPr>
        <p:spPr>
          <a:xfrm>
            <a:off x="7909560" y="1417320"/>
            <a:ext cx="1752448" cy="1600200"/>
          </a:xfrm>
          <a:prstGeom prst="roundRect">
            <a:avLst>
              <a:gd name="adj" fmla="val 4571"/>
            </a:avLst>
          </a:prstGeom>
          <a:solidFill>
            <a:schemeClr val="bg2"/>
          </a:solidFill>
          <a:ln/>
        </p:spPr>
      </p:sp>
      <p:sp>
        <p:nvSpPr>
          <p:cNvPr id="6" name="Text 3"/>
          <p:cNvSpPr txBox="1"/>
          <p:nvPr/>
        </p:nvSpPr>
        <p:spPr>
          <a:xfrm>
            <a:off x="8092440" y="1545336"/>
            <a:ext cx="1386688" cy="457200"/>
          </a:xfrm>
          <a:prstGeom prst="rect">
            <a:avLst/>
          </a:prstGeom>
          <a:noFill/>
          <a:ln/>
        </p:spPr>
        <p:txBody>
          <a:bodyPr wrap="square" lIns="0" tIns="0" rIns="0" bIns="0" rtlCol="0" anchor="ctr"/>
          <a:lstStyle/>
          <a:p>
            <a:pPr indent="0" marL="0">
              <a:buNone/>
            </a:pPr>
            <a:r>
              <a:rPr lang="en-US" sz="2400" b="1" dirty="0">
                <a:solidFill>
                  <a:srgbClr val="15803D"/>
                </a:solidFill>
                <a:latin typeface="Arial" pitchFamily="34" charset="0"/>
                <a:ea typeface="Arial" pitchFamily="34" charset="-122"/>
                <a:cs typeface="Arial" pitchFamily="34" charset="-120"/>
              </a:rPr>
              <a:t>24/24</a:t>
            </a:r>
            <a:endParaRPr lang="en-US" sz="2400" dirty="0"/>
          </a:p>
        </p:txBody>
      </p:sp>
      <p:sp>
        <p:nvSpPr>
          <p:cNvPr id="7" name="Text 4"/>
          <p:cNvSpPr txBox="1"/>
          <p:nvPr/>
        </p:nvSpPr>
        <p:spPr>
          <a:xfrm>
            <a:off x="8092440" y="2020824"/>
            <a:ext cx="1386688" cy="923544"/>
          </a:xfrm>
          <a:prstGeom prst="rect">
            <a:avLst/>
          </a:prstGeom>
          <a:noFill/>
          <a:ln/>
        </p:spPr>
        <p:txBody>
          <a:bodyPr wrap="square" lIns="0" tIns="0" rIns="0" bIns="0" rtlCol="0" anchor="t"/>
          <a:lstStyle/>
          <a:p>
            <a:pPr indent="0" marL="0">
              <a:buNone/>
            </a:pPr>
            <a:r>
              <a:rPr lang="en-US" sz="1200" dirty="0">
                <a:solidFill>
                  <a:schemeClr val="tx1"/>
                </a:solidFill>
              </a:rPr>
              <a:t>pytest: integritas DAG, aturan pandas, rencana SCD2, HTTP, email, dashboard</a:t>
            </a:r>
            <a:endParaRPr lang="en-US" sz="1200" dirty="0"/>
          </a:p>
        </p:txBody>
      </p:sp>
      <p:sp>
        <p:nvSpPr>
          <p:cNvPr id="8" name="stat tile"/>
          <p:cNvSpPr/>
          <p:nvPr/>
        </p:nvSpPr>
        <p:spPr>
          <a:xfrm>
            <a:off x="9890608" y="1417320"/>
            <a:ext cx="1752448" cy="1600200"/>
          </a:xfrm>
          <a:prstGeom prst="roundRect">
            <a:avLst>
              <a:gd name="adj" fmla="val 4571"/>
            </a:avLst>
          </a:prstGeom>
          <a:solidFill>
            <a:schemeClr val="bg2"/>
          </a:solidFill>
          <a:ln/>
        </p:spPr>
      </p:sp>
      <p:sp>
        <p:nvSpPr>
          <p:cNvPr id="9" name="Text 6"/>
          <p:cNvSpPr txBox="1"/>
          <p:nvPr/>
        </p:nvSpPr>
        <p:spPr>
          <a:xfrm>
            <a:off x="10073488" y="1545336"/>
            <a:ext cx="1386688" cy="457200"/>
          </a:xfrm>
          <a:prstGeom prst="rect">
            <a:avLst/>
          </a:prstGeom>
          <a:noFill/>
          <a:ln/>
        </p:spPr>
        <p:txBody>
          <a:bodyPr wrap="square" lIns="0" tIns="0" rIns="0" bIns="0" rtlCol="0" anchor="ctr"/>
          <a:lstStyle/>
          <a:p>
            <a:pPr indent="0" marL="0">
              <a:buNone/>
            </a:pPr>
            <a:r>
              <a:rPr lang="en-US" sz="2400" b="1" dirty="0">
                <a:solidFill>
                  <a:srgbClr val="15803D"/>
                </a:solidFill>
                <a:latin typeface="Arial" pitchFamily="34" charset="0"/>
                <a:ea typeface="Arial" pitchFamily="34" charset="-122"/>
                <a:cs typeface="Arial" pitchFamily="34" charset="-120"/>
              </a:rPr>
              <a:t>105/105</a:t>
            </a:r>
            <a:endParaRPr lang="en-US" sz="2400" dirty="0"/>
          </a:p>
        </p:txBody>
      </p:sp>
      <p:sp>
        <p:nvSpPr>
          <p:cNvPr id="10" name="Text 7"/>
          <p:cNvSpPr txBox="1"/>
          <p:nvPr/>
        </p:nvSpPr>
        <p:spPr>
          <a:xfrm>
            <a:off x="10073488" y="2020824"/>
            <a:ext cx="1386688" cy="923544"/>
          </a:xfrm>
          <a:prstGeom prst="rect">
            <a:avLst/>
          </a:prstGeom>
          <a:noFill/>
          <a:ln/>
        </p:spPr>
        <p:txBody>
          <a:bodyPr wrap="square" lIns="0" tIns="0" rIns="0" bIns="0" rtlCol="0" anchor="t"/>
          <a:lstStyle/>
          <a:p>
            <a:pPr indent="0" marL="0">
              <a:buNone/>
            </a:pPr>
            <a:r>
              <a:rPr lang="en-US" sz="1200" dirty="0">
                <a:solidFill>
                  <a:schemeClr val="tx1"/>
                </a:solidFill>
              </a:rPr>
              <a:t>dbt build: 28 model + 76 data test + 1 unit test</a:t>
            </a:r>
            <a:endParaRPr lang="en-US" sz="1200" dirty="0"/>
          </a:p>
        </p:txBody>
      </p:sp>
      <p:sp>
        <p:nvSpPr>
          <p:cNvPr id="11" name="stat tile"/>
          <p:cNvSpPr/>
          <p:nvPr/>
        </p:nvSpPr>
        <p:spPr>
          <a:xfrm>
            <a:off x="7909560" y="3200400"/>
            <a:ext cx="1752448" cy="1600200"/>
          </a:xfrm>
          <a:prstGeom prst="roundRect">
            <a:avLst>
              <a:gd name="adj" fmla="val 4571"/>
            </a:avLst>
          </a:prstGeom>
          <a:solidFill>
            <a:schemeClr val="bg2"/>
          </a:solidFill>
          <a:ln/>
        </p:spPr>
      </p:sp>
      <p:sp>
        <p:nvSpPr>
          <p:cNvPr id="12" name="Text 9"/>
          <p:cNvSpPr txBox="1"/>
          <p:nvPr/>
        </p:nvSpPr>
        <p:spPr>
          <a:xfrm>
            <a:off x="8092440" y="3328416"/>
            <a:ext cx="1386688" cy="45720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a:t>
            </a:r>
            <a:endParaRPr lang="en-US" sz="2400" dirty="0"/>
          </a:p>
        </p:txBody>
      </p:sp>
      <p:sp>
        <p:nvSpPr>
          <p:cNvPr id="13" name="Text 10"/>
          <p:cNvSpPr txBox="1"/>
          <p:nvPr/>
        </p:nvSpPr>
        <p:spPr>
          <a:xfrm>
            <a:off x="8092440" y="3803904"/>
            <a:ext cx="1386688" cy="923544"/>
          </a:xfrm>
          <a:prstGeom prst="rect">
            <a:avLst/>
          </a:prstGeom>
          <a:noFill/>
          <a:ln/>
        </p:spPr>
        <p:txBody>
          <a:bodyPr wrap="square" lIns="0" tIns="0" rIns="0" bIns="0" rtlCol="0" anchor="t"/>
          <a:lstStyle/>
          <a:p>
            <a:pPr indent="0" marL="0">
              <a:buNone/>
            </a:pPr>
            <a:r>
              <a:rPr lang="en-US" sz="1200" dirty="0">
                <a:solidFill>
                  <a:schemeClr val="tx1"/>
                </a:solidFill>
              </a:rPr>
              <a:t>record dikarantina: 699 baris katalog, 2.739 track, 4.087 video lolos</a:t>
            </a:r>
            <a:endParaRPr lang="en-US" sz="1200" dirty="0"/>
          </a:p>
        </p:txBody>
      </p:sp>
      <p:sp>
        <p:nvSpPr>
          <p:cNvPr id="14" name="stat tile"/>
          <p:cNvSpPr/>
          <p:nvPr/>
        </p:nvSpPr>
        <p:spPr>
          <a:xfrm>
            <a:off x="9890608" y="3200400"/>
            <a:ext cx="1752448" cy="1600200"/>
          </a:xfrm>
          <a:prstGeom prst="roundRect">
            <a:avLst>
              <a:gd name="adj" fmla="val 4571"/>
            </a:avLst>
          </a:prstGeom>
          <a:solidFill>
            <a:schemeClr val="bg2"/>
          </a:solidFill>
          <a:ln/>
        </p:spPr>
      </p:sp>
      <p:sp>
        <p:nvSpPr>
          <p:cNvPr id="15" name="Text 12"/>
          <p:cNvSpPr txBox="1"/>
          <p:nvPr/>
        </p:nvSpPr>
        <p:spPr>
          <a:xfrm>
            <a:off x="10073488" y="3328416"/>
            <a:ext cx="1386688" cy="45720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4</a:t>
            </a:r>
            <a:endParaRPr lang="en-US" sz="2400" dirty="0"/>
          </a:p>
        </p:txBody>
      </p:sp>
      <p:sp>
        <p:nvSpPr>
          <p:cNvPr id="16" name="Text 13"/>
          <p:cNvSpPr txBox="1"/>
          <p:nvPr/>
        </p:nvSpPr>
        <p:spPr>
          <a:xfrm>
            <a:off x="10073488" y="3803904"/>
            <a:ext cx="1386688" cy="923544"/>
          </a:xfrm>
          <a:prstGeom prst="rect">
            <a:avLst/>
          </a:prstGeom>
          <a:noFill/>
          <a:ln/>
        </p:spPr>
        <p:txBody>
          <a:bodyPr wrap="square" lIns="0" tIns="0" rIns="0" bIns="0" rtlCol="0" anchor="t"/>
          <a:lstStyle/>
          <a:p>
            <a:pPr indent="0" marL="0">
              <a:buNone/>
            </a:pPr>
            <a:r>
              <a:rPr lang="en-US" sz="1200" dirty="0">
                <a:solidFill>
                  <a:schemeClr val="tx1"/>
                </a:solidFill>
              </a:rPr>
              <a:t>singular test: integritas SCD2, cakupan overview, rekaman yatim, rekonsiliasi</a:t>
            </a:r>
            <a:endParaRPr lang="en-US" sz="1200" dirty="0"/>
          </a:p>
        </p:txBody>
      </p:sp>
      <p:sp>
        <p:nvSpPr>
          <p:cNvPr id="17" name="integration note"/>
          <p:cNvSpPr/>
          <p:nvPr/>
        </p:nvSpPr>
        <p:spPr>
          <a:xfrm>
            <a:off x="7909560" y="4983480"/>
            <a:ext cx="3733495" cy="1280160"/>
          </a:xfrm>
          <a:prstGeom prst="roundRect">
            <a:avLst>
              <a:gd name="adj" fmla="val 5714"/>
            </a:avLst>
          </a:prstGeom>
          <a:solidFill>
            <a:srgbClr val="FDECEC"/>
          </a:solidFill>
          <a:ln/>
        </p:spPr>
      </p:sp>
      <p:sp>
        <p:nvSpPr>
          <p:cNvPr id="18" name="Text 15"/>
          <p:cNvSpPr txBox="1"/>
          <p:nvPr/>
        </p:nvSpPr>
        <p:spPr>
          <a:xfrm>
            <a:off x="8110728" y="5120640"/>
            <a:ext cx="3331159" cy="1051560"/>
          </a:xfrm>
          <a:prstGeom prst="rect">
            <a:avLst/>
          </a:prstGeom>
          <a:noFill/>
          <a:ln/>
        </p:spPr>
        <p:txBody>
          <a:bodyPr wrap="square" lIns="0" tIns="0" rIns="0" bIns="0" rtlCol="0" anchor="t"/>
          <a:lstStyle/>
          <a:p>
            <a:pPr indent="0" marL="0">
              <a:buNone/>
            </a:pPr>
            <a:r>
              <a:rPr lang="en-US" sz="1250" b="1" dirty="0">
                <a:solidFill>
                  <a:schemeClr val="tx1"/>
                </a:solidFill>
              </a:rPr>
              <a:t>Integration test di ClickHouse asli</a:t>
            </a:r>
            <a:endParaRPr lang="en-US" sz="1250" dirty="0"/>
          </a:p>
          <a:p>
            <a:pPr indent="0" marL="0">
              <a:buNone/>
            </a:pPr>
            <a:r>
              <a:rPr lang="en-US" sz="1250" dirty="0">
                <a:solidFill>
                  <a:schemeClr val="tx1"/>
                </a:solidFill>
              </a:rPr>
              <a:t>SCD2: insert → run ulang → edit → hapus → kembali; karantina → email. Semuanya lulus.</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8 · KENDALA API &amp; CAPACITY PLANNING</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Kendala API: kuota harian, bukan compute</a:t>
            </a:r>
            <a:endParaRPr lang="en-US" sz="3000" dirty="0"/>
          </a:p>
        </p:txBody>
      </p:sp>
      <p:sp>
        <p:nvSpPr>
          <p:cNvPr id="4" name="api card"/>
          <p:cNvSpPr/>
          <p:nvPr/>
        </p:nvSpPr>
        <p:spPr>
          <a:xfrm>
            <a:off x="548640" y="1417320"/>
            <a:ext cx="3515258" cy="4846320"/>
          </a:xfrm>
          <a:prstGeom prst="roundRect">
            <a:avLst>
              <a:gd name="adj" fmla="val 2081"/>
            </a:avLst>
          </a:prstGeom>
          <a:solidFill>
            <a:schemeClr val="bg2"/>
          </a:solidFill>
          <a:ln/>
        </p:spPr>
      </p:sp>
      <p:sp>
        <p:nvSpPr>
          <p:cNvPr id="5" name="icon circle"/>
          <p:cNvSpPr/>
          <p:nvPr/>
        </p:nvSpPr>
        <p:spPr>
          <a:xfrm>
            <a:off x="749808" y="1618488"/>
            <a:ext cx="438912" cy="438912"/>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55147" y="1723827"/>
            <a:ext cx="228234" cy="228234"/>
          </a:xfrm>
          <a:prstGeom prst="rect">
            <a:avLst/>
          </a:prstGeom>
        </p:spPr>
      </p:pic>
      <p:sp>
        <p:nvSpPr>
          <p:cNvPr id="7" name="Text 4"/>
          <p:cNvSpPr txBox="1"/>
          <p:nvPr/>
        </p:nvSpPr>
        <p:spPr>
          <a:xfrm>
            <a:off x="1298448" y="1600200"/>
            <a:ext cx="2600858" cy="502920"/>
          </a:xfrm>
          <a:prstGeom prst="rect">
            <a:avLst/>
          </a:prstGeom>
          <a:noFill/>
          <a:ln/>
        </p:spPr>
        <p:txBody>
          <a:bodyPr wrap="square" lIns="0" tIns="0" rIns="0" bIns="0" rtlCol="0" anchor="ctr"/>
          <a:lstStyle/>
          <a:p>
            <a:pPr indent="0" marL="0">
              <a:buNone/>
            </a:pPr>
            <a:r>
              <a:rPr lang="en-US" sz="1400" b="1" dirty="0">
                <a:solidFill>
                  <a:schemeClr val="tx1"/>
                </a:solidFill>
              </a:rPr>
              <a:t>YouTube Data API v3</a:t>
            </a:r>
            <a:endParaRPr lang="en-US" sz="1400" dirty="0"/>
          </a:p>
        </p:txBody>
      </p:sp>
      <p:sp>
        <p:nvSpPr>
          <p:cNvPr id="8" name="Text 5"/>
          <p:cNvSpPr txBox="1"/>
          <p:nvPr/>
        </p:nvSpPr>
        <p:spPr>
          <a:xfrm>
            <a:off x="749808" y="2240280"/>
            <a:ext cx="3112922" cy="548640"/>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10.000 unit/hari</a:t>
            </a:r>
            <a:endParaRPr lang="en-US" sz="2600" dirty="0"/>
          </a:p>
        </p:txBody>
      </p:sp>
      <p:sp>
        <p:nvSpPr>
          <p:cNvPr id="9" name="Text 6"/>
          <p:cNvSpPr txBox="1"/>
          <p:nvPr/>
        </p:nvSpPr>
        <p:spPr>
          <a:xfrm>
            <a:off x="749808" y="2788920"/>
            <a:ext cx="3112922" cy="274320"/>
          </a:xfrm>
          <a:prstGeom prst="rect">
            <a:avLst/>
          </a:prstGeom>
          <a:noFill/>
          <a:ln/>
        </p:spPr>
        <p:txBody>
          <a:bodyPr wrap="square" lIns="0" tIns="0" rIns="0" bIns="0" rtlCol="0" anchor="t"/>
          <a:lstStyle/>
          <a:p>
            <a:pPr indent="0" marL="0">
              <a:buNone/>
            </a:pPr>
            <a:r>
              <a:rPr lang="en-US" sz="1200" i="1" dirty="0">
                <a:solidFill>
                  <a:schemeClr val="accent2"/>
                </a:solidFill>
              </a:rPr>
              <a:t>kuota resmi per project</a:t>
            </a:r>
            <a:endParaRPr lang="en-US" sz="1200" dirty="0"/>
          </a:p>
        </p:txBody>
      </p:sp>
      <p:sp>
        <p:nvSpPr>
          <p:cNvPr id="10" name="Text 7"/>
          <p:cNvSpPr txBox="1"/>
          <p:nvPr/>
        </p:nvSpPr>
        <p:spPr>
          <a:xfrm>
            <a:off x="749808" y="3200400"/>
            <a:ext cx="3112922" cy="21488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search.list = 100 unit, berapa pun maxResults (≤ 50) → selalu ambil 50: recall gratis</a:t>
            </a:r>
            <a:endParaRPr lang="en-US" sz="1250" dirty="0"/>
          </a:p>
          <a:p>
            <a:pPr marL="177800" indent="-177800">
              <a:spcAft>
                <a:spcPts val="700"/>
              </a:spcAft>
              <a:buSzPct val="100000"/>
              <a:buChar char="•"/>
            </a:pPr>
            <a:r>
              <a:rPr lang="en-US" sz="1250" dirty="0">
                <a:solidFill>
                  <a:schemeClr val="tx1"/>
                </a:solidFill>
              </a:rPr>
              <a:t>videos.list = 1 unit per ≤ 50 video id</a:t>
            </a:r>
            <a:endParaRPr lang="en-US" sz="1250" dirty="0"/>
          </a:p>
          <a:p>
            <a:pPr marL="177800" indent="-177800">
              <a:spcAft>
                <a:spcPts val="700"/>
              </a:spcAft>
              <a:buSzPct val="100000"/>
              <a:buChar char="•"/>
            </a:pPr>
            <a:r>
              <a:rPr lang="en-US" sz="1250" dirty="0">
                <a:solidFill>
                  <a:schemeClr val="tx1"/>
                </a:solidFill>
              </a:rPr>
              <a:t>reset 00:00 waktu Pasifik (14:00–15:00 WIB)</a:t>
            </a:r>
            <a:endParaRPr lang="en-US" sz="1250" dirty="0"/>
          </a:p>
          <a:p>
            <a:pPr marL="177800" indent="-177800">
              <a:spcAft>
                <a:spcPts val="700"/>
              </a:spcAft>
              <a:buSzPct val="100000"/>
              <a:buChar char="•"/>
            </a:pPr>
            <a:r>
              <a:rPr lang="en-US" sz="1250" dirty="0">
                <a:solidFill>
                  <a:schemeClr val="tx1"/>
                </a:solidFill>
              </a:rPr>
              <a:t>kuota habis → HTTP 403 quotaExceeded</a:t>
            </a:r>
            <a:endParaRPr lang="en-US" sz="1250" dirty="0"/>
          </a:p>
        </p:txBody>
      </p:sp>
      <p:sp>
        <p:nvSpPr>
          <p:cNvPr id="11" name="capacity footer"/>
          <p:cNvSpPr/>
          <p:nvPr/>
        </p:nvSpPr>
        <p:spPr>
          <a:xfrm>
            <a:off x="731520" y="5394960"/>
            <a:ext cx="3149498" cy="685800"/>
          </a:xfrm>
          <a:prstGeom prst="roundRect">
            <a:avLst>
              <a:gd name="adj" fmla="val 10667"/>
            </a:avLst>
          </a:prstGeom>
          <a:solidFill>
            <a:srgbClr val="FFFFFF"/>
          </a:solidFill>
          <a:ln w="9525">
            <a:solidFill>
              <a:srgbClr val="D1D5DB"/>
            </a:solidFill>
            <a:prstDash val="solid"/>
          </a:ln>
        </p:spPr>
      </p:sp>
      <p:sp>
        <p:nvSpPr>
          <p:cNvPr id="12" name="Text 9"/>
          <p:cNvSpPr txBox="1"/>
          <p:nvPr/>
        </p:nvSpPr>
        <p:spPr>
          <a:xfrm>
            <a:off x="896112" y="5449824"/>
            <a:ext cx="2820314" cy="576072"/>
          </a:xfrm>
          <a:prstGeom prst="rect">
            <a:avLst/>
          </a:prstGeom>
          <a:noFill/>
          <a:ln/>
        </p:spPr>
        <p:txBody>
          <a:bodyPr wrap="square" lIns="0" tIns="0" rIns="0" bIns="0" rtlCol="0" anchor="ctr"/>
          <a:lstStyle/>
          <a:p>
            <a:pPr indent="0" marL="0">
              <a:buNone/>
            </a:pPr>
            <a:r>
              <a:rPr lang="en-US" sz="1050" b="1" spc="100" kern="0" dirty="0">
                <a:solidFill>
                  <a:srgbClr val="E3262E"/>
                </a:solidFill>
              </a:rPr>
              <a:t>KAPASITAS</a:t>
            </a:r>
            <a:endParaRPr lang="en-US" sz="1400" dirty="0"/>
          </a:p>
          <a:p>
            <a:pPr indent="0" marL="0">
              <a:buNone/>
            </a:pPr>
            <a:r>
              <a:rPr lang="en-US" sz="1300" b="1" dirty="0">
                <a:solidFill>
                  <a:srgbClr val="1B1B1F"/>
                </a:solidFill>
              </a:rPr>
              <a:t>±89 lagu/hari → katalog penuh ±8 hari</a:t>
            </a:r>
            <a:endParaRPr lang="en-US" sz="1400" dirty="0"/>
          </a:p>
        </p:txBody>
      </p:sp>
      <p:sp>
        <p:nvSpPr>
          <p:cNvPr id="13" name="api card"/>
          <p:cNvSpPr/>
          <p:nvPr/>
        </p:nvSpPr>
        <p:spPr>
          <a:xfrm>
            <a:off x="4338218" y="1417320"/>
            <a:ext cx="3515258" cy="4846320"/>
          </a:xfrm>
          <a:prstGeom prst="roundRect">
            <a:avLst>
              <a:gd name="adj" fmla="val 2081"/>
            </a:avLst>
          </a:prstGeom>
          <a:solidFill>
            <a:schemeClr val="bg2"/>
          </a:solidFill>
          <a:ln/>
        </p:spPr>
      </p:sp>
      <p:sp>
        <p:nvSpPr>
          <p:cNvPr id="14" name="icon circle"/>
          <p:cNvSpPr/>
          <p:nvPr/>
        </p:nvSpPr>
        <p:spPr>
          <a:xfrm>
            <a:off x="4539386" y="1618488"/>
            <a:ext cx="438912" cy="438912"/>
          </a:xfrm>
          <a:prstGeom prst="ellipse">
            <a:avLst/>
          </a:prstGeom>
          <a:solidFill>
            <a:schemeClr val="accent1"/>
          </a:solidFill>
          <a:ln/>
        </p:spPr>
      </p:sp>
      <p:pic>
        <p:nvPicPr>
          <p:cNvPr id="15" name="icon" descr="preencoded.png">    </p:cNvPr>
          <p:cNvPicPr>
            <a:picLocks noChangeAspect="1"/>
          </p:cNvPicPr>
          <p:nvPr/>
        </p:nvPicPr>
        <p:blipFill>
          <a:blip r:embed="rId2"/>
          <a:stretch>
            <a:fillRect/>
          </a:stretch>
        </p:blipFill>
        <p:spPr>
          <a:xfrm>
            <a:off x="4644725" y="1723827"/>
            <a:ext cx="228234" cy="228234"/>
          </a:xfrm>
          <a:prstGeom prst="rect">
            <a:avLst/>
          </a:prstGeom>
        </p:spPr>
      </p:pic>
      <p:sp>
        <p:nvSpPr>
          <p:cNvPr id="16" name="Text 12"/>
          <p:cNvSpPr txBox="1"/>
          <p:nvPr/>
        </p:nvSpPr>
        <p:spPr>
          <a:xfrm>
            <a:off x="5088026" y="1600200"/>
            <a:ext cx="2600858" cy="502920"/>
          </a:xfrm>
          <a:prstGeom prst="rect">
            <a:avLst/>
          </a:prstGeom>
          <a:noFill/>
          <a:ln/>
        </p:spPr>
        <p:txBody>
          <a:bodyPr wrap="square" lIns="0" tIns="0" rIns="0" bIns="0" rtlCol="0" anchor="ctr"/>
          <a:lstStyle/>
          <a:p>
            <a:pPr indent="0" marL="0">
              <a:buNone/>
            </a:pPr>
            <a:r>
              <a:rPr lang="en-US" sz="1400" b="1" dirty="0">
                <a:solidFill>
                  <a:schemeClr val="tx1"/>
                </a:solidFill>
              </a:rPr>
              <a:t>Spotify Web API · Development Mode</a:t>
            </a:r>
            <a:endParaRPr lang="en-US" sz="1400" dirty="0"/>
          </a:p>
        </p:txBody>
      </p:sp>
      <p:sp>
        <p:nvSpPr>
          <p:cNvPr id="17" name="Text 13"/>
          <p:cNvSpPr txBox="1"/>
          <p:nvPr/>
        </p:nvSpPr>
        <p:spPr>
          <a:xfrm>
            <a:off x="4539386" y="2240280"/>
            <a:ext cx="3112922" cy="548640"/>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±600 call/hari</a:t>
            </a:r>
            <a:endParaRPr lang="en-US" sz="2600" dirty="0"/>
          </a:p>
        </p:txBody>
      </p:sp>
      <p:sp>
        <p:nvSpPr>
          <p:cNvPr id="18" name="Text 14"/>
          <p:cNvSpPr txBox="1"/>
          <p:nvPr/>
        </p:nvSpPr>
        <p:spPr>
          <a:xfrm>
            <a:off x="4539386" y="2788920"/>
            <a:ext cx="3112922" cy="274320"/>
          </a:xfrm>
          <a:prstGeom prst="rect">
            <a:avLst/>
          </a:prstGeom>
          <a:noFill/>
          <a:ln/>
        </p:spPr>
        <p:txBody>
          <a:bodyPr wrap="square" lIns="0" tIns="0" rIns="0" bIns="0" rtlCol="0" anchor="t"/>
          <a:lstStyle/>
          <a:p>
            <a:pPr indent="0" marL="0">
              <a:buNone/>
            </a:pPr>
            <a:r>
              <a:rPr lang="en-US" sz="1200" i="1" dirty="0">
                <a:solidFill>
                  <a:schemeClr val="accent2"/>
                </a:solidFill>
              </a:rPr>
              <a:t>temuan data asli, bukan asumsi</a:t>
            </a:r>
            <a:endParaRPr lang="en-US" sz="1200" dirty="0"/>
          </a:p>
        </p:txBody>
      </p:sp>
      <p:sp>
        <p:nvSpPr>
          <p:cNvPr id="19" name="Text 15"/>
          <p:cNvSpPr txBox="1"/>
          <p:nvPr/>
        </p:nvSpPr>
        <p:spPr>
          <a:xfrm>
            <a:off x="4539386" y="3200400"/>
            <a:ext cx="3112922" cy="21488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setelah ±600 call → HTTP 429 QUOTA_EXCEEDED dengan Retry-After 82.029 dtk (±23 jam) — 15 Okt 2026</a:t>
            </a:r>
            <a:endParaRPr lang="en-US" sz="1250" dirty="0"/>
          </a:p>
          <a:p>
            <a:pPr marL="177800" indent="-177800">
              <a:spcAft>
                <a:spcPts val="700"/>
              </a:spcAft>
              <a:buSzPct val="100000"/>
              <a:buChar char="•"/>
            </a:pPr>
            <a:r>
              <a:rPr lang="en-US" sz="1250" dirty="0">
                <a:solidFill>
                  <a:schemeClr val="tx1"/>
                </a:solidFill>
              </a:rPr>
              <a:t>/search: limit maks 10 per halaman (limit 20 → HTTP 400)</a:t>
            </a:r>
            <a:endParaRPr lang="en-US" sz="1250" dirty="0"/>
          </a:p>
          <a:p>
            <a:pPr marL="177800" indent="-177800">
              <a:spcAft>
                <a:spcPts val="700"/>
              </a:spcAft>
              <a:buSzPct val="100000"/>
              <a:buChar char="•"/>
            </a:pPr>
            <a:r>
              <a:rPr lang="en-US" sz="1250" dirty="0">
                <a:solidFill>
                  <a:schemeClr val="tx1"/>
                </a:solidFill>
              </a:rPr>
              <a:t>next / total tidak konsisten: halaman 1 berisi 7 item, halaman 2 berisi 10</a:t>
            </a:r>
            <a:endParaRPr lang="en-US" sz="1250" dirty="0"/>
          </a:p>
        </p:txBody>
      </p:sp>
      <p:sp>
        <p:nvSpPr>
          <p:cNvPr id="20" name="capacity footer"/>
          <p:cNvSpPr/>
          <p:nvPr/>
        </p:nvSpPr>
        <p:spPr>
          <a:xfrm>
            <a:off x="4521098" y="5394960"/>
            <a:ext cx="3149498" cy="685800"/>
          </a:xfrm>
          <a:prstGeom prst="roundRect">
            <a:avLst>
              <a:gd name="adj" fmla="val 10667"/>
            </a:avLst>
          </a:prstGeom>
          <a:solidFill>
            <a:srgbClr val="FFFFFF"/>
          </a:solidFill>
          <a:ln w="9525">
            <a:solidFill>
              <a:srgbClr val="D1D5DB"/>
            </a:solidFill>
            <a:prstDash val="solid"/>
          </a:ln>
        </p:spPr>
      </p:sp>
      <p:sp>
        <p:nvSpPr>
          <p:cNvPr id="21" name="Text 17"/>
          <p:cNvSpPr txBox="1"/>
          <p:nvPr/>
        </p:nvSpPr>
        <p:spPr>
          <a:xfrm>
            <a:off x="4685690" y="5449824"/>
            <a:ext cx="2820314" cy="576072"/>
          </a:xfrm>
          <a:prstGeom prst="rect">
            <a:avLst/>
          </a:prstGeom>
          <a:noFill/>
          <a:ln/>
        </p:spPr>
        <p:txBody>
          <a:bodyPr wrap="square" lIns="0" tIns="0" rIns="0" bIns="0" rtlCol="0" anchor="ctr"/>
          <a:lstStyle/>
          <a:p>
            <a:pPr indent="0" marL="0">
              <a:buNone/>
            </a:pPr>
            <a:r>
              <a:rPr lang="en-US" sz="1050" b="1" spc="100" kern="0" dirty="0">
                <a:solidFill>
                  <a:srgbClr val="E3262E"/>
                </a:solidFill>
              </a:rPr>
              <a:t>KAPASITAS</a:t>
            </a:r>
            <a:endParaRPr lang="en-US" sz="1400" dirty="0"/>
          </a:p>
          <a:p>
            <a:pPr indent="0" marL="0">
              <a:buNone/>
            </a:pPr>
            <a:r>
              <a:rPr lang="en-US" sz="1300" b="1" dirty="0">
                <a:solidFill>
                  <a:srgbClr val="1B1B1F"/>
                </a:solidFill>
              </a:rPr>
              <a:t>±187 lagu/hari → katalog penuh ±4 hari</a:t>
            </a:r>
            <a:endParaRPr lang="en-US" sz="1400" dirty="0"/>
          </a:p>
        </p:txBody>
      </p:sp>
      <p:sp>
        <p:nvSpPr>
          <p:cNvPr id="22" name="pipeline response card"/>
          <p:cNvSpPr/>
          <p:nvPr/>
        </p:nvSpPr>
        <p:spPr>
          <a:xfrm>
            <a:off x="8127797" y="1417320"/>
            <a:ext cx="3515258" cy="4846320"/>
          </a:xfrm>
          <a:prstGeom prst="roundRect">
            <a:avLst>
              <a:gd name="adj" fmla="val 2081"/>
            </a:avLst>
          </a:prstGeom>
          <a:solidFill>
            <a:srgbClr val="1B1B1F"/>
          </a:solidFill>
          <a:ln/>
        </p:spPr>
      </p:sp>
      <p:sp>
        <p:nvSpPr>
          <p:cNvPr id="23" name="icon circle"/>
          <p:cNvSpPr/>
          <p:nvPr/>
        </p:nvSpPr>
        <p:spPr>
          <a:xfrm>
            <a:off x="8328965" y="1618488"/>
            <a:ext cx="438912" cy="438912"/>
          </a:xfrm>
          <a:prstGeom prst="ellipse">
            <a:avLst/>
          </a:prstGeom>
          <a:solidFill>
            <a:schemeClr val="accent1"/>
          </a:solidFill>
          <a:ln/>
        </p:spPr>
      </p:sp>
      <p:pic>
        <p:nvPicPr>
          <p:cNvPr id="24" name="icon" descr="preencoded.png">    </p:cNvPr>
          <p:cNvPicPr>
            <a:picLocks noChangeAspect="1"/>
          </p:cNvPicPr>
          <p:nvPr/>
        </p:nvPicPr>
        <p:blipFill>
          <a:blip r:embed="rId3"/>
          <a:stretch>
            <a:fillRect/>
          </a:stretch>
        </p:blipFill>
        <p:spPr>
          <a:xfrm>
            <a:off x="8434304" y="1723827"/>
            <a:ext cx="228234" cy="228234"/>
          </a:xfrm>
          <a:prstGeom prst="rect">
            <a:avLst/>
          </a:prstGeom>
        </p:spPr>
      </p:pic>
      <p:sp>
        <p:nvSpPr>
          <p:cNvPr id="25" name="Text 20"/>
          <p:cNvSpPr txBox="1"/>
          <p:nvPr/>
        </p:nvSpPr>
        <p:spPr>
          <a:xfrm>
            <a:off x="8877605" y="1600200"/>
            <a:ext cx="2600858" cy="502920"/>
          </a:xfrm>
          <a:prstGeom prst="rect">
            <a:avLst/>
          </a:prstGeom>
          <a:noFill/>
          <a:ln/>
        </p:spPr>
        <p:txBody>
          <a:bodyPr wrap="square" lIns="0" tIns="0" rIns="0" bIns="0" rtlCol="0" anchor="ctr"/>
          <a:lstStyle/>
          <a:p>
            <a:pPr indent="0" marL="0">
              <a:buNone/>
            </a:pPr>
            <a:r>
              <a:rPr lang="en-US" sz="1400" b="1" dirty="0">
                <a:solidFill>
                  <a:schemeClr val="bg1"/>
                </a:solidFill>
              </a:rPr>
              <a:t>Respons pipeline</a:t>
            </a:r>
            <a:endParaRPr lang="en-US" sz="1400" dirty="0"/>
          </a:p>
        </p:txBody>
      </p:sp>
      <p:sp>
        <p:nvSpPr>
          <p:cNvPr id="26" name="Text 21"/>
          <p:cNvSpPr txBox="1"/>
          <p:nvPr/>
        </p:nvSpPr>
        <p:spPr>
          <a:xfrm>
            <a:off x="8328965" y="2286000"/>
            <a:ext cx="3112922" cy="38404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bg1"/>
                </a:solidFill>
              </a:rPr>
              <a:t>ledger kuota YouTube dicek sebelum setiap call; anggaran 90% = 9.000 unit</a:t>
            </a:r>
            <a:endParaRPr lang="en-US" sz="1250" dirty="0"/>
          </a:p>
          <a:p>
            <a:pPr marL="177800" indent="-177800">
              <a:spcAft>
                <a:spcPts val="700"/>
              </a:spcAft>
              <a:buSzPct val="100000"/>
              <a:buChar char="•"/>
            </a:pPr>
            <a:r>
              <a:rPr lang="en-US" sz="1250" dirty="0">
                <a:solidFill>
                  <a:schemeClr val="bg1"/>
                </a:solidFill>
              </a:rPr>
              <a:t>Retry-After &gt; 120 dtk → tidak menunggu; task selesai 'partial', run besok melanjutkan</a:t>
            </a:r>
            <a:endParaRPr lang="en-US" sz="1250" dirty="0"/>
          </a:p>
          <a:p>
            <a:pPr marL="177800" indent="-177800">
              <a:spcAft>
                <a:spcPts val="700"/>
              </a:spcAft>
              <a:buSzPct val="100000"/>
              <a:buChar char="•"/>
            </a:pPr>
            <a:r>
              <a:rPr lang="en-US" sz="1250" dirty="0">
                <a:solidFill>
                  <a:schemeClr val="bg1"/>
                </a:solidFill>
              </a:rPr>
              <a:t>backlog: lagu yang belum pernah dicari dulu, lalu yang paling basi</a:t>
            </a:r>
            <a:endParaRPr lang="en-US" sz="1250" dirty="0"/>
          </a:p>
          <a:p>
            <a:pPr marL="177800" indent="-177800">
              <a:spcAft>
                <a:spcPts val="700"/>
              </a:spcAft>
              <a:buSzPct val="100000"/>
              <a:buChar char="•"/>
            </a:pPr>
            <a:r>
              <a:rPr lang="en-US" sz="1250" dirty="0">
                <a:solidFill>
                  <a:schemeClr val="bg1"/>
                </a:solidFill>
              </a:rPr>
              <a:t>jadwal 15:15 WIB, setelah kuota YouTube reset</a:t>
            </a:r>
            <a:endParaRPr lang="en-US" sz="1250" dirty="0"/>
          </a:p>
          <a:p>
            <a:pPr marL="177800" indent="-177800">
              <a:spcAft>
                <a:spcPts val="700"/>
              </a:spcAft>
              <a:buSzPct val="100000"/>
              <a:buChar char="•"/>
            </a:pPr>
            <a:r>
              <a:rPr lang="en-US" sz="1250" dirty="0">
                <a:solidFill>
                  <a:schemeClr val="bg1"/>
                </a:solidFill>
              </a:rPr>
              <a:t>paging Spotify berhenti di halaman kosong / tak relevan</a:t>
            </a:r>
            <a:endParaRPr lang="en-US" sz="1250" dirty="0"/>
          </a:p>
          <a:p>
            <a:pPr marL="177800" indent="-177800">
              <a:spcAft>
                <a:spcPts val="700"/>
              </a:spcAft>
              <a:buSzPct val="100000"/>
              <a:buChar char="•"/>
            </a:pPr>
            <a:r>
              <a:rPr lang="en-US" sz="1250" dirty="0">
                <a:solidFill>
                  <a:schemeClr val="bg1"/>
                </a:solidFill>
              </a:rPr>
              <a:t>raw-first: respons tersimpan, bug parsing tak memakan kuota lagi</a:t>
            </a:r>
            <a:endParaRPr lang="en-US" sz="12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8 · KENDALA API &amp; CAPACITY PLANNING</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Capacity planning: katalog penuh dalam ±8 hari</a:t>
            </a:r>
            <a:endParaRPr lang="en-US" sz="3000" dirty="0"/>
          </a:p>
        </p:txBody>
      </p:sp>
      <p:sp>
        <p:nvSpPr>
          <p:cNvPr id="4" name="code box"/>
          <p:cNvSpPr/>
          <p:nvPr/>
        </p:nvSpPr>
        <p:spPr>
          <a:xfrm>
            <a:off x="548640" y="1417320"/>
            <a:ext cx="5410048" cy="1691640"/>
          </a:xfrm>
          <a:prstGeom prst="roundRect">
            <a:avLst>
              <a:gd name="adj" fmla="val 3243"/>
            </a:avLst>
          </a:prstGeom>
          <a:solidFill>
            <a:srgbClr val="1B1B1F"/>
          </a:solidFill>
          <a:ln/>
        </p:spPr>
      </p:sp>
      <p:sp>
        <p:nvSpPr>
          <p:cNvPr id="5" name="Text 3"/>
          <p:cNvSpPr txBox="1"/>
          <p:nvPr/>
        </p:nvSpPr>
        <p:spPr>
          <a:xfrm>
            <a:off x="777240" y="1563624"/>
            <a:ext cx="4952848"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YOUTUBE · KUOTA RESMI 10.000 UNIT/HARI</a:t>
            </a:r>
            <a:endParaRPr lang="en-US" sz="1100" dirty="0"/>
          </a:p>
        </p:txBody>
      </p:sp>
      <p:sp>
        <p:nvSpPr>
          <p:cNvPr id="6" name="Text 4"/>
          <p:cNvSpPr txBox="1"/>
          <p:nvPr/>
        </p:nvSpPr>
        <p:spPr>
          <a:xfrm>
            <a:off x="777240" y="1892808"/>
            <a:ext cx="4952848" cy="1106424"/>
          </a:xfrm>
          <a:prstGeom prst="rect">
            <a:avLst/>
          </a:prstGeom>
          <a:noFill/>
          <a:ln/>
        </p:spPr>
        <p:txBody>
          <a:bodyPr wrap="square" lIns="0" tIns="0" rIns="0" bIns="0" rtlCol="0" anchor="t"/>
          <a:lstStyle/>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anggaran : 10.000 × 90%          = 9.000 unit/hari</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per lagu : 100 search + 1 videos = 101 unit</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kapasitas: 9.000 ÷ 101           = ±89 lagu/hari</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katalog  : 699 ÷ 89              = 7,9 → ±8 hari</a:t>
            </a:r>
            <a:endParaRPr lang="en-US" sz="1200" dirty="0"/>
          </a:p>
          <a:p>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bukti hari-1: 89 lagu = 8.982 unit (89×100 + 82×1)</a:t>
            </a:r>
            <a:endParaRPr lang="en-US" sz="1200" dirty="0"/>
          </a:p>
        </p:txBody>
      </p:sp>
      <p:sp>
        <p:nvSpPr>
          <p:cNvPr id="7" name="code box"/>
          <p:cNvSpPr/>
          <p:nvPr/>
        </p:nvSpPr>
        <p:spPr>
          <a:xfrm>
            <a:off x="6233008" y="1417320"/>
            <a:ext cx="5410048" cy="1691640"/>
          </a:xfrm>
          <a:prstGeom prst="roundRect">
            <a:avLst>
              <a:gd name="adj" fmla="val 3243"/>
            </a:avLst>
          </a:prstGeom>
          <a:solidFill>
            <a:srgbClr val="1B1B1F"/>
          </a:solidFill>
          <a:ln/>
        </p:spPr>
      </p:sp>
      <p:sp>
        <p:nvSpPr>
          <p:cNvPr id="8" name="Text 6"/>
          <p:cNvSpPr txBox="1"/>
          <p:nvPr/>
        </p:nvSpPr>
        <p:spPr>
          <a:xfrm>
            <a:off x="6461608" y="1563624"/>
            <a:ext cx="4952848"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SPOTIFY · TEMUAN DATA ASLI</a:t>
            </a:r>
            <a:endParaRPr lang="en-US" sz="1100" dirty="0"/>
          </a:p>
        </p:txBody>
      </p:sp>
      <p:sp>
        <p:nvSpPr>
          <p:cNvPr id="9" name="Text 7"/>
          <p:cNvSpPr txBox="1"/>
          <p:nvPr/>
        </p:nvSpPr>
        <p:spPr>
          <a:xfrm>
            <a:off x="6461608" y="1892808"/>
            <a:ext cx="4952848" cy="1106424"/>
          </a:xfrm>
          <a:prstGeom prst="rect">
            <a:avLst/>
          </a:prstGeom>
          <a:noFill/>
          <a:ln/>
        </p:spPr>
        <p:txBody>
          <a:bodyPr wrap="square" lIns="0" tIns="0" rIns="0" bIns="0" rtlCol="0" anchor="t"/>
          <a:lstStyle/>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kuota    : ±600 call/hari        = 429, tunggu ±23 jam</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rasio    : 622 call ÷ 194 lagu   = ±3,2 call/lagu</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kapasitas: 600 ÷ 3,2             = ±187 lagu/hari</a:t>
            </a:r>
            <a:endParaRPr lang="en-US" sz="1200" dirty="0"/>
          </a:p>
          <a:p>
            <a:pPr indent="0" marL="0">
              <a:lnSpc>
                <a:spcPct val="105000"/>
              </a:lnSpc>
              <a:buNone/>
            </a:pPr>
            <a:r>
              <a:rPr lang="en-US" sz="1200" dirty="0">
                <a:solidFill>
                  <a:srgbClr val="E5E7EB"/>
                </a:solidFill>
                <a:latin typeface="Consolas" pitchFamily="34" charset="0"/>
                <a:ea typeface="Consolas" pitchFamily="34" charset="-122"/>
                <a:cs typeface="Consolas" pitchFamily="34" charset="-120"/>
              </a:rPr>
              <a:t>katalog  : 699 ÷ 187             = 3,7 → ±4 hari</a:t>
            </a:r>
            <a:endParaRPr lang="en-US" sz="1200" dirty="0"/>
          </a:p>
          <a:p>
            <a:pPr indent="0" marL="0">
              <a:lnSpc>
                <a:spcPct val="105000"/>
              </a:lnSpc>
              <a:buNone/>
            </a:pPr>
            <a:r>
              <a:rPr lang="en-US" sz="1200" dirty="0">
                <a:solidFill>
                  <a:srgbClr val="9CA3AF"/>
                </a:solidFill>
                <a:latin typeface="Consolas" pitchFamily="34" charset="0"/>
                <a:ea typeface="Consolas" pitchFamily="34" charset="-122"/>
                <a:cs typeface="Consolas" pitchFamily="34" charset="-120"/>
              </a:rPr>
              <a:t>-- temuan data asli 15 Okt 2026, bukan asumsi</a:t>
            </a:r>
            <a:endParaRPr lang="en-US" sz="1200" dirty="0"/>
          </a:p>
        </p:txBody>
      </p:sp>
      <p:sp>
        <p:nvSpPr>
          <p:cNvPr id="10" name="Text 8"/>
          <p:cNvSpPr txBox="1"/>
          <p:nvPr/>
        </p:nvSpPr>
        <p:spPr>
          <a:xfrm>
            <a:off x="548640" y="3291840"/>
            <a:ext cx="73152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PROYEKSI CAKUPAN KATALOG (LAGU KUMULATIF) · HARI 1 = AKTUAL</a:t>
            </a:r>
            <a:endParaRPr lang="en-US" sz="1100" dirty="0"/>
          </a:p>
        </p:txBody>
      </p:sp>
      <p:sp>
        <p:nvSpPr>
          <p:cNvPr id="11" name="Text 9"/>
          <p:cNvSpPr txBox="1"/>
          <p:nvPr/>
        </p:nvSpPr>
        <p:spPr>
          <a:xfrm>
            <a:off x="1920240" y="3566160"/>
            <a:ext cx="1215352" cy="384048"/>
          </a:xfrm>
          <a:prstGeom prst="rect">
            <a:avLst/>
          </a:prstGeom>
          <a:noFill/>
          <a:ln/>
        </p:spPr>
        <p:txBody>
          <a:bodyPr wrap="square" lIns="0" tIns="0" rIns="0" bIns="0" rtlCol="0" anchor="t"/>
          <a:lstStyle/>
          <a:p>
            <a:pPr algn="ctr" indent="0" marL="0">
              <a:buNone/>
            </a:pPr>
            <a:r>
              <a:rPr lang="en-US" sz="1100" b="1" dirty="0">
                <a:solidFill>
                  <a:schemeClr val="tx1"/>
                </a:solidFill>
              </a:rPr>
              <a:t>Hari 1</a:t>
            </a:r>
            <a:endParaRPr lang="en-US" sz="1100" dirty="0"/>
          </a:p>
          <a:p>
            <a:pPr algn="ctr" indent="0" marL="0">
              <a:buNone/>
            </a:pPr>
            <a:r>
              <a:rPr lang="en-US" sz="1100" dirty="0">
                <a:solidFill>
                  <a:srgbClr val="6B7280"/>
                </a:solidFill>
              </a:rPr>
              <a:t>15/10</a:t>
            </a:r>
            <a:endParaRPr lang="en-US" sz="1100" dirty="0"/>
          </a:p>
        </p:txBody>
      </p:sp>
      <p:sp>
        <p:nvSpPr>
          <p:cNvPr id="12" name="Text 10"/>
          <p:cNvSpPr txBox="1"/>
          <p:nvPr/>
        </p:nvSpPr>
        <p:spPr>
          <a:xfrm>
            <a:off x="3135592" y="3566160"/>
            <a:ext cx="1215352" cy="384048"/>
          </a:xfrm>
          <a:prstGeom prst="rect">
            <a:avLst/>
          </a:prstGeom>
          <a:noFill/>
          <a:ln/>
        </p:spPr>
        <p:txBody>
          <a:bodyPr wrap="square" lIns="0" tIns="0" rIns="0" bIns="0" rtlCol="0" anchor="t"/>
          <a:lstStyle/>
          <a:p>
            <a:pPr algn="ctr" indent="0" marL="0">
              <a:buNone/>
            </a:pPr>
            <a:r>
              <a:rPr lang="en-US" sz="1100" b="1" dirty="0">
                <a:solidFill>
                  <a:schemeClr val="tx1"/>
                </a:solidFill>
              </a:rPr>
              <a:t>Hari 2</a:t>
            </a:r>
            <a:endParaRPr lang="en-US" sz="1100" dirty="0"/>
          </a:p>
          <a:p>
            <a:pPr algn="ctr" indent="0" marL="0">
              <a:buNone/>
            </a:pPr>
            <a:r>
              <a:rPr lang="en-US" sz="1100" dirty="0">
                <a:solidFill>
                  <a:srgbClr val="6B7280"/>
                </a:solidFill>
              </a:rPr>
              <a:t>16/10</a:t>
            </a:r>
            <a:endParaRPr lang="en-US" sz="1100" dirty="0"/>
          </a:p>
        </p:txBody>
      </p:sp>
      <p:sp>
        <p:nvSpPr>
          <p:cNvPr id="13" name="Text 11"/>
          <p:cNvSpPr txBox="1"/>
          <p:nvPr/>
        </p:nvSpPr>
        <p:spPr>
          <a:xfrm>
            <a:off x="4350944" y="3566160"/>
            <a:ext cx="1215352" cy="384048"/>
          </a:xfrm>
          <a:prstGeom prst="rect">
            <a:avLst/>
          </a:prstGeom>
          <a:noFill/>
          <a:ln/>
        </p:spPr>
        <p:txBody>
          <a:bodyPr wrap="square" lIns="0" tIns="0" rIns="0" bIns="0" rtlCol="0" anchor="t"/>
          <a:lstStyle/>
          <a:p>
            <a:pPr algn="ctr" indent="0" marL="0">
              <a:buNone/>
            </a:pPr>
            <a:r>
              <a:rPr lang="en-US" sz="1100" b="1" dirty="0">
                <a:solidFill>
                  <a:schemeClr val="tx1"/>
                </a:solidFill>
              </a:rPr>
              <a:t>Hari 3</a:t>
            </a:r>
            <a:endParaRPr lang="en-US" sz="1100" dirty="0"/>
          </a:p>
          <a:p>
            <a:pPr algn="ctr" indent="0" marL="0">
              <a:buNone/>
            </a:pPr>
            <a:r>
              <a:rPr lang="en-US" sz="1100" dirty="0">
                <a:solidFill>
                  <a:srgbClr val="6B7280"/>
                </a:solidFill>
              </a:rPr>
              <a:t>17/10</a:t>
            </a:r>
            <a:endParaRPr lang="en-US" sz="1100" dirty="0"/>
          </a:p>
        </p:txBody>
      </p:sp>
      <p:sp>
        <p:nvSpPr>
          <p:cNvPr id="14" name="Text 12"/>
          <p:cNvSpPr txBox="1"/>
          <p:nvPr/>
        </p:nvSpPr>
        <p:spPr>
          <a:xfrm>
            <a:off x="5566296" y="3566160"/>
            <a:ext cx="1215352" cy="384048"/>
          </a:xfrm>
          <a:prstGeom prst="rect">
            <a:avLst/>
          </a:prstGeom>
          <a:noFill/>
          <a:ln/>
        </p:spPr>
        <p:txBody>
          <a:bodyPr wrap="square" lIns="0" tIns="0" rIns="0" bIns="0" rtlCol="0" anchor="t"/>
          <a:lstStyle/>
          <a:p>
            <a:pPr algn="ctr" indent="0" marL="0">
              <a:buNone/>
            </a:pPr>
            <a:r>
              <a:rPr lang="en-US" sz="1100" b="1" dirty="0">
                <a:solidFill>
                  <a:schemeClr val="tx1"/>
                </a:solidFill>
              </a:rPr>
              <a:t>Hari 4</a:t>
            </a:r>
            <a:endParaRPr lang="en-US" sz="1100" dirty="0"/>
          </a:p>
          <a:p>
            <a:pPr algn="ctr" indent="0" marL="0">
              <a:buNone/>
            </a:pPr>
            <a:r>
              <a:rPr lang="en-US" sz="1100" dirty="0">
                <a:solidFill>
                  <a:srgbClr val="6B7280"/>
                </a:solidFill>
              </a:rPr>
              <a:t>18/10</a:t>
            </a:r>
            <a:endParaRPr lang="en-US" sz="1100" dirty="0"/>
          </a:p>
        </p:txBody>
      </p:sp>
      <p:sp>
        <p:nvSpPr>
          <p:cNvPr id="15" name="Text 13"/>
          <p:cNvSpPr txBox="1"/>
          <p:nvPr/>
        </p:nvSpPr>
        <p:spPr>
          <a:xfrm>
            <a:off x="6781648" y="3566160"/>
            <a:ext cx="1215352" cy="384048"/>
          </a:xfrm>
          <a:prstGeom prst="rect">
            <a:avLst/>
          </a:prstGeom>
          <a:noFill/>
          <a:ln/>
        </p:spPr>
        <p:txBody>
          <a:bodyPr wrap="square" lIns="0" tIns="0" rIns="0" bIns="0" rtlCol="0" anchor="t"/>
          <a:lstStyle/>
          <a:p>
            <a:pPr algn="ctr" indent="0" marL="0">
              <a:buNone/>
            </a:pPr>
            <a:r>
              <a:rPr lang="en-US" sz="1100" b="1" dirty="0">
                <a:solidFill>
                  <a:schemeClr val="tx1"/>
                </a:solidFill>
              </a:rPr>
              <a:t>Hari 5</a:t>
            </a:r>
            <a:endParaRPr lang="en-US" sz="1100" dirty="0"/>
          </a:p>
          <a:p>
            <a:pPr algn="ctr" indent="0" marL="0">
              <a:buNone/>
            </a:pPr>
            <a:r>
              <a:rPr lang="en-US" sz="1100" dirty="0">
                <a:solidFill>
                  <a:srgbClr val="6B7280"/>
                </a:solidFill>
              </a:rPr>
              <a:t>19/10</a:t>
            </a:r>
            <a:endParaRPr lang="en-US" sz="1100" dirty="0"/>
          </a:p>
        </p:txBody>
      </p:sp>
      <p:sp>
        <p:nvSpPr>
          <p:cNvPr id="16" name="Text 14"/>
          <p:cNvSpPr txBox="1"/>
          <p:nvPr/>
        </p:nvSpPr>
        <p:spPr>
          <a:xfrm>
            <a:off x="7997000" y="3566160"/>
            <a:ext cx="1215352" cy="384048"/>
          </a:xfrm>
          <a:prstGeom prst="rect">
            <a:avLst/>
          </a:prstGeom>
          <a:noFill/>
          <a:ln/>
        </p:spPr>
        <p:txBody>
          <a:bodyPr wrap="square" lIns="0" tIns="0" rIns="0" bIns="0" rtlCol="0" anchor="t"/>
          <a:lstStyle/>
          <a:p>
            <a:pPr algn="ctr" indent="0" marL="0">
              <a:buNone/>
            </a:pPr>
            <a:r>
              <a:rPr lang="en-US" sz="1100" b="1" dirty="0">
                <a:solidFill>
                  <a:schemeClr val="tx1"/>
                </a:solidFill>
              </a:rPr>
              <a:t>Hari 6</a:t>
            </a:r>
            <a:endParaRPr lang="en-US" sz="1100" dirty="0"/>
          </a:p>
          <a:p>
            <a:pPr algn="ctr" indent="0" marL="0">
              <a:buNone/>
            </a:pPr>
            <a:r>
              <a:rPr lang="en-US" sz="1100" dirty="0">
                <a:solidFill>
                  <a:srgbClr val="6B7280"/>
                </a:solidFill>
              </a:rPr>
              <a:t>20/10</a:t>
            </a:r>
            <a:endParaRPr lang="en-US" sz="1100" dirty="0"/>
          </a:p>
        </p:txBody>
      </p:sp>
      <p:sp>
        <p:nvSpPr>
          <p:cNvPr id="17" name="Text 15"/>
          <p:cNvSpPr txBox="1"/>
          <p:nvPr/>
        </p:nvSpPr>
        <p:spPr>
          <a:xfrm>
            <a:off x="9212351" y="3566160"/>
            <a:ext cx="1215352" cy="384048"/>
          </a:xfrm>
          <a:prstGeom prst="rect">
            <a:avLst/>
          </a:prstGeom>
          <a:noFill/>
          <a:ln/>
        </p:spPr>
        <p:txBody>
          <a:bodyPr wrap="square" lIns="0" tIns="0" rIns="0" bIns="0" rtlCol="0" anchor="t"/>
          <a:lstStyle/>
          <a:p>
            <a:pPr algn="ctr" indent="0" marL="0">
              <a:buNone/>
            </a:pPr>
            <a:r>
              <a:rPr lang="en-US" sz="1100" b="1" dirty="0">
                <a:solidFill>
                  <a:schemeClr val="tx1"/>
                </a:solidFill>
              </a:rPr>
              <a:t>Hari 7</a:t>
            </a:r>
            <a:endParaRPr lang="en-US" sz="1100" dirty="0"/>
          </a:p>
          <a:p>
            <a:pPr algn="ctr" indent="0" marL="0">
              <a:buNone/>
            </a:pPr>
            <a:r>
              <a:rPr lang="en-US" sz="1100" dirty="0">
                <a:solidFill>
                  <a:srgbClr val="6B7280"/>
                </a:solidFill>
              </a:rPr>
              <a:t>21/10</a:t>
            </a:r>
            <a:endParaRPr lang="en-US" sz="1100" dirty="0"/>
          </a:p>
        </p:txBody>
      </p:sp>
      <p:sp>
        <p:nvSpPr>
          <p:cNvPr id="18" name="Text 16"/>
          <p:cNvSpPr txBox="1"/>
          <p:nvPr/>
        </p:nvSpPr>
        <p:spPr>
          <a:xfrm>
            <a:off x="10427703" y="3566160"/>
            <a:ext cx="1215352" cy="384048"/>
          </a:xfrm>
          <a:prstGeom prst="rect">
            <a:avLst/>
          </a:prstGeom>
          <a:noFill/>
          <a:ln/>
        </p:spPr>
        <p:txBody>
          <a:bodyPr wrap="square" lIns="0" tIns="0" rIns="0" bIns="0" rtlCol="0" anchor="t"/>
          <a:lstStyle/>
          <a:p>
            <a:pPr algn="ctr" indent="0" marL="0">
              <a:buNone/>
            </a:pPr>
            <a:r>
              <a:rPr lang="en-US" sz="1100" b="1" dirty="0">
                <a:solidFill>
                  <a:schemeClr val="tx1"/>
                </a:solidFill>
              </a:rPr>
              <a:t>Hari 8</a:t>
            </a:r>
            <a:endParaRPr lang="en-US" sz="1100" dirty="0"/>
          </a:p>
          <a:p>
            <a:pPr algn="ctr" indent="0" marL="0">
              <a:buNone/>
            </a:pPr>
            <a:r>
              <a:rPr lang="en-US" sz="1100" dirty="0">
                <a:solidFill>
                  <a:srgbClr val="6B7280"/>
                </a:solidFill>
              </a:rPr>
              <a:t>22/10</a:t>
            </a:r>
            <a:endParaRPr lang="en-US" sz="1100" dirty="0"/>
          </a:p>
        </p:txBody>
      </p:sp>
      <p:sp>
        <p:nvSpPr>
          <p:cNvPr id="19" name="Text 17"/>
          <p:cNvSpPr txBox="1"/>
          <p:nvPr/>
        </p:nvSpPr>
        <p:spPr>
          <a:xfrm>
            <a:off x="548640" y="4023360"/>
            <a:ext cx="1280160" cy="402336"/>
          </a:xfrm>
          <a:prstGeom prst="rect">
            <a:avLst/>
          </a:prstGeom>
          <a:noFill/>
          <a:ln/>
        </p:spPr>
        <p:txBody>
          <a:bodyPr wrap="square" lIns="0" tIns="0" rIns="0" bIns="0" rtlCol="0" anchor="ctr"/>
          <a:lstStyle/>
          <a:p>
            <a:pPr indent="0" marL="0">
              <a:buNone/>
            </a:pPr>
            <a:r>
              <a:rPr lang="en-US" sz="1300" b="1" dirty="0">
                <a:solidFill>
                  <a:schemeClr val="tx1"/>
                </a:solidFill>
              </a:rPr>
              <a:t>YouTube</a:t>
            </a:r>
            <a:endParaRPr lang="en-US" sz="1300" dirty="0"/>
          </a:p>
        </p:txBody>
      </p:sp>
      <p:sp>
        <p:nvSpPr>
          <p:cNvPr id="20" name="coverage cell"/>
          <p:cNvSpPr/>
          <p:nvPr/>
        </p:nvSpPr>
        <p:spPr>
          <a:xfrm>
            <a:off x="1947672" y="4023360"/>
            <a:ext cx="1160488" cy="402336"/>
          </a:xfrm>
          <a:prstGeom prst="rect">
            <a:avLst/>
          </a:prstGeom>
          <a:solidFill>
            <a:srgbClr val="FDECEC"/>
          </a:solidFill>
          <a:ln/>
        </p:spPr>
      </p:sp>
      <p:sp>
        <p:nvSpPr>
          <p:cNvPr id="21" name="Text 19"/>
          <p:cNvSpPr txBox="1"/>
          <p:nvPr/>
        </p:nvSpPr>
        <p:spPr>
          <a:xfrm>
            <a:off x="1947672" y="4023360"/>
            <a:ext cx="1160488" cy="402336"/>
          </a:xfrm>
          <a:prstGeom prst="rect">
            <a:avLst/>
          </a:prstGeom>
          <a:noFill/>
          <a:ln/>
        </p:spPr>
        <p:txBody>
          <a:bodyPr wrap="square" lIns="0" tIns="0" rIns="0" bIns="0" rtlCol="0" anchor="ctr"/>
          <a:lstStyle/>
          <a:p>
            <a:pPr algn="ctr" indent="0" marL="0">
              <a:buNone/>
            </a:pPr>
            <a:r>
              <a:rPr lang="en-US" sz="1250" b="1" dirty="0">
                <a:solidFill>
                  <a:srgbClr val="E3262E"/>
                </a:solidFill>
              </a:rPr>
              <a:t>89</a:t>
            </a:r>
            <a:endParaRPr lang="en-US" sz="1250" dirty="0"/>
          </a:p>
        </p:txBody>
      </p:sp>
      <p:sp>
        <p:nvSpPr>
          <p:cNvPr id="22" name="coverage cell"/>
          <p:cNvSpPr/>
          <p:nvPr/>
        </p:nvSpPr>
        <p:spPr>
          <a:xfrm>
            <a:off x="3163024" y="4023360"/>
            <a:ext cx="1160488" cy="402336"/>
          </a:xfrm>
          <a:prstGeom prst="rect">
            <a:avLst/>
          </a:prstGeom>
          <a:solidFill>
            <a:srgbClr val="FDECEC"/>
          </a:solidFill>
          <a:ln/>
        </p:spPr>
      </p:sp>
      <p:sp>
        <p:nvSpPr>
          <p:cNvPr id="23" name="Text 21"/>
          <p:cNvSpPr txBox="1"/>
          <p:nvPr/>
        </p:nvSpPr>
        <p:spPr>
          <a:xfrm>
            <a:off x="3163024" y="4023360"/>
            <a:ext cx="1160488" cy="402336"/>
          </a:xfrm>
          <a:prstGeom prst="rect">
            <a:avLst/>
          </a:prstGeom>
          <a:noFill/>
          <a:ln/>
        </p:spPr>
        <p:txBody>
          <a:bodyPr wrap="square" lIns="0" tIns="0" rIns="0" bIns="0" rtlCol="0" anchor="ctr"/>
          <a:lstStyle/>
          <a:p>
            <a:pPr algn="ctr" indent="0" marL="0">
              <a:buNone/>
            </a:pPr>
            <a:r>
              <a:rPr lang="en-US" sz="1250" b="1" dirty="0">
                <a:solidFill>
                  <a:srgbClr val="E3262E"/>
                </a:solidFill>
              </a:rPr>
              <a:t>178</a:t>
            </a:r>
            <a:endParaRPr lang="en-US" sz="1250" dirty="0"/>
          </a:p>
        </p:txBody>
      </p:sp>
      <p:sp>
        <p:nvSpPr>
          <p:cNvPr id="24" name="coverage cell"/>
          <p:cNvSpPr/>
          <p:nvPr/>
        </p:nvSpPr>
        <p:spPr>
          <a:xfrm>
            <a:off x="4378376" y="4023360"/>
            <a:ext cx="1160488" cy="402336"/>
          </a:xfrm>
          <a:prstGeom prst="rect">
            <a:avLst/>
          </a:prstGeom>
          <a:solidFill>
            <a:srgbClr val="FDECEC"/>
          </a:solidFill>
          <a:ln/>
        </p:spPr>
      </p:sp>
      <p:sp>
        <p:nvSpPr>
          <p:cNvPr id="25" name="Text 23"/>
          <p:cNvSpPr txBox="1"/>
          <p:nvPr/>
        </p:nvSpPr>
        <p:spPr>
          <a:xfrm>
            <a:off x="4378376" y="4023360"/>
            <a:ext cx="1160488" cy="402336"/>
          </a:xfrm>
          <a:prstGeom prst="rect">
            <a:avLst/>
          </a:prstGeom>
          <a:noFill/>
          <a:ln/>
        </p:spPr>
        <p:txBody>
          <a:bodyPr wrap="square" lIns="0" tIns="0" rIns="0" bIns="0" rtlCol="0" anchor="ctr"/>
          <a:lstStyle/>
          <a:p>
            <a:pPr algn="ctr" indent="0" marL="0">
              <a:buNone/>
            </a:pPr>
            <a:r>
              <a:rPr lang="en-US" sz="1250" b="1" dirty="0">
                <a:solidFill>
                  <a:srgbClr val="E3262E"/>
                </a:solidFill>
              </a:rPr>
              <a:t>267</a:t>
            </a:r>
            <a:endParaRPr lang="en-US" sz="1250" dirty="0"/>
          </a:p>
        </p:txBody>
      </p:sp>
      <p:sp>
        <p:nvSpPr>
          <p:cNvPr id="26" name="coverage cell"/>
          <p:cNvSpPr/>
          <p:nvPr/>
        </p:nvSpPr>
        <p:spPr>
          <a:xfrm>
            <a:off x="5593728" y="4023360"/>
            <a:ext cx="1160488" cy="402336"/>
          </a:xfrm>
          <a:prstGeom prst="rect">
            <a:avLst/>
          </a:prstGeom>
          <a:solidFill>
            <a:srgbClr val="FDECEC"/>
          </a:solidFill>
          <a:ln/>
        </p:spPr>
      </p:sp>
      <p:sp>
        <p:nvSpPr>
          <p:cNvPr id="27" name="Text 25"/>
          <p:cNvSpPr txBox="1"/>
          <p:nvPr/>
        </p:nvSpPr>
        <p:spPr>
          <a:xfrm>
            <a:off x="5593728" y="4023360"/>
            <a:ext cx="1160488" cy="402336"/>
          </a:xfrm>
          <a:prstGeom prst="rect">
            <a:avLst/>
          </a:prstGeom>
          <a:noFill/>
          <a:ln/>
        </p:spPr>
        <p:txBody>
          <a:bodyPr wrap="square" lIns="0" tIns="0" rIns="0" bIns="0" rtlCol="0" anchor="ctr"/>
          <a:lstStyle/>
          <a:p>
            <a:pPr algn="ctr" indent="0" marL="0">
              <a:buNone/>
            </a:pPr>
            <a:r>
              <a:rPr lang="en-US" sz="1250" b="1" dirty="0">
                <a:solidFill>
                  <a:srgbClr val="E3262E"/>
                </a:solidFill>
              </a:rPr>
              <a:t>356</a:t>
            </a:r>
            <a:endParaRPr lang="en-US" sz="1250" dirty="0"/>
          </a:p>
        </p:txBody>
      </p:sp>
      <p:sp>
        <p:nvSpPr>
          <p:cNvPr id="28" name="coverage cell"/>
          <p:cNvSpPr/>
          <p:nvPr/>
        </p:nvSpPr>
        <p:spPr>
          <a:xfrm>
            <a:off x="6809080" y="4023360"/>
            <a:ext cx="1160488" cy="402336"/>
          </a:xfrm>
          <a:prstGeom prst="rect">
            <a:avLst/>
          </a:prstGeom>
          <a:solidFill>
            <a:srgbClr val="FDECEC"/>
          </a:solidFill>
          <a:ln/>
        </p:spPr>
      </p:sp>
      <p:sp>
        <p:nvSpPr>
          <p:cNvPr id="29" name="Text 27"/>
          <p:cNvSpPr txBox="1"/>
          <p:nvPr/>
        </p:nvSpPr>
        <p:spPr>
          <a:xfrm>
            <a:off x="6809080" y="4023360"/>
            <a:ext cx="1160488" cy="402336"/>
          </a:xfrm>
          <a:prstGeom prst="rect">
            <a:avLst/>
          </a:prstGeom>
          <a:noFill/>
          <a:ln/>
        </p:spPr>
        <p:txBody>
          <a:bodyPr wrap="square" lIns="0" tIns="0" rIns="0" bIns="0" rtlCol="0" anchor="ctr"/>
          <a:lstStyle/>
          <a:p>
            <a:pPr algn="ctr" indent="0" marL="0">
              <a:buNone/>
            </a:pPr>
            <a:r>
              <a:rPr lang="en-US" sz="1250" b="1" dirty="0">
                <a:solidFill>
                  <a:srgbClr val="E3262E"/>
                </a:solidFill>
              </a:rPr>
              <a:t>445</a:t>
            </a:r>
            <a:endParaRPr lang="en-US" sz="1250" dirty="0"/>
          </a:p>
        </p:txBody>
      </p:sp>
      <p:sp>
        <p:nvSpPr>
          <p:cNvPr id="30" name="coverage cell"/>
          <p:cNvSpPr/>
          <p:nvPr/>
        </p:nvSpPr>
        <p:spPr>
          <a:xfrm>
            <a:off x="8024432" y="4023360"/>
            <a:ext cx="1160488" cy="402336"/>
          </a:xfrm>
          <a:prstGeom prst="rect">
            <a:avLst/>
          </a:prstGeom>
          <a:solidFill>
            <a:srgbClr val="FDECEC"/>
          </a:solidFill>
          <a:ln/>
        </p:spPr>
      </p:sp>
      <p:sp>
        <p:nvSpPr>
          <p:cNvPr id="31" name="Text 29"/>
          <p:cNvSpPr txBox="1"/>
          <p:nvPr/>
        </p:nvSpPr>
        <p:spPr>
          <a:xfrm>
            <a:off x="8024432" y="4023360"/>
            <a:ext cx="1160488" cy="402336"/>
          </a:xfrm>
          <a:prstGeom prst="rect">
            <a:avLst/>
          </a:prstGeom>
          <a:noFill/>
          <a:ln/>
        </p:spPr>
        <p:txBody>
          <a:bodyPr wrap="square" lIns="0" tIns="0" rIns="0" bIns="0" rtlCol="0" anchor="ctr"/>
          <a:lstStyle/>
          <a:p>
            <a:pPr algn="ctr" indent="0" marL="0">
              <a:buNone/>
            </a:pPr>
            <a:r>
              <a:rPr lang="en-US" sz="1250" b="1" dirty="0">
                <a:solidFill>
                  <a:srgbClr val="E3262E"/>
                </a:solidFill>
              </a:rPr>
              <a:t>534</a:t>
            </a:r>
            <a:endParaRPr lang="en-US" sz="1250" dirty="0"/>
          </a:p>
        </p:txBody>
      </p:sp>
      <p:sp>
        <p:nvSpPr>
          <p:cNvPr id="32" name="coverage cell"/>
          <p:cNvSpPr/>
          <p:nvPr/>
        </p:nvSpPr>
        <p:spPr>
          <a:xfrm>
            <a:off x="9239783" y="4023360"/>
            <a:ext cx="1160488" cy="402336"/>
          </a:xfrm>
          <a:prstGeom prst="rect">
            <a:avLst/>
          </a:prstGeom>
          <a:solidFill>
            <a:srgbClr val="FDECEC"/>
          </a:solidFill>
          <a:ln/>
        </p:spPr>
      </p:sp>
      <p:sp>
        <p:nvSpPr>
          <p:cNvPr id="33" name="Text 31"/>
          <p:cNvSpPr txBox="1"/>
          <p:nvPr/>
        </p:nvSpPr>
        <p:spPr>
          <a:xfrm>
            <a:off x="9239783" y="4023360"/>
            <a:ext cx="1160488" cy="402336"/>
          </a:xfrm>
          <a:prstGeom prst="rect">
            <a:avLst/>
          </a:prstGeom>
          <a:noFill/>
          <a:ln/>
        </p:spPr>
        <p:txBody>
          <a:bodyPr wrap="square" lIns="0" tIns="0" rIns="0" bIns="0" rtlCol="0" anchor="ctr"/>
          <a:lstStyle/>
          <a:p>
            <a:pPr algn="ctr" indent="0" marL="0">
              <a:buNone/>
            </a:pPr>
            <a:r>
              <a:rPr lang="en-US" sz="1250" b="1" dirty="0">
                <a:solidFill>
                  <a:srgbClr val="E3262E"/>
                </a:solidFill>
              </a:rPr>
              <a:t>623</a:t>
            </a:r>
            <a:endParaRPr lang="en-US" sz="1250" dirty="0"/>
          </a:p>
        </p:txBody>
      </p:sp>
      <p:sp>
        <p:nvSpPr>
          <p:cNvPr id="34" name="coverage cell"/>
          <p:cNvSpPr/>
          <p:nvPr/>
        </p:nvSpPr>
        <p:spPr>
          <a:xfrm>
            <a:off x="10455135" y="4023360"/>
            <a:ext cx="1160488" cy="402336"/>
          </a:xfrm>
          <a:prstGeom prst="rect">
            <a:avLst/>
          </a:prstGeom>
          <a:solidFill>
            <a:srgbClr val="E3262E"/>
          </a:solidFill>
          <a:ln/>
        </p:spPr>
      </p:sp>
      <p:sp>
        <p:nvSpPr>
          <p:cNvPr id="35" name="Text 33"/>
          <p:cNvSpPr txBox="1"/>
          <p:nvPr/>
        </p:nvSpPr>
        <p:spPr>
          <a:xfrm>
            <a:off x="10455135" y="4023360"/>
            <a:ext cx="1160488" cy="402336"/>
          </a:xfrm>
          <a:prstGeom prst="rect">
            <a:avLst/>
          </a:prstGeom>
          <a:noFill/>
          <a:ln/>
        </p:spPr>
        <p:txBody>
          <a:bodyPr wrap="square" lIns="0" tIns="0" rIns="0" bIns="0" rtlCol="0" anchor="ctr"/>
          <a:lstStyle/>
          <a:p>
            <a:pPr algn="ctr" indent="0" marL="0">
              <a:buNone/>
            </a:pPr>
            <a:r>
              <a:rPr lang="en-US" sz="1250" b="1" dirty="0">
                <a:solidFill>
                  <a:srgbClr val="FFFFFF"/>
                </a:solidFill>
              </a:rPr>
              <a:t>699 ✓</a:t>
            </a:r>
            <a:endParaRPr lang="en-US" sz="1250" dirty="0"/>
          </a:p>
        </p:txBody>
      </p:sp>
      <p:sp>
        <p:nvSpPr>
          <p:cNvPr id="36" name="Text 34"/>
          <p:cNvSpPr txBox="1"/>
          <p:nvPr/>
        </p:nvSpPr>
        <p:spPr>
          <a:xfrm>
            <a:off x="548640" y="4498848"/>
            <a:ext cx="1280160" cy="402336"/>
          </a:xfrm>
          <a:prstGeom prst="rect">
            <a:avLst/>
          </a:prstGeom>
          <a:noFill/>
          <a:ln/>
        </p:spPr>
        <p:txBody>
          <a:bodyPr wrap="square" lIns="0" tIns="0" rIns="0" bIns="0" rtlCol="0" anchor="ctr"/>
          <a:lstStyle/>
          <a:p>
            <a:pPr indent="0" marL="0">
              <a:buNone/>
            </a:pPr>
            <a:r>
              <a:rPr lang="en-US" sz="1300" b="1" dirty="0">
                <a:solidFill>
                  <a:schemeClr val="tx1"/>
                </a:solidFill>
              </a:rPr>
              <a:t>Spotify</a:t>
            </a:r>
            <a:endParaRPr lang="en-US" sz="1300" dirty="0"/>
          </a:p>
        </p:txBody>
      </p:sp>
      <p:sp>
        <p:nvSpPr>
          <p:cNvPr id="37" name="coverage cell"/>
          <p:cNvSpPr/>
          <p:nvPr/>
        </p:nvSpPr>
        <p:spPr>
          <a:xfrm>
            <a:off x="1947672" y="4498848"/>
            <a:ext cx="1160488" cy="402336"/>
          </a:xfrm>
          <a:prstGeom prst="rect">
            <a:avLst/>
          </a:prstGeom>
          <a:solidFill>
            <a:srgbClr val="F3F4F6"/>
          </a:solidFill>
          <a:ln/>
        </p:spPr>
      </p:sp>
      <p:sp>
        <p:nvSpPr>
          <p:cNvPr id="38" name="Text 36"/>
          <p:cNvSpPr txBox="1"/>
          <p:nvPr/>
        </p:nvSpPr>
        <p:spPr>
          <a:xfrm>
            <a:off x="1947672" y="4498848"/>
            <a:ext cx="1160488" cy="402336"/>
          </a:xfrm>
          <a:prstGeom prst="rect">
            <a:avLst/>
          </a:prstGeom>
          <a:noFill/>
          <a:ln/>
        </p:spPr>
        <p:txBody>
          <a:bodyPr wrap="square" lIns="0" tIns="0" rIns="0" bIns="0" rtlCol="0" anchor="ctr"/>
          <a:lstStyle/>
          <a:p>
            <a:pPr algn="ctr" indent="0" marL="0">
              <a:buNone/>
            </a:pPr>
            <a:r>
              <a:rPr lang="en-US" sz="1250" b="1" dirty="0">
                <a:solidFill>
                  <a:srgbClr val="2B2D33"/>
                </a:solidFill>
              </a:rPr>
              <a:t>194</a:t>
            </a:r>
            <a:endParaRPr lang="en-US" sz="1250" dirty="0"/>
          </a:p>
        </p:txBody>
      </p:sp>
      <p:sp>
        <p:nvSpPr>
          <p:cNvPr id="39" name="coverage cell"/>
          <p:cNvSpPr/>
          <p:nvPr/>
        </p:nvSpPr>
        <p:spPr>
          <a:xfrm>
            <a:off x="3163024" y="4498848"/>
            <a:ext cx="1160488" cy="402336"/>
          </a:xfrm>
          <a:prstGeom prst="rect">
            <a:avLst/>
          </a:prstGeom>
          <a:solidFill>
            <a:srgbClr val="F3F4F6"/>
          </a:solidFill>
          <a:ln/>
        </p:spPr>
      </p:sp>
      <p:sp>
        <p:nvSpPr>
          <p:cNvPr id="40" name="Text 38"/>
          <p:cNvSpPr txBox="1"/>
          <p:nvPr/>
        </p:nvSpPr>
        <p:spPr>
          <a:xfrm>
            <a:off x="3163024" y="4498848"/>
            <a:ext cx="1160488" cy="402336"/>
          </a:xfrm>
          <a:prstGeom prst="rect">
            <a:avLst/>
          </a:prstGeom>
          <a:noFill/>
          <a:ln/>
        </p:spPr>
        <p:txBody>
          <a:bodyPr wrap="square" lIns="0" tIns="0" rIns="0" bIns="0" rtlCol="0" anchor="ctr"/>
          <a:lstStyle/>
          <a:p>
            <a:pPr algn="ctr" indent="0" marL="0">
              <a:buNone/>
            </a:pPr>
            <a:r>
              <a:rPr lang="en-US" sz="1250" b="1" dirty="0">
                <a:solidFill>
                  <a:srgbClr val="2B2D33"/>
                </a:solidFill>
              </a:rPr>
              <a:t>381</a:t>
            </a:r>
            <a:endParaRPr lang="en-US" sz="1250" dirty="0"/>
          </a:p>
        </p:txBody>
      </p:sp>
      <p:sp>
        <p:nvSpPr>
          <p:cNvPr id="41" name="coverage cell"/>
          <p:cNvSpPr/>
          <p:nvPr/>
        </p:nvSpPr>
        <p:spPr>
          <a:xfrm>
            <a:off x="4378376" y="4498848"/>
            <a:ext cx="1160488" cy="402336"/>
          </a:xfrm>
          <a:prstGeom prst="rect">
            <a:avLst/>
          </a:prstGeom>
          <a:solidFill>
            <a:srgbClr val="F3F4F6"/>
          </a:solidFill>
          <a:ln/>
        </p:spPr>
      </p:sp>
      <p:sp>
        <p:nvSpPr>
          <p:cNvPr id="42" name="Text 40"/>
          <p:cNvSpPr txBox="1"/>
          <p:nvPr/>
        </p:nvSpPr>
        <p:spPr>
          <a:xfrm>
            <a:off x="4378376" y="4498848"/>
            <a:ext cx="1160488" cy="402336"/>
          </a:xfrm>
          <a:prstGeom prst="rect">
            <a:avLst/>
          </a:prstGeom>
          <a:noFill/>
          <a:ln/>
        </p:spPr>
        <p:txBody>
          <a:bodyPr wrap="square" lIns="0" tIns="0" rIns="0" bIns="0" rtlCol="0" anchor="ctr"/>
          <a:lstStyle/>
          <a:p>
            <a:pPr algn="ctr" indent="0" marL="0">
              <a:buNone/>
            </a:pPr>
            <a:r>
              <a:rPr lang="en-US" sz="1250" b="1" dirty="0">
                <a:solidFill>
                  <a:srgbClr val="2B2D33"/>
                </a:solidFill>
              </a:rPr>
              <a:t>568</a:t>
            </a:r>
            <a:endParaRPr lang="en-US" sz="1250" dirty="0"/>
          </a:p>
        </p:txBody>
      </p:sp>
      <p:sp>
        <p:nvSpPr>
          <p:cNvPr id="43" name="coverage cell"/>
          <p:cNvSpPr/>
          <p:nvPr/>
        </p:nvSpPr>
        <p:spPr>
          <a:xfrm>
            <a:off x="5593728" y="4498848"/>
            <a:ext cx="1160488" cy="402336"/>
          </a:xfrm>
          <a:prstGeom prst="rect">
            <a:avLst/>
          </a:prstGeom>
          <a:solidFill>
            <a:srgbClr val="2B2D33"/>
          </a:solidFill>
          <a:ln/>
        </p:spPr>
      </p:sp>
      <p:sp>
        <p:nvSpPr>
          <p:cNvPr id="44" name="Text 42"/>
          <p:cNvSpPr txBox="1"/>
          <p:nvPr/>
        </p:nvSpPr>
        <p:spPr>
          <a:xfrm>
            <a:off x="5593728" y="4498848"/>
            <a:ext cx="1160488" cy="402336"/>
          </a:xfrm>
          <a:prstGeom prst="rect">
            <a:avLst/>
          </a:prstGeom>
          <a:noFill/>
          <a:ln/>
        </p:spPr>
        <p:txBody>
          <a:bodyPr wrap="square" lIns="0" tIns="0" rIns="0" bIns="0" rtlCol="0" anchor="ctr"/>
          <a:lstStyle/>
          <a:p>
            <a:pPr algn="ctr" indent="0" marL="0">
              <a:buNone/>
            </a:pPr>
            <a:r>
              <a:rPr lang="en-US" sz="1250" b="1" dirty="0">
                <a:solidFill>
                  <a:srgbClr val="FFFFFF"/>
                </a:solidFill>
              </a:rPr>
              <a:t>699 ✓</a:t>
            </a:r>
            <a:endParaRPr lang="en-US" sz="1250" dirty="0"/>
          </a:p>
        </p:txBody>
      </p:sp>
      <p:sp>
        <p:nvSpPr>
          <p:cNvPr id="45" name="done cell"/>
          <p:cNvSpPr/>
          <p:nvPr/>
        </p:nvSpPr>
        <p:spPr>
          <a:xfrm>
            <a:off x="6809080" y="4498848"/>
            <a:ext cx="1160488" cy="402336"/>
          </a:xfrm>
          <a:prstGeom prst="rect">
            <a:avLst/>
          </a:prstGeom>
          <a:solidFill>
            <a:srgbClr val="FFFFFF"/>
          </a:solidFill>
          <a:ln w="6350">
            <a:solidFill>
              <a:srgbClr val="D1D5DB"/>
            </a:solidFill>
            <a:prstDash val="dash"/>
          </a:ln>
        </p:spPr>
      </p:sp>
      <p:sp>
        <p:nvSpPr>
          <p:cNvPr id="46" name="done cell"/>
          <p:cNvSpPr/>
          <p:nvPr/>
        </p:nvSpPr>
        <p:spPr>
          <a:xfrm>
            <a:off x="8024432" y="4498848"/>
            <a:ext cx="1160488" cy="402336"/>
          </a:xfrm>
          <a:prstGeom prst="rect">
            <a:avLst/>
          </a:prstGeom>
          <a:solidFill>
            <a:srgbClr val="FFFFFF"/>
          </a:solidFill>
          <a:ln w="6350">
            <a:solidFill>
              <a:srgbClr val="D1D5DB"/>
            </a:solidFill>
            <a:prstDash val="dash"/>
          </a:ln>
        </p:spPr>
      </p:sp>
      <p:sp>
        <p:nvSpPr>
          <p:cNvPr id="47" name="done cell"/>
          <p:cNvSpPr/>
          <p:nvPr/>
        </p:nvSpPr>
        <p:spPr>
          <a:xfrm>
            <a:off x="9239783" y="4498848"/>
            <a:ext cx="1160488" cy="402336"/>
          </a:xfrm>
          <a:prstGeom prst="rect">
            <a:avLst/>
          </a:prstGeom>
          <a:solidFill>
            <a:srgbClr val="FFFFFF"/>
          </a:solidFill>
          <a:ln w="6350">
            <a:solidFill>
              <a:srgbClr val="D1D5DB"/>
            </a:solidFill>
            <a:prstDash val="dash"/>
          </a:ln>
        </p:spPr>
      </p:sp>
      <p:sp>
        <p:nvSpPr>
          <p:cNvPr id="48" name="done cell"/>
          <p:cNvSpPr/>
          <p:nvPr/>
        </p:nvSpPr>
        <p:spPr>
          <a:xfrm>
            <a:off x="10455135" y="4498848"/>
            <a:ext cx="1160488" cy="402336"/>
          </a:xfrm>
          <a:prstGeom prst="rect">
            <a:avLst/>
          </a:prstGeom>
          <a:solidFill>
            <a:srgbClr val="FFFFFF"/>
          </a:solidFill>
          <a:ln w="6350">
            <a:solidFill>
              <a:srgbClr val="D1D5DB"/>
            </a:solidFill>
            <a:prstDash val="dash"/>
          </a:ln>
        </p:spPr>
      </p:sp>
      <p:sp>
        <p:nvSpPr>
          <p:cNvPr id="49" name="Text 47"/>
          <p:cNvSpPr txBox="1"/>
          <p:nvPr/>
        </p:nvSpPr>
        <p:spPr>
          <a:xfrm>
            <a:off x="548640" y="5056632"/>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SETELAH BACKFILL · BEBAN HARIAN RUTIN</a:t>
            </a:r>
            <a:endParaRPr lang="en-US" sz="1100" dirty="0"/>
          </a:p>
        </p:txBody>
      </p:sp>
      <p:sp>
        <p:nvSpPr>
          <p:cNvPr id="50" name="steady state tile"/>
          <p:cNvSpPr/>
          <p:nvPr/>
        </p:nvSpPr>
        <p:spPr>
          <a:xfrm>
            <a:off x="548640" y="5349240"/>
            <a:ext cx="3515258" cy="914400"/>
          </a:xfrm>
          <a:prstGeom prst="roundRect">
            <a:avLst>
              <a:gd name="adj" fmla="val 8000"/>
            </a:avLst>
          </a:prstGeom>
          <a:solidFill>
            <a:schemeClr val="bg2"/>
          </a:solidFill>
          <a:ln/>
        </p:spPr>
      </p:sp>
      <p:sp>
        <p:nvSpPr>
          <p:cNvPr id="51" name="Text 49"/>
          <p:cNvSpPr txBox="1"/>
          <p:nvPr/>
        </p:nvSpPr>
        <p:spPr>
          <a:xfrm>
            <a:off x="731520" y="5440680"/>
            <a:ext cx="3149498" cy="347472"/>
          </a:xfrm>
          <a:prstGeom prst="rect">
            <a:avLst/>
          </a:prstGeom>
          <a:noFill/>
          <a:ln/>
        </p:spPr>
        <p:txBody>
          <a:bodyPr wrap="square" lIns="0" tIns="0" rIns="0" bIns="0" rtlCol="0" anchor="ctr"/>
          <a:lstStyle/>
          <a:p>
            <a:pPr indent="0" marL="0">
              <a:buNone/>
            </a:pPr>
            <a:r>
              <a:rPr lang="en-US" sz="1800" b="1" dirty="0">
                <a:solidFill>
                  <a:schemeClr val="accent1"/>
                </a:solidFill>
                <a:latin typeface="Arial" pitchFamily="34" charset="0"/>
                <a:ea typeface="Arial" pitchFamily="34" charset="-122"/>
                <a:cs typeface="Arial" pitchFamily="34" charset="-120"/>
              </a:rPr>
              <a:t>±320 call/hari</a:t>
            </a:r>
            <a:endParaRPr lang="en-US" sz="1800" dirty="0"/>
          </a:p>
        </p:txBody>
      </p:sp>
      <p:sp>
        <p:nvSpPr>
          <p:cNvPr id="52" name="Text 50"/>
          <p:cNvSpPr txBox="1"/>
          <p:nvPr/>
        </p:nvSpPr>
        <p:spPr>
          <a:xfrm>
            <a:off x="731520" y="5806440"/>
            <a:ext cx="3149498" cy="411480"/>
          </a:xfrm>
          <a:prstGeom prst="rect">
            <a:avLst/>
          </a:prstGeom>
          <a:noFill/>
          <a:ln/>
        </p:spPr>
        <p:txBody>
          <a:bodyPr wrap="square" lIns="0" tIns="0" rIns="0" bIns="0" rtlCol="0" anchor="t"/>
          <a:lstStyle/>
          <a:p>
            <a:pPr indent="0" marL="0">
              <a:buNone/>
            </a:pPr>
            <a:r>
              <a:rPr lang="en-US" sz="1150" dirty="0">
                <a:solidFill>
                  <a:schemeClr val="tx1"/>
                </a:solidFill>
              </a:rPr>
              <a:t>Spotify: refresh 7 hari ≈ 100 lagu/hari → 53% dari ±600 call</a:t>
            </a:r>
            <a:endParaRPr lang="en-US" sz="1150" dirty="0"/>
          </a:p>
        </p:txBody>
      </p:sp>
      <p:sp>
        <p:nvSpPr>
          <p:cNvPr id="53" name="steady state tile"/>
          <p:cNvSpPr/>
          <p:nvPr/>
        </p:nvSpPr>
        <p:spPr>
          <a:xfrm>
            <a:off x="4338218" y="5349240"/>
            <a:ext cx="3515258" cy="914400"/>
          </a:xfrm>
          <a:prstGeom prst="roundRect">
            <a:avLst>
              <a:gd name="adj" fmla="val 8000"/>
            </a:avLst>
          </a:prstGeom>
          <a:solidFill>
            <a:schemeClr val="bg2"/>
          </a:solidFill>
          <a:ln/>
        </p:spPr>
      </p:sp>
      <p:sp>
        <p:nvSpPr>
          <p:cNvPr id="54" name="Text 52"/>
          <p:cNvSpPr txBox="1"/>
          <p:nvPr/>
        </p:nvSpPr>
        <p:spPr>
          <a:xfrm>
            <a:off x="4521098" y="5440680"/>
            <a:ext cx="3149498" cy="347472"/>
          </a:xfrm>
          <a:prstGeom prst="rect">
            <a:avLst/>
          </a:prstGeom>
          <a:noFill/>
          <a:ln/>
        </p:spPr>
        <p:txBody>
          <a:bodyPr wrap="square" lIns="0" tIns="0" rIns="0" bIns="0" rtlCol="0" anchor="ctr"/>
          <a:lstStyle/>
          <a:p>
            <a:pPr indent="0" marL="0">
              <a:buNone/>
            </a:pPr>
            <a:r>
              <a:rPr lang="en-US" sz="1800" b="1" dirty="0">
                <a:solidFill>
                  <a:schemeClr val="accent1"/>
                </a:solidFill>
                <a:latin typeface="Arial" pitchFamily="34" charset="0"/>
                <a:ea typeface="Arial" pitchFamily="34" charset="-122"/>
                <a:cs typeface="Arial" pitchFamily="34" charset="-120"/>
              </a:rPr>
              <a:t>±2.353 unit/hari</a:t>
            </a:r>
            <a:endParaRPr lang="en-US" sz="1800" dirty="0"/>
          </a:p>
        </p:txBody>
      </p:sp>
      <p:sp>
        <p:nvSpPr>
          <p:cNvPr id="55" name="Text 53"/>
          <p:cNvSpPr txBox="1"/>
          <p:nvPr/>
        </p:nvSpPr>
        <p:spPr>
          <a:xfrm>
            <a:off x="4521098" y="5806440"/>
            <a:ext cx="3149498" cy="411480"/>
          </a:xfrm>
          <a:prstGeom prst="rect">
            <a:avLst/>
          </a:prstGeom>
          <a:noFill/>
          <a:ln/>
        </p:spPr>
        <p:txBody>
          <a:bodyPr wrap="square" lIns="0" tIns="0" rIns="0" bIns="0" rtlCol="0" anchor="t"/>
          <a:lstStyle/>
          <a:p>
            <a:pPr indent="0" marL="0">
              <a:buNone/>
            </a:pPr>
            <a:r>
              <a:rPr lang="en-US" sz="1150" dirty="0">
                <a:solidFill>
                  <a:schemeClr val="tx1"/>
                </a:solidFill>
              </a:rPr>
              <a:t>YouTube: refresh 30 hari ≈ 23 lagu/hari → 26% dari anggaran 9.000</a:t>
            </a:r>
            <a:endParaRPr lang="en-US" sz="1150" dirty="0"/>
          </a:p>
        </p:txBody>
      </p:sp>
      <p:sp>
        <p:nvSpPr>
          <p:cNvPr id="56" name="steady state tile"/>
          <p:cNvSpPr/>
          <p:nvPr/>
        </p:nvSpPr>
        <p:spPr>
          <a:xfrm>
            <a:off x="8127797" y="5349240"/>
            <a:ext cx="3515258" cy="914400"/>
          </a:xfrm>
          <a:prstGeom prst="roundRect">
            <a:avLst>
              <a:gd name="adj" fmla="val 8000"/>
            </a:avLst>
          </a:prstGeom>
          <a:solidFill>
            <a:schemeClr val="bg2"/>
          </a:solidFill>
          <a:ln/>
        </p:spPr>
      </p:sp>
      <p:sp>
        <p:nvSpPr>
          <p:cNvPr id="57" name="Text 55"/>
          <p:cNvSpPr txBox="1"/>
          <p:nvPr/>
        </p:nvSpPr>
        <p:spPr>
          <a:xfrm>
            <a:off x="8310677" y="5440680"/>
            <a:ext cx="3149498" cy="347472"/>
          </a:xfrm>
          <a:prstGeom prst="rect">
            <a:avLst/>
          </a:prstGeom>
          <a:noFill/>
          <a:ln/>
        </p:spPr>
        <p:txBody>
          <a:bodyPr wrap="square" lIns="0" tIns="0" rIns="0" bIns="0" rtlCol="0" anchor="ctr"/>
          <a:lstStyle/>
          <a:p>
            <a:pPr indent="0" marL="0">
              <a:buNone/>
            </a:pPr>
            <a:r>
              <a:rPr lang="en-US" sz="1800" b="1" dirty="0">
                <a:solidFill>
                  <a:schemeClr val="accent1"/>
                </a:solidFill>
                <a:latin typeface="Arial" pitchFamily="34" charset="0"/>
                <a:ea typeface="Arial" pitchFamily="34" charset="-122"/>
                <a:cs typeface="Arial" pitchFamily="34" charset="-120"/>
              </a:rPr>
              <a:t>±1.300 lagu</a:t>
            </a:r>
            <a:endParaRPr lang="en-US" sz="1800" dirty="0"/>
          </a:p>
        </p:txBody>
      </p:sp>
      <p:sp>
        <p:nvSpPr>
          <p:cNvPr id="58" name="Text 56"/>
          <p:cNvSpPr txBox="1"/>
          <p:nvPr/>
        </p:nvSpPr>
        <p:spPr>
          <a:xfrm>
            <a:off x="8310677" y="5806440"/>
            <a:ext cx="3149498" cy="411480"/>
          </a:xfrm>
          <a:prstGeom prst="rect">
            <a:avLst/>
          </a:prstGeom>
          <a:noFill/>
          <a:ln/>
        </p:spPr>
        <p:txBody>
          <a:bodyPr wrap="square" lIns="0" tIns="0" rIns="0" bIns="0" rtlCol="0" anchor="t"/>
          <a:lstStyle/>
          <a:p>
            <a:pPr indent="0" marL="0">
              <a:buNone/>
            </a:pPr>
            <a:r>
              <a:rPr lang="en-US" sz="1150" dirty="0">
                <a:solidFill>
                  <a:schemeClr val="tx1"/>
                </a:solidFill>
              </a:rPr>
              <a:t>batas katalog berkelanjutan (Spotify 187 × 7); YouTube ±2.670 lagu (89 × 30)</a:t>
            </a:r>
            <a:endParaRPr lang="en-US" sz="11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9 · SISTEM KITA · ALERT EMAIL</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Alert email otomatis ke fachrifa1898@gmail.com</a:t>
            </a:r>
            <a:endParaRPr lang="en-US" sz="3000" dirty="0"/>
          </a:p>
        </p:txBody>
      </p:sp>
      <p:sp>
        <p:nvSpPr>
          <p:cNvPr id="4" name="code box"/>
          <p:cNvSpPr/>
          <p:nvPr/>
        </p:nvSpPr>
        <p:spPr>
          <a:xfrm>
            <a:off x="548640" y="1417320"/>
            <a:ext cx="4160520" cy="2514600"/>
          </a:xfrm>
          <a:prstGeom prst="roundRect">
            <a:avLst>
              <a:gd name="adj" fmla="val 2182"/>
            </a:avLst>
          </a:prstGeom>
          <a:solidFill>
            <a:srgbClr val="1B1B1F"/>
          </a:solidFill>
          <a:ln/>
        </p:spPr>
      </p:sp>
      <p:sp>
        <p:nvSpPr>
          <p:cNvPr id="5" name="Text 3"/>
          <p:cNvSpPr txBox="1"/>
          <p:nvPr/>
        </p:nvSpPr>
        <p:spPr>
          <a:xfrm>
            <a:off x="777240" y="1563624"/>
            <a:ext cx="370332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.ENV · KONFIGURASI SMTP (GMAIL)</a:t>
            </a:r>
            <a:endParaRPr lang="en-US" sz="1100" dirty="0"/>
          </a:p>
        </p:txBody>
      </p:sp>
      <p:sp>
        <p:nvSpPr>
          <p:cNvPr id="6" name="Text 4"/>
          <p:cNvSpPr txBox="1"/>
          <p:nvPr/>
        </p:nvSpPr>
        <p:spPr>
          <a:xfrm>
            <a:off x="777240" y="1892808"/>
            <a:ext cx="3703320" cy="1929384"/>
          </a:xfrm>
          <a:prstGeom prst="rect">
            <a:avLst/>
          </a:prstGeom>
          <a:noFill/>
          <a:ln/>
        </p:spPr>
        <p:txBody>
          <a:bodyPr wrap="square" lIns="0" tIns="0" rIns="0" bIns="0" rtlCol="0" anchor="t"/>
          <a:lstStyle/>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ALERT_EMAIL_TO=fachrifa1898@gmail.com</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SMTP_HOST=smtp.gmail.com</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SMTP_PORT=587</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SMTP_SECURITY=starttls</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SMTP_USER=&lt;akun Gmail pengirim&gt;</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SMTP_PASSWORD=&lt;Gmail App Password&gt;</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SMTP_MAIL_FROM=&lt;alamat pengirim&gt;</a:t>
            </a:r>
            <a:endParaRPr lang="en-US" sz="1150" dirty="0"/>
          </a:p>
        </p:txBody>
      </p:sp>
      <p:sp>
        <p:nvSpPr>
          <p:cNvPr id="7" name="email rules card"/>
          <p:cNvSpPr/>
          <p:nvPr/>
        </p:nvSpPr>
        <p:spPr>
          <a:xfrm>
            <a:off x="548640" y="4114800"/>
            <a:ext cx="4160520" cy="2148840"/>
          </a:xfrm>
          <a:prstGeom prst="roundRect">
            <a:avLst>
              <a:gd name="adj" fmla="val 3404"/>
            </a:avLst>
          </a:prstGeom>
          <a:solidFill>
            <a:schemeClr val="bg2"/>
          </a:solidFill>
          <a:ln/>
        </p:spPr>
      </p:sp>
      <p:sp>
        <p:nvSpPr>
          <p:cNvPr id="8" name="Text 6"/>
          <p:cNvSpPr txBox="1"/>
          <p:nvPr/>
        </p:nvSpPr>
        <p:spPr>
          <a:xfrm>
            <a:off x="749808" y="4251960"/>
            <a:ext cx="379476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ATURAN PENGIRIMAN</a:t>
            </a:r>
            <a:endParaRPr lang="en-US" sz="1100" dirty="0"/>
          </a:p>
        </p:txBody>
      </p:sp>
      <p:sp>
        <p:nvSpPr>
          <p:cNvPr id="9" name="Text 7"/>
          <p:cNvSpPr txBox="1"/>
          <p:nvPr/>
        </p:nvSpPr>
        <p:spPr>
          <a:xfrm>
            <a:off x="749808" y="4544568"/>
            <a:ext cx="3758184" cy="16459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kredensial hanya di .env, tidak ada di kode</a:t>
            </a:r>
            <a:endParaRPr lang="en-US" sz="1250" dirty="0"/>
          </a:p>
          <a:p>
            <a:pPr marL="177800" indent="-177800">
              <a:spcAft>
                <a:spcPts val="500"/>
              </a:spcAft>
              <a:buSzPct val="100000"/>
              <a:buChar char="•"/>
            </a:pPr>
            <a:r>
              <a:rPr lang="en-US" sz="1250" dirty="0">
                <a:solidFill>
                  <a:schemeClr val="tx1"/>
                </a:solidFill>
              </a:rPr>
              <a:t>STARTTLS + login; Gmail memakai App Password</a:t>
            </a:r>
            <a:endParaRPr lang="en-US" sz="1250" dirty="0"/>
          </a:p>
          <a:p>
            <a:pPr marL="177800" indent="-177800">
              <a:spcAft>
                <a:spcPts val="500"/>
              </a:spcAft>
              <a:buSzPct val="100000"/>
              <a:buChar char="•"/>
            </a:pPr>
            <a:r>
              <a:rPr lang="en-US" sz="1250" dirty="0">
                <a:solidFill>
                  <a:schemeClr val="tx1"/>
                </a:solidFill>
              </a:rPr>
              <a:t>setiap email dicatat di ops.alert_log (sent / skipped / failed) → dashboard Pipeline Health</a:t>
            </a:r>
            <a:endParaRPr lang="en-US" sz="1250" dirty="0"/>
          </a:p>
          <a:p>
            <a:pPr marL="177800" indent="-177800">
              <a:spcAft>
                <a:spcPts val="500"/>
              </a:spcAft>
              <a:buSzPct val="100000"/>
              <a:buChar char="•"/>
            </a:pPr>
            <a:r>
              <a:rPr lang="en-US" sz="1250" dirty="0">
                <a:solidFill>
                  <a:schemeClr val="tx1"/>
                </a:solidFill>
              </a:rPr>
              <a:t>gagal kirim email tidak pernah menggagalkan pipeline</a:t>
            </a:r>
            <a:endParaRPr lang="en-US" sz="1250" dirty="0"/>
          </a:p>
        </p:txBody>
      </p:sp>
      <p:sp>
        <p:nvSpPr>
          <p:cNvPr id="10" name="icon circle"/>
          <p:cNvSpPr/>
          <p:nvPr/>
        </p:nvSpPr>
        <p:spPr>
          <a:xfrm>
            <a:off x="4983480" y="1417320"/>
            <a:ext cx="384048" cy="384048"/>
          </a:xfrm>
          <a:prstGeom prst="ellipse">
            <a:avLst/>
          </a:prstGeom>
          <a:solidFill>
            <a:srgbClr val="E3262E"/>
          </a:solidFill>
          <a:ln/>
        </p:spPr>
      </p:sp>
      <p:pic>
        <p:nvPicPr>
          <p:cNvPr id="11" name="icon" descr="preencoded.png">    </p:cNvPr>
          <p:cNvPicPr>
            <a:picLocks noChangeAspect="1"/>
          </p:cNvPicPr>
          <p:nvPr/>
        </p:nvPicPr>
        <p:blipFill>
          <a:blip r:embed="rId1"/>
          <a:stretch>
            <a:fillRect/>
          </a:stretch>
        </p:blipFill>
        <p:spPr>
          <a:xfrm>
            <a:off x="5075652" y="1509492"/>
            <a:ext cx="199705" cy="199705"/>
          </a:xfrm>
          <a:prstGeom prst="rect">
            <a:avLst/>
          </a:prstGeom>
        </p:spPr>
      </p:pic>
      <p:sp>
        <p:nvSpPr>
          <p:cNvPr id="12" name="Text 9"/>
          <p:cNvSpPr txBox="1"/>
          <p:nvPr/>
        </p:nvSpPr>
        <p:spPr>
          <a:xfrm>
            <a:off x="5486400" y="1417320"/>
            <a:ext cx="2286000" cy="384048"/>
          </a:xfrm>
          <a:prstGeom prst="rect">
            <a:avLst/>
          </a:prstGeom>
          <a:noFill/>
          <a:ln/>
        </p:spPr>
        <p:txBody>
          <a:bodyPr wrap="square" lIns="0" tIns="0" rIns="0" bIns="0" rtlCol="0" anchor="ctr"/>
          <a:lstStyle/>
          <a:p>
            <a:pPr indent="0" marL="0">
              <a:buNone/>
            </a:pPr>
            <a:r>
              <a:rPr lang="en-US" sz="1300" b="1" spc="50" kern="0" dirty="0">
                <a:solidFill>
                  <a:schemeClr val="tx1"/>
                </a:solidFill>
              </a:rPr>
              <a:t>1 · PIPELINE ERROR</a:t>
            </a:r>
            <a:endParaRPr lang="en-US" sz="1300" dirty="0"/>
          </a:p>
        </p:txBody>
      </p:sp>
      <p:sp>
        <p:nvSpPr>
          <p:cNvPr id="13" name="Text 10"/>
          <p:cNvSpPr txBox="1"/>
          <p:nvPr/>
        </p:nvSpPr>
        <p:spPr>
          <a:xfrm>
            <a:off x="4983480" y="1920240"/>
            <a:ext cx="2788920" cy="187452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chemeClr val="tx1"/>
                </a:solidFill>
              </a:rPr>
              <a:t>on_failure_callback di default_args → berlaku untuk semua task</a:t>
            </a:r>
            <a:endParaRPr lang="en-US" sz="1150" dirty="0"/>
          </a:p>
          <a:p>
            <a:pPr marL="177800" indent="-177800">
              <a:spcAft>
                <a:spcPts val="400"/>
              </a:spcAft>
              <a:buSzPct val="100000"/>
              <a:buChar char="•"/>
            </a:pPr>
            <a:r>
              <a:rPr lang="en-US" sz="1150" dirty="0">
                <a:solidFill>
                  <a:schemeClr val="tx1"/>
                </a:solidFill>
              </a:rPr>
              <a:t>terpicu setelah retry terakhir (2× backoff eksponensial)</a:t>
            </a:r>
            <a:endParaRPr lang="en-US" sz="1150" dirty="0"/>
          </a:p>
          <a:p>
            <a:pPr marL="177800" indent="-177800">
              <a:spcAft>
                <a:spcPts val="400"/>
              </a:spcAft>
              <a:buSzPct val="100000"/>
              <a:buChar char="•"/>
            </a:pPr>
            <a:r>
              <a:rPr lang="en-US" sz="1150" dirty="0">
                <a:solidFill>
                  <a:schemeClr val="tx1"/>
                </a:solidFill>
              </a:rPr>
              <a:t>subjek: [Massive Music ELT] FAILED: &lt;dag&gt;.&lt;task&gt;</a:t>
            </a:r>
            <a:endParaRPr lang="en-US" sz="1150" dirty="0"/>
          </a:p>
          <a:p>
            <a:pPr marL="177800" indent="-177800">
              <a:spcAft>
                <a:spcPts val="400"/>
              </a:spcAft>
              <a:buSzPct val="100000"/>
              <a:buChar char="•"/>
            </a:pPr>
            <a:r>
              <a:rPr lang="en-US" sz="1150" dirty="0">
                <a:solidFill>
                  <a:schemeClr val="tx1"/>
                </a:solidFill>
              </a:rPr>
              <a:t>isi: task, run, attempt, waktu WIB, error, link log</a:t>
            </a:r>
            <a:endParaRPr lang="en-US" sz="1150" dirty="0"/>
          </a:p>
        </p:txBody>
      </p:sp>
      <p:sp>
        <p:nvSpPr>
          <p:cNvPr id="14" name="image frame"/>
          <p:cNvSpPr/>
          <p:nvPr/>
        </p:nvSpPr>
        <p:spPr>
          <a:xfrm>
            <a:off x="7973568" y="1389888"/>
            <a:ext cx="3696919" cy="1891523"/>
          </a:xfrm>
          <a:prstGeom prst="rect">
            <a:avLst/>
          </a:prstGeom>
          <a:solidFill>
            <a:srgbClr val="FFFFFF"/>
          </a:solidFill>
          <a:ln w="9525">
            <a:solidFill>
              <a:srgbClr val="D1D5DB"/>
            </a:solidFill>
            <a:prstDash val="solid"/>
          </a:ln>
        </p:spPr>
      </p:sp>
      <p:pic>
        <p:nvPicPr>
          <p:cNvPr id="15" name="email_failure.png" descr="C:\Users\CODE.ID\AppData\Local\Temp\claude\c--pribadi-technical-test-massive-music-massive-music-elt\52e738a4-6aae-4658-ba81-31638200b1b2\scratchpad\deck\shots\email_failure.png">    </p:cNvPr>
          <p:cNvPicPr>
            <a:picLocks noChangeAspect="1"/>
          </p:cNvPicPr>
          <p:nvPr/>
        </p:nvPicPr>
        <p:blipFill>
          <a:blip r:embed="rId2"/>
          <a:stretch>
            <a:fillRect/>
          </a:stretch>
        </p:blipFill>
        <p:spPr>
          <a:xfrm>
            <a:off x="8001000" y="1417320"/>
            <a:ext cx="3642055" cy="1836659"/>
          </a:xfrm>
          <a:prstGeom prst="rect">
            <a:avLst/>
          </a:prstGeom>
        </p:spPr>
      </p:pic>
      <p:sp>
        <p:nvSpPr>
          <p:cNvPr id="16" name="icon circle"/>
          <p:cNvSpPr/>
          <p:nvPr/>
        </p:nvSpPr>
        <p:spPr>
          <a:xfrm>
            <a:off x="4983480" y="3904488"/>
            <a:ext cx="384048" cy="384048"/>
          </a:xfrm>
          <a:prstGeom prst="ellipse">
            <a:avLst/>
          </a:prstGeom>
          <a:solidFill>
            <a:srgbClr val="F2A900"/>
          </a:solidFill>
          <a:ln/>
        </p:spPr>
      </p:sp>
      <p:pic>
        <p:nvPicPr>
          <p:cNvPr id="17" name="icon" descr="preencoded.png">    </p:cNvPr>
          <p:cNvPicPr>
            <a:picLocks noChangeAspect="1"/>
          </p:cNvPicPr>
          <p:nvPr/>
        </p:nvPicPr>
        <p:blipFill>
          <a:blip r:embed="rId3"/>
          <a:stretch>
            <a:fillRect/>
          </a:stretch>
        </p:blipFill>
        <p:spPr>
          <a:xfrm>
            <a:off x="5075652" y="3996660"/>
            <a:ext cx="199705" cy="199705"/>
          </a:xfrm>
          <a:prstGeom prst="rect">
            <a:avLst/>
          </a:prstGeom>
        </p:spPr>
      </p:pic>
      <p:sp>
        <p:nvSpPr>
          <p:cNvPr id="18" name="Text 13"/>
          <p:cNvSpPr txBox="1"/>
          <p:nvPr/>
        </p:nvSpPr>
        <p:spPr>
          <a:xfrm>
            <a:off x="5486400" y="3904488"/>
            <a:ext cx="2286000" cy="384048"/>
          </a:xfrm>
          <a:prstGeom prst="rect">
            <a:avLst/>
          </a:prstGeom>
          <a:noFill/>
          <a:ln/>
        </p:spPr>
        <p:txBody>
          <a:bodyPr wrap="square" lIns="0" tIns="0" rIns="0" bIns="0" rtlCol="0" anchor="ctr"/>
          <a:lstStyle/>
          <a:p>
            <a:pPr indent="0" marL="0">
              <a:buNone/>
            </a:pPr>
            <a:r>
              <a:rPr lang="en-US" sz="1300" b="1" spc="50" kern="0" dirty="0">
                <a:solidFill>
                  <a:schemeClr val="tx1"/>
                </a:solidFill>
              </a:rPr>
              <a:t>2 · DATA DIKARANTINA</a:t>
            </a:r>
            <a:endParaRPr lang="en-US" sz="1300" dirty="0"/>
          </a:p>
        </p:txBody>
      </p:sp>
      <p:sp>
        <p:nvSpPr>
          <p:cNvPr id="19" name="Text 14"/>
          <p:cNvSpPr txBox="1"/>
          <p:nvPr/>
        </p:nvSpPr>
        <p:spPr>
          <a:xfrm>
            <a:off x="4983480" y="4407408"/>
            <a:ext cx="2788920" cy="187452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chemeClr val="tx1"/>
                </a:solidFill>
              </a:rPr>
              <a:t>task notify_quarantine, trigger_rule all_done → tetap jalan walau ada task gagal</a:t>
            </a:r>
            <a:endParaRPr lang="en-US" sz="1150" dirty="0"/>
          </a:p>
          <a:p>
            <a:pPr marL="177800" indent="-177800">
              <a:spcAft>
                <a:spcPts val="400"/>
              </a:spcAft>
              <a:buSzPct val="100000"/>
              <a:buChar char="•"/>
            </a:pPr>
            <a:r>
              <a:rPr lang="en-US" sz="1150" dirty="0">
                <a:solidFill>
                  <a:schemeClr val="tx1"/>
                </a:solidFill>
              </a:rPr>
              <a:t>subjek: … QUARANTINE: N record(s) rejected (M new)</a:t>
            </a:r>
            <a:endParaRPr lang="en-US" sz="1150" dirty="0"/>
          </a:p>
          <a:p>
            <a:pPr marL="177800" indent="-177800">
              <a:spcAft>
                <a:spcPts val="400"/>
              </a:spcAft>
              <a:buSzPct val="100000"/>
              <a:buChar char="•"/>
            </a:pPr>
            <a:r>
              <a:rPr lang="en-US" sz="1150" dirty="0">
                <a:solidFill>
                  <a:schemeClr val="tx1"/>
                </a:solidFill>
              </a:rPr>
              <a:t>isi: ringkasan per sumber &amp; alasan, baru vs berulang, 30 record pertama, link dashboard</a:t>
            </a:r>
            <a:endParaRPr lang="en-US" sz="1150" dirty="0"/>
          </a:p>
        </p:txBody>
      </p:sp>
      <p:sp>
        <p:nvSpPr>
          <p:cNvPr id="20" name="image frame"/>
          <p:cNvSpPr/>
          <p:nvPr/>
        </p:nvSpPr>
        <p:spPr>
          <a:xfrm>
            <a:off x="7973568" y="3877056"/>
            <a:ext cx="3696919" cy="2226949"/>
          </a:xfrm>
          <a:prstGeom prst="rect">
            <a:avLst/>
          </a:prstGeom>
          <a:solidFill>
            <a:srgbClr val="FFFFFF"/>
          </a:solidFill>
          <a:ln w="9525">
            <a:solidFill>
              <a:srgbClr val="D1D5DB"/>
            </a:solidFill>
            <a:prstDash val="solid"/>
          </a:ln>
        </p:spPr>
      </p:sp>
      <p:pic>
        <p:nvPicPr>
          <p:cNvPr id="21" name="email_quarantine.png" descr="C:\Users\CODE.ID\AppData\Local\Temp\claude\c--pribadi-technical-test-massive-music-massive-music-elt\52e738a4-6aae-4658-ba81-31638200b1b2\scratchpad\deck\shots\email_quarantine.png">    </p:cNvPr>
          <p:cNvPicPr>
            <a:picLocks noChangeAspect="1"/>
          </p:cNvPicPr>
          <p:nvPr/>
        </p:nvPicPr>
        <p:blipFill>
          <a:blip r:embed="rId4"/>
          <a:stretch>
            <a:fillRect/>
          </a:stretch>
        </p:blipFill>
        <p:spPr>
          <a:xfrm>
            <a:off x="8001000" y="3904488"/>
            <a:ext cx="3642055" cy="2172085"/>
          </a:xfrm>
          <a:prstGeom prst="rect">
            <a:avLst/>
          </a:prstGeom>
        </p:spPr>
      </p:pic>
      <p:sp>
        <p:nvSpPr>
          <p:cNvPr id="22" name="Text 16"/>
          <p:cNvSpPr txBox="1"/>
          <p:nvPr/>
        </p:nvSpPr>
        <p:spPr>
          <a:xfrm>
            <a:off x="8001000" y="6108192"/>
            <a:ext cx="3642055" cy="228600"/>
          </a:xfrm>
          <a:prstGeom prst="rect">
            <a:avLst/>
          </a:prstGeom>
          <a:noFill/>
          <a:ln/>
        </p:spPr>
        <p:txBody>
          <a:bodyPr wrap="square" lIns="0" tIns="0" rIns="0" bIns="0" rtlCol="0" anchor="t"/>
          <a:lstStyle/>
          <a:p>
            <a:pPr indent="0" marL="0">
              <a:buNone/>
            </a:pPr>
            <a:r>
              <a:rPr lang="en-US" sz="1100" i="1" dirty="0">
                <a:solidFill>
                  <a:schemeClr val="accent2"/>
                </a:solidFill>
              </a:rPr>
              <a:t>Tampilan email hasil uji.</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9 · SISTEM KITA · KARANTINA DATA</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Karantina data: disimpan, dilaporkan, terpantau</a:t>
            </a:r>
            <a:endParaRPr lang="en-US" sz="3000" dirty="0"/>
          </a:p>
        </p:txBody>
      </p:sp>
      <p:sp>
        <p:nvSpPr>
          <p:cNvPr id="4" name="flow box"/>
          <p:cNvSpPr/>
          <p:nvPr/>
        </p:nvSpPr>
        <p:spPr>
          <a:xfrm>
            <a:off x="548640" y="1417320"/>
            <a:ext cx="1999427" cy="1005840"/>
          </a:xfrm>
          <a:prstGeom prst="roundRect">
            <a:avLst>
              <a:gd name="adj" fmla="val 5455"/>
            </a:avLst>
          </a:prstGeom>
          <a:solidFill>
            <a:srgbClr val="F3F4F6"/>
          </a:solidFill>
          <a:ln w="9525">
            <a:solidFill>
              <a:srgbClr val="D1D5DB"/>
            </a:solidFill>
            <a:prstDash val="solid"/>
          </a:ln>
        </p:spPr>
      </p:sp>
      <p:sp>
        <p:nvSpPr>
          <p:cNvPr id="5" name="Text 3"/>
          <p:cNvSpPr txBox="1"/>
          <p:nvPr/>
        </p:nvSpPr>
        <p:spPr>
          <a:xfrm>
            <a:off x="603504" y="1417320"/>
            <a:ext cx="1889699" cy="1005840"/>
          </a:xfrm>
          <a:prstGeom prst="rect">
            <a:avLst/>
          </a:prstGeom>
          <a:noFill/>
          <a:ln/>
        </p:spPr>
        <p:txBody>
          <a:bodyPr wrap="square" lIns="0" tIns="0" rIns="0" bIns="0" rtlCol="0" anchor="ctr"/>
          <a:lstStyle/>
          <a:p>
            <a:pPr algn="ctr" indent="0" marL="0">
              <a:buNone/>
            </a:pPr>
            <a:r>
              <a:rPr lang="en-US" sz="1250" b="1" dirty="0">
                <a:solidFill>
                  <a:srgbClr val="1B1B1F"/>
                </a:solidFill>
              </a:rPr>
              <a:t>Validasi pandas gagal</a:t>
            </a:r>
            <a:endParaRPr lang="en-US" sz="1250" dirty="0"/>
          </a:p>
          <a:p>
            <a:pPr algn="ctr" indent="0" marL="0">
              <a:buNone/>
            </a:pPr>
            <a:r>
              <a:rPr lang="en-US" sz="1100" dirty="0">
                <a:solidFill>
                  <a:srgbClr val="4B5563"/>
                </a:solidFill>
              </a:rPr>
              <a:t>aturan pertama yang gagal = reject_reason</a:t>
            </a:r>
            <a:endParaRPr lang="en-US" sz="1250" dirty="0"/>
          </a:p>
        </p:txBody>
      </p:sp>
      <p:sp>
        <p:nvSpPr>
          <p:cNvPr id="6" name="connector"/>
          <p:cNvSpPr/>
          <p:nvPr/>
        </p:nvSpPr>
        <p:spPr>
          <a:xfrm>
            <a:off x="2575499" y="1920240"/>
            <a:ext cx="219456" cy="0"/>
          </a:xfrm>
          <a:prstGeom prst="line">
            <a:avLst/>
          </a:prstGeom>
          <a:noFill/>
          <a:ln w="15875">
            <a:solidFill>
              <a:srgbClr val="4B5563"/>
            </a:solidFill>
            <a:prstDash val="solid"/>
            <a:tailEnd type="triangle"/>
          </a:ln>
        </p:spPr>
      </p:sp>
      <p:sp>
        <p:nvSpPr>
          <p:cNvPr id="7" name="flow box"/>
          <p:cNvSpPr/>
          <p:nvPr/>
        </p:nvSpPr>
        <p:spPr>
          <a:xfrm>
            <a:off x="2822387" y="1417320"/>
            <a:ext cx="1999427" cy="1005840"/>
          </a:xfrm>
          <a:prstGeom prst="roundRect">
            <a:avLst>
              <a:gd name="adj" fmla="val 5455"/>
            </a:avLst>
          </a:prstGeom>
          <a:solidFill>
            <a:srgbClr val="FFF7E6"/>
          </a:solidFill>
          <a:ln w="9525">
            <a:solidFill>
              <a:srgbClr val="F2A900"/>
            </a:solidFill>
            <a:prstDash val="solid"/>
          </a:ln>
        </p:spPr>
      </p:sp>
      <p:sp>
        <p:nvSpPr>
          <p:cNvPr id="8" name="Text 6"/>
          <p:cNvSpPr txBox="1"/>
          <p:nvPr/>
        </p:nvSpPr>
        <p:spPr>
          <a:xfrm>
            <a:off x="2877251" y="1417320"/>
            <a:ext cx="1889699" cy="1005840"/>
          </a:xfrm>
          <a:prstGeom prst="rect">
            <a:avLst/>
          </a:prstGeom>
          <a:noFill/>
          <a:ln/>
        </p:spPr>
        <p:txBody>
          <a:bodyPr wrap="square" lIns="0" tIns="0" rIns="0" bIns="0" rtlCol="0" anchor="ctr"/>
          <a:lstStyle/>
          <a:p>
            <a:pPr algn="ctr" indent="0" marL="0">
              <a:buNone/>
            </a:pPr>
            <a:r>
              <a:rPr lang="en-US" sz="1250" b="1" dirty="0">
                <a:solidFill>
                  <a:srgbClr val="1B1B1F"/>
                </a:solidFill>
                <a:latin typeface="Consolas" pitchFamily="34" charset="0"/>
                <a:ea typeface="Consolas" pitchFamily="34" charset="-122"/>
                <a:cs typeface="Consolas" pitchFamily="34" charset="-120"/>
              </a:rPr>
              <a:t>dq.quarantine_records</a:t>
            </a:r>
            <a:endParaRPr lang="en-US" sz="1250" dirty="0"/>
          </a:p>
          <a:p>
            <a:pPr algn="ctr" indent="0" marL="0">
              <a:buNone/>
            </a:pPr>
            <a:r>
              <a:rPr lang="en-US" sz="1100" dirty="0">
                <a:solidFill>
                  <a:srgbClr val="4B5563"/>
                </a:solidFill>
              </a:rPr>
              <a:t>sumber · entitas · key · label · alasan · JSON</a:t>
            </a:r>
            <a:endParaRPr lang="en-US" sz="1250" dirty="0"/>
          </a:p>
        </p:txBody>
      </p:sp>
      <p:sp>
        <p:nvSpPr>
          <p:cNvPr id="9" name="connector"/>
          <p:cNvSpPr/>
          <p:nvPr/>
        </p:nvSpPr>
        <p:spPr>
          <a:xfrm>
            <a:off x="4849246" y="1920240"/>
            <a:ext cx="219456" cy="0"/>
          </a:xfrm>
          <a:prstGeom prst="line">
            <a:avLst/>
          </a:prstGeom>
          <a:noFill/>
          <a:ln w="15875">
            <a:solidFill>
              <a:srgbClr val="4B5563"/>
            </a:solidFill>
            <a:prstDash val="solid"/>
            <a:tailEnd type="triangle"/>
          </a:ln>
        </p:spPr>
      </p:sp>
      <p:sp>
        <p:nvSpPr>
          <p:cNvPr id="10" name="flow box"/>
          <p:cNvSpPr/>
          <p:nvPr/>
        </p:nvSpPr>
        <p:spPr>
          <a:xfrm>
            <a:off x="5096134" y="1417320"/>
            <a:ext cx="1999427" cy="1005840"/>
          </a:xfrm>
          <a:prstGeom prst="roundRect">
            <a:avLst>
              <a:gd name="adj" fmla="val 5455"/>
            </a:avLst>
          </a:prstGeom>
          <a:solidFill>
            <a:srgbClr val="F3F4F6"/>
          </a:solidFill>
          <a:ln w="9525">
            <a:solidFill>
              <a:srgbClr val="D1D5DB"/>
            </a:solidFill>
            <a:prstDash val="solid"/>
          </a:ln>
        </p:spPr>
      </p:sp>
      <p:sp>
        <p:nvSpPr>
          <p:cNvPr id="11" name="Text 9"/>
          <p:cNvSpPr txBox="1"/>
          <p:nvPr/>
        </p:nvSpPr>
        <p:spPr>
          <a:xfrm>
            <a:off x="5150998" y="1417320"/>
            <a:ext cx="1889699" cy="1005840"/>
          </a:xfrm>
          <a:prstGeom prst="rect">
            <a:avLst/>
          </a:prstGeom>
          <a:noFill/>
          <a:ln/>
        </p:spPr>
        <p:txBody>
          <a:bodyPr wrap="square" lIns="0" tIns="0" rIns="0" bIns="0" rtlCol="0" anchor="ctr"/>
          <a:lstStyle/>
          <a:p>
            <a:pPr algn="ctr" indent="0" marL="0">
              <a:buNone/>
            </a:pPr>
            <a:r>
              <a:rPr lang="en-US" sz="1250" b="1" dirty="0">
                <a:solidFill>
                  <a:srgbClr val="1B1B1F"/>
                </a:solidFill>
              </a:rPr>
              <a:t>Email ringkasan</a:t>
            </a:r>
            <a:endParaRPr lang="en-US" sz="1250" dirty="0"/>
          </a:p>
          <a:p>
            <a:pPr algn="ctr" indent="0" marL="0">
              <a:buNone/>
            </a:pPr>
            <a:r>
              <a:rPr lang="en-US" sz="1100" dirty="0">
                <a:solidFill>
                  <a:srgbClr val="4B5563"/>
                </a:solidFill>
              </a:rPr>
              <a:t>per alasan, baru vs berulang</a:t>
            </a:r>
            <a:endParaRPr lang="en-US" sz="1250" dirty="0"/>
          </a:p>
        </p:txBody>
      </p:sp>
      <p:sp>
        <p:nvSpPr>
          <p:cNvPr id="12" name="connector"/>
          <p:cNvSpPr/>
          <p:nvPr/>
        </p:nvSpPr>
        <p:spPr>
          <a:xfrm>
            <a:off x="7122993" y="1920240"/>
            <a:ext cx="219456" cy="0"/>
          </a:xfrm>
          <a:prstGeom prst="line">
            <a:avLst/>
          </a:prstGeom>
          <a:noFill/>
          <a:ln w="15875">
            <a:solidFill>
              <a:srgbClr val="4B5563"/>
            </a:solidFill>
            <a:prstDash val="solid"/>
            <a:tailEnd type="triangle"/>
          </a:ln>
        </p:spPr>
      </p:sp>
      <p:sp>
        <p:nvSpPr>
          <p:cNvPr id="13" name="flow box"/>
          <p:cNvSpPr/>
          <p:nvPr/>
        </p:nvSpPr>
        <p:spPr>
          <a:xfrm>
            <a:off x="7369881" y="1417320"/>
            <a:ext cx="1999427" cy="1005840"/>
          </a:xfrm>
          <a:prstGeom prst="roundRect">
            <a:avLst>
              <a:gd name="adj" fmla="val 5455"/>
            </a:avLst>
          </a:prstGeom>
          <a:solidFill>
            <a:srgbClr val="FDECEC"/>
          </a:solidFill>
          <a:ln w="9525">
            <a:solidFill>
              <a:srgbClr val="E3262E"/>
            </a:solidFill>
            <a:prstDash val="solid"/>
          </a:ln>
        </p:spPr>
      </p:sp>
      <p:sp>
        <p:nvSpPr>
          <p:cNvPr id="14" name="Text 12"/>
          <p:cNvSpPr txBox="1"/>
          <p:nvPr/>
        </p:nvSpPr>
        <p:spPr>
          <a:xfrm>
            <a:off x="7424745" y="1417320"/>
            <a:ext cx="1889699" cy="1005840"/>
          </a:xfrm>
          <a:prstGeom prst="rect">
            <a:avLst/>
          </a:prstGeom>
          <a:noFill/>
          <a:ln/>
        </p:spPr>
        <p:txBody>
          <a:bodyPr wrap="square" lIns="0" tIns="0" rIns="0" bIns="0" rtlCol="0" anchor="ctr"/>
          <a:lstStyle/>
          <a:p>
            <a:pPr algn="ctr" indent="0" marL="0">
              <a:buNone/>
            </a:pPr>
            <a:r>
              <a:rPr lang="en-US" sz="1250" b="1" dirty="0">
                <a:solidFill>
                  <a:srgbClr val="1B1B1F"/>
                </a:solidFill>
              </a:rPr>
              <a:t>Dashboard Data Quarantine</a:t>
            </a:r>
            <a:endParaRPr lang="en-US" sz="1250" dirty="0"/>
          </a:p>
          <a:p>
            <a:pPr algn="ctr" indent="0" marL="0">
              <a:buNone/>
            </a:pPr>
            <a:r>
              <a:rPr lang="en-US" sz="1100" dirty="0">
                <a:solidFill>
                  <a:srgbClr val="4B5563"/>
                </a:solidFill>
              </a:rPr>
              <a:t>Superset · 8 chart</a:t>
            </a:r>
            <a:endParaRPr lang="en-US" sz="1250" dirty="0"/>
          </a:p>
        </p:txBody>
      </p:sp>
      <p:sp>
        <p:nvSpPr>
          <p:cNvPr id="15" name="connector"/>
          <p:cNvSpPr/>
          <p:nvPr/>
        </p:nvSpPr>
        <p:spPr>
          <a:xfrm>
            <a:off x="9396740" y="1920240"/>
            <a:ext cx="219456" cy="0"/>
          </a:xfrm>
          <a:prstGeom prst="line">
            <a:avLst/>
          </a:prstGeom>
          <a:noFill/>
          <a:ln w="15875">
            <a:solidFill>
              <a:srgbClr val="4B5563"/>
            </a:solidFill>
            <a:prstDash val="solid"/>
            <a:tailEnd type="triangle"/>
          </a:ln>
        </p:spPr>
      </p:sp>
      <p:sp>
        <p:nvSpPr>
          <p:cNvPr id="16" name="flow box"/>
          <p:cNvSpPr/>
          <p:nvPr/>
        </p:nvSpPr>
        <p:spPr>
          <a:xfrm>
            <a:off x="9643628" y="1417320"/>
            <a:ext cx="1999427" cy="1005840"/>
          </a:xfrm>
          <a:prstGeom prst="roundRect">
            <a:avLst>
              <a:gd name="adj" fmla="val 5455"/>
            </a:avLst>
          </a:prstGeom>
          <a:solidFill>
            <a:srgbClr val="F3F4F6"/>
          </a:solidFill>
          <a:ln w="9525">
            <a:solidFill>
              <a:srgbClr val="D1D5DB"/>
            </a:solidFill>
            <a:prstDash val="solid"/>
          </a:ln>
        </p:spPr>
      </p:sp>
      <p:sp>
        <p:nvSpPr>
          <p:cNvPr id="17" name="Text 15"/>
          <p:cNvSpPr txBox="1"/>
          <p:nvPr/>
        </p:nvSpPr>
        <p:spPr>
          <a:xfrm>
            <a:off x="9698492" y="1417320"/>
            <a:ext cx="1889699" cy="1005840"/>
          </a:xfrm>
          <a:prstGeom prst="rect">
            <a:avLst/>
          </a:prstGeom>
          <a:noFill/>
          <a:ln/>
        </p:spPr>
        <p:txBody>
          <a:bodyPr wrap="square" lIns="0" tIns="0" rIns="0" bIns="0" rtlCol="0" anchor="ctr"/>
          <a:lstStyle/>
          <a:p>
            <a:pPr algn="ctr" indent="0" marL="0">
              <a:buNone/>
            </a:pPr>
            <a:r>
              <a:rPr lang="en-US" sz="1250" b="1" dirty="0">
                <a:solidFill>
                  <a:srgbClr val="1B1B1F"/>
                </a:solidFill>
              </a:rPr>
              <a:t>Perbaiki di sumber</a:t>
            </a:r>
            <a:endParaRPr lang="en-US" sz="1250" dirty="0"/>
          </a:p>
          <a:p>
            <a:pPr algn="ctr" indent="0" marL="0">
              <a:buNone/>
            </a:pPr>
            <a:r>
              <a:rPr lang="en-US" sz="1100" dirty="0">
                <a:solidFill>
                  <a:srgbClr val="4B5563"/>
                </a:solidFill>
              </a:rPr>
              <a:t>run berikutnya memuat ulang otomatis</a:t>
            </a:r>
            <a:endParaRPr lang="en-US" sz="1250" dirty="0"/>
          </a:p>
        </p:txBody>
      </p:sp>
      <p:sp>
        <p:nvSpPr>
          <p:cNvPr id="18" name="Text 16"/>
          <p:cNvSpPr txBox="1"/>
          <p:nvPr/>
        </p:nvSpPr>
        <p:spPr>
          <a:xfrm>
            <a:off x="548640" y="2697480"/>
            <a:ext cx="64922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SUPERSET · DATA QUARANTINE (DATA ASLI: 0 RECORD DITOLAK)</a:t>
            </a:r>
            <a:endParaRPr lang="en-US" sz="1100" dirty="0"/>
          </a:p>
        </p:txBody>
      </p:sp>
      <p:sp>
        <p:nvSpPr>
          <p:cNvPr id="19" name="image frame"/>
          <p:cNvSpPr/>
          <p:nvPr/>
        </p:nvSpPr>
        <p:spPr>
          <a:xfrm>
            <a:off x="521208" y="2962656"/>
            <a:ext cx="6547104" cy="1185596"/>
          </a:xfrm>
          <a:prstGeom prst="rect">
            <a:avLst/>
          </a:prstGeom>
          <a:solidFill>
            <a:srgbClr val="FFFFFF"/>
          </a:solidFill>
          <a:ln w="9525">
            <a:solidFill>
              <a:srgbClr val="D1D5DB"/>
            </a:solidFill>
            <a:prstDash val="solid"/>
          </a:ln>
        </p:spPr>
      </p:sp>
      <p:pic>
        <p:nvPicPr>
          <p:cNvPr id="20" name="quarantine_top.png" descr="C:\Users\CODE.ID\AppData\Local\Temp\claude\c--pribadi-technical-test-massive-music-massive-music-elt\52e738a4-6aae-4658-ba81-31638200b1b2\scratchpad\deck\crops\quarantine_top.png">    </p:cNvPr>
          <p:cNvPicPr>
            <a:picLocks noChangeAspect="1"/>
          </p:cNvPicPr>
          <p:nvPr/>
        </p:nvPicPr>
        <p:blipFill>
          <a:blip r:embed="rId1"/>
          <a:stretch>
            <a:fillRect/>
          </a:stretch>
        </p:blipFill>
        <p:spPr>
          <a:xfrm>
            <a:off x="548640" y="2990088"/>
            <a:ext cx="6492240" cy="1130732"/>
          </a:xfrm>
          <a:prstGeom prst="rect">
            <a:avLst/>
          </a:prstGeom>
        </p:spPr>
      </p:pic>
      <p:sp>
        <p:nvSpPr>
          <p:cNvPr id="21" name="Text 18"/>
          <p:cNvSpPr txBox="1"/>
          <p:nvPr/>
        </p:nvSpPr>
        <p:spPr>
          <a:xfrm>
            <a:off x="548640" y="4343400"/>
            <a:ext cx="64922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EMAIL · UJI DENGAN 4 BARIS SHEET CACAT</a:t>
            </a:r>
            <a:endParaRPr lang="en-US" sz="1100" dirty="0"/>
          </a:p>
        </p:txBody>
      </p:sp>
      <p:sp>
        <p:nvSpPr>
          <p:cNvPr id="22" name="image frame"/>
          <p:cNvSpPr/>
          <p:nvPr/>
        </p:nvSpPr>
        <p:spPr>
          <a:xfrm>
            <a:off x="521208" y="4608576"/>
            <a:ext cx="2814669" cy="1700784"/>
          </a:xfrm>
          <a:prstGeom prst="rect">
            <a:avLst/>
          </a:prstGeom>
          <a:solidFill>
            <a:srgbClr val="FFFFFF"/>
          </a:solidFill>
          <a:ln w="9525">
            <a:solidFill>
              <a:srgbClr val="D1D5DB"/>
            </a:solidFill>
            <a:prstDash val="solid"/>
          </a:ln>
        </p:spPr>
      </p:sp>
      <p:pic>
        <p:nvPicPr>
          <p:cNvPr id="23" name="email_quarantine.png" descr="C:\Users\CODE.ID\AppData\Local\Temp\claude\c--pribadi-technical-test-massive-music-massive-music-elt\52e738a4-6aae-4658-ba81-31638200b1b2\scratchpad\deck\shots\email_quarantine.png">    </p:cNvPr>
          <p:cNvPicPr>
            <a:picLocks noChangeAspect="1"/>
          </p:cNvPicPr>
          <p:nvPr/>
        </p:nvPicPr>
        <p:blipFill>
          <a:blip r:embed="rId2"/>
          <a:stretch>
            <a:fillRect/>
          </a:stretch>
        </p:blipFill>
        <p:spPr>
          <a:xfrm>
            <a:off x="548640" y="4636008"/>
            <a:ext cx="2759805" cy="1645920"/>
          </a:xfrm>
          <a:prstGeom prst="rect">
            <a:avLst/>
          </a:prstGeom>
        </p:spPr>
      </p:pic>
      <p:sp>
        <p:nvSpPr>
          <p:cNvPr id="24" name="Text 20"/>
          <p:cNvSpPr txBox="1"/>
          <p:nvPr/>
        </p:nvSpPr>
        <p:spPr>
          <a:xfrm>
            <a:off x="3566160" y="4636008"/>
            <a:ext cx="3474720" cy="1600200"/>
          </a:xfrm>
          <a:prstGeom prst="rect">
            <a:avLst/>
          </a:prstGeom>
          <a:noFill/>
          <a:ln/>
        </p:spPr>
        <p:txBody>
          <a:bodyPr wrap="square" lIns="0" tIns="0" rIns="0" bIns="0" rtlCol="0" anchor="t"/>
          <a:lstStyle/>
          <a:p>
            <a:pPr indent="0" marL="0">
              <a:buNone/>
            </a:pPr>
            <a:r>
              <a:rPr lang="en-US" sz="1200" b="1" dirty="0">
                <a:solidFill>
                  <a:schemeClr val="tx1"/>
                </a:solidFill>
              </a:rPr>
              <a:t>Baris uji: </a:t>
            </a:r>
            <a:pPr indent="0" marL="0">
              <a:buNone/>
            </a:pPr>
            <a:r>
              <a:rPr lang="en-US" sz="1200" dirty="0">
                <a:solidFill>
                  <a:schemeClr val="tx1"/>
                </a:solidFill>
              </a:rPr>
              <a:t>kode ganda (2197), kode bukan angka (“1380 9”), tanpa kode, tanpa judul → 4 record karantina + 1 email; baris valid tetap dimuat.</a:t>
            </a:r>
            <a:endParaRPr lang="en-US" sz="1200" dirty="0"/>
          </a:p>
        </p:txBody>
      </p:sp>
      <p:sp>
        <p:nvSpPr>
          <p:cNvPr id="25" name="quarantine facts"/>
          <p:cNvSpPr/>
          <p:nvPr/>
        </p:nvSpPr>
        <p:spPr>
          <a:xfrm>
            <a:off x="7360920" y="2697480"/>
            <a:ext cx="4282135" cy="3566160"/>
          </a:xfrm>
          <a:prstGeom prst="roundRect">
            <a:avLst>
              <a:gd name="adj" fmla="val 2051"/>
            </a:avLst>
          </a:prstGeom>
          <a:solidFill>
            <a:schemeClr val="bg2"/>
          </a:solidFill>
          <a:ln/>
        </p:spPr>
      </p:sp>
      <p:sp>
        <p:nvSpPr>
          <p:cNvPr id="26" name="Text 22"/>
          <p:cNvSpPr txBox="1"/>
          <p:nvPr/>
        </p:nvSpPr>
        <p:spPr>
          <a:xfrm>
            <a:off x="7562088" y="2834640"/>
            <a:ext cx="391637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CARA KERJA</a:t>
            </a:r>
            <a:endParaRPr lang="en-US" sz="1100" dirty="0"/>
          </a:p>
        </p:txBody>
      </p:sp>
      <p:sp>
        <p:nvSpPr>
          <p:cNvPr id="27" name="Text 23"/>
          <p:cNvSpPr txBox="1"/>
          <p:nvPr/>
        </p:nvSpPr>
        <p:spPr>
          <a:xfrm>
            <a:off x="7562088" y="3127248"/>
            <a:ext cx="3879799" cy="3063240"/>
          </a:xfrm>
          <a:prstGeom prst="rect">
            <a:avLst/>
          </a:prstGeom>
          <a:noFill/>
          <a:ln/>
        </p:spPr>
        <p:txBody>
          <a:bodyPr wrap="square" lIns="0" tIns="0" rIns="0" bIns="0" rtlCol="0" anchor="t"/>
          <a:lstStyle/>
          <a:p>
            <a:pPr marL="177800" indent="-177800">
              <a:spcAft>
                <a:spcPts val="700"/>
              </a:spcAft>
              <a:buSzPct val="100000"/>
              <a:buChar char="•"/>
            </a:pPr>
            <a:r>
              <a:rPr lang="en-US" sz="1200" b="1" dirty="0">
                <a:solidFill>
                  <a:schemeClr val="tx1"/>
                </a:solidFill>
              </a:rPr>
              <a:t>Tidak hilang: </a:t>
            </a:r>
            <a:pPr indent="0" marL="0">
              <a:buNone/>
            </a:pPr>
            <a:r>
              <a:rPr lang="en-US" sz="1200" dirty="0">
                <a:solidFill>
                  <a:schemeClr val="tx1"/>
                </a:solidFill>
              </a:rPr>
              <a:t>record ditolak disimpan utuh sebagai JSON, tidak dibuang diam-diam dan tidak masuk clean / marts</a:t>
            </a:r>
            <a:endParaRPr lang="en-US" sz="1200" dirty="0"/>
          </a:p>
          <a:p>
            <a:pPr marL="177800" indent="-177800">
              <a:spcAft>
                <a:spcPts val="700"/>
              </a:spcAft>
              <a:buSzPct val="100000"/>
              <a:buChar char="•"/>
            </a:pPr>
            <a:r>
              <a:rPr lang="en-US" sz="1200" b="1" dirty="0">
                <a:solidFill>
                  <a:schemeClr val="tx1"/>
                </a:solidFill>
              </a:rPr>
              <a:t>Idempoten: </a:t>
            </a:r>
            <a:pPr indent="0" marL="0">
              <a:buNone/>
            </a:pPr>
            <a:r>
              <a:rPr lang="en-US" sz="1200" dirty="0">
                <a:solidFill>
                  <a:schemeClr val="tx1"/>
                </a:solidFill>
              </a:rPr>
              <a:t>ReplacingMergeTree dengan kunci (batch_id, source, entity, record_key, reject_reason) — retry tidak menduplikasi</a:t>
            </a:r>
            <a:endParaRPr lang="en-US" sz="1200" dirty="0"/>
          </a:p>
          <a:p>
            <a:pPr marL="177800" indent="-177800">
              <a:spcAft>
                <a:spcPts val="700"/>
              </a:spcAft>
              <a:buSzPct val="100000"/>
              <a:buChar char="•"/>
            </a:pPr>
            <a:r>
              <a:rPr lang="en-US" sz="1200" b="1" dirty="0">
                <a:solidFill>
                  <a:schemeClr val="tx1"/>
                </a:solidFill>
              </a:rPr>
              <a:t>Baru vs berulang: </a:t>
            </a:r>
            <a:pPr indent="0" marL="0">
              <a:buNone/>
            </a:pPr>
            <a:r>
              <a:rPr lang="en-US" sz="1200" dirty="0">
                <a:solidFill>
                  <a:schemeClr val="tx1"/>
                </a:solidFill>
              </a:rPr>
              <a:t>email membandingkan dengan batch sebelumnya</a:t>
            </a:r>
            <a:endParaRPr lang="en-US" sz="1200" dirty="0"/>
          </a:p>
          <a:p>
            <a:pPr marL="177800" indent="-177800">
              <a:spcAft>
                <a:spcPts val="700"/>
              </a:spcAft>
              <a:buSzPct val="100000"/>
              <a:buChar char="•"/>
            </a:pPr>
            <a:r>
              <a:rPr lang="en-US" sz="1200" b="1" dirty="0">
                <a:solidFill>
                  <a:schemeClr val="tx1"/>
                </a:solidFill>
              </a:rPr>
              <a:t>Severity: </a:t>
            </a:r>
            <a:pPr indent="0" marL="0">
              <a:buNone/>
            </a:pPr>
            <a:r>
              <a:rPr lang="en-US" sz="1200" dirty="0">
                <a:solidFill>
                  <a:schemeClr val="tx1"/>
                </a:solidFill>
              </a:rPr>
              <a:t>warn untuk baris cacat; sheet rusak (kolom hilang, &gt; 20% lagu hilang) → task gagal + email</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9 · SISTEM KITA · LOAD KE CLICKHOUSE</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Load dengan metode UPSERT: ReplacingMergeTree</a:t>
            </a:r>
            <a:endParaRPr lang="en-US" sz="3000" dirty="0"/>
          </a:p>
        </p:txBody>
      </p:sp>
      <p:sp>
        <p:nvSpPr>
          <p:cNvPr id="4" name="Text 2"/>
          <p:cNvSpPr txBox="1"/>
          <p:nvPr/>
        </p:nvSpPr>
        <p:spPr>
          <a:xfrm>
            <a:off x="548640" y="1417320"/>
            <a:ext cx="56692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CARA KERJA (ILUSTRASI · clean.spotify_searches)</a:t>
            </a:r>
            <a:endParaRPr lang="en-US" sz="1100" dirty="0"/>
          </a:p>
        </p:txBody>
      </p:sp>
      <p:sp>
        <p:nvSpPr>
          <p:cNvPr id="5" name="flow box"/>
          <p:cNvSpPr/>
          <p:nvPr/>
        </p:nvSpPr>
        <p:spPr>
          <a:xfrm>
            <a:off x="548640" y="1764792"/>
            <a:ext cx="3246120" cy="566928"/>
          </a:xfrm>
          <a:prstGeom prst="roundRect">
            <a:avLst>
              <a:gd name="adj" fmla="val 9677"/>
            </a:avLst>
          </a:prstGeom>
          <a:solidFill>
            <a:srgbClr val="F3F4F6"/>
          </a:solidFill>
          <a:ln w="9525">
            <a:solidFill>
              <a:srgbClr val="D1D5DB"/>
            </a:solidFill>
            <a:prstDash val="solid"/>
          </a:ln>
        </p:spPr>
      </p:sp>
      <p:sp>
        <p:nvSpPr>
          <p:cNvPr id="6" name="Text 4"/>
          <p:cNvSpPr txBox="1"/>
          <p:nvPr/>
        </p:nvSpPr>
        <p:spPr>
          <a:xfrm>
            <a:off x="694944" y="1764792"/>
            <a:ext cx="2953512" cy="566928"/>
          </a:xfrm>
          <a:prstGeom prst="rect">
            <a:avLst/>
          </a:prstGeom>
          <a:noFill/>
          <a:ln/>
        </p:spPr>
        <p:txBody>
          <a:bodyPr wrap="square" lIns="0" tIns="0" rIns="0" bIns="0" rtlCol="0" anchor="ctr"/>
          <a:lstStyle/>
          <a:p>
            <a:pPr algn="l" indent="0" marL="0">
              <a:buNone/>
            </a:pPr>
            <a:r>
              <a:rPr lang="en-US" sz="1200" b="1" dirty="0">
                <a:solidFill>
                  <a:srgbClr val="1B1B1F"/>
                </a:solidFill>
              </a:rPr>
              <a:t>INSERT #1 · song_code 2197</a:t>
            </a:r>
            <a:endParaRPr lang="en-US" sz="1200" dirty="0"/>
          </a:p>
          <a:p>
            <a:pPr algn="l" indent="0" marL="0">
              <a:buNone/>
            </a:pPr>
            <a:r>
              <a:rPr lang="en-US" sz="1100" dirty="0">
                <a:solidFill>
                  <a:srgbClr val="4B5563"/>
                </a:solidFill>
              </a:rPr>
              <a:t>hit_count 12 · updated_at 15/10 08:15</a:t>
            </a:r>
            <a:endParaRPr lang="en-US" sz="1200" dirty="0"/>
          </a:p>
        </p:txBody>
      </p:sp>
      <p:sp>
        <p:nvSpPr>
          <p:cNvPr id="7" name="flow box"/>
          <p:cNvSpPr/>
          <p:nvPr/>
        </p:nvSpPr>
        <p:spPr>
          <a:xfrm>
            <a:off x="548640" y="2478024"/>
            <a:ext cx="3246120" cy="566928"/>
          </a:xfrm>
          <a:prstGeom prst="roundRect">
            <a:avLst>
              <a:gd name="adj" fmla="val 9677"/>
            </a:avLst>
          </a:prstGeom>
          <a:solidFill>
            <a:srgbClr val="F3F4F6"/>
          </a:solidFill>
          <a:ln w="9525">
            <a:solidFill>
              <a:srgbClr val="D1D5DB"/>
            </a:solidFill>
            <a:prstDash val="solid"/>
          </a:ln>
        </p:spPr>
      </p:sp>
      <p:sp>
        <p:nvSpPr>
          <p:cNvPr id="8" name="Text 6"/>
          <p:cNvSpPr txBox="1"/>
          <p:nvPr/>
        </p:nvSpPr>
        <p:spPr>
          <a:xfrm>
            <a:off x="694944" y="2478024"/>
            <a:ext cx="2953512" cy="566928"/>
          </a:xfrm>
          <a:prstGeom prst="rect">
            <a:avLst/>
          </a:prstGeom>
          <a:noFill/>
          <a:ln/>
        </p:spPr>
        <p:txBody>
          <a:bodyPr wrap="square" lIns="0" tIns="0" rIns="0" bIns="0" rtlCol="0" anchor="ctr"/>
          <a:lstStyle/>
          <a:p>
            <a:pPr algn="l" indent="0" marL="0">
              <a:buNone/>
            </a:pPr>
            <a:r>
              <a:rPr lang="en-US" sz="1200" b="1" dirty="0">
                <a:solidFill>
                  <a:srgbClr val="1B1B1F"/>
                </a:solidFill>
              </a:rPr>
              <a:t>INSERT #2 · song_code 2197</a:t>
            </a:r>
            <a:endParaRPr lang="en-US" sz="1200" dirty="0"/>
          </a:p>
          <a:p>
            <a:pPr algn="l" indent="0" marL="0">
              <a:buNone/>
            </a:pPr>
            <a:r>
              <a:rPr lang="en-US" sz="1100" dirty="0">
                <a:solidFill>
                  <a:srgbClr val="4B5563"/>
                </a:solidFill>
              </a:rPr>
              <a:t>hit_count 15 · updated_at 22/10 08:15</a:t>
            </a:r>
            <a:endParaRPr lang="en-US" sz="1200" dirty="0"/>
          </a:p>
        </p:txBody>
      </p:sp>
      <p:sp>
        <p:nvSpPr>
          <p:cNvPr id="9" name="flow box"/>
          <p:cNvSpPr/>
          <p:nvPr/>
        </p:nvSpPr>
        <p:spPr>
          <a:xfrm>
            <a:off x="4297680" y="1993392"/>
            <a:ext cx="1920240" cy="822960"/>
          </a:xfrm>
          <a:prstGeom prst="roundRect">
            <a:avLst>
              <a:gd name="adj" fmla="val 6667"/>
            </a:avLst>
          </a:prstGeom>
          <a:solidFill>
            <a:srgbClr val="FDECEC"/>
          </a:solidFill>
          <a:ln w="9525">
            <a:solidFill>
              <a:srgbClr val="E3262E"/>
            </a:solidFill>
            <a:prstDash val="solid"/>
          </a:ln>
        </p:spPr>
      </p:sp>
      <p:sp>
        <p:nvSpPr>
          <p:cNvPr id="10" name="Text 8"/>
          <p:cNvSpPr txBox="1"/>
          <p:nvPr/>
        </p:nvSpPr>
        <p:spPr>
          <a:xfrm>
            <a:off x="4352544" y="1993392"/>
            <a:ext cx="1810512" cy="822960"/>
          </a:xfrm>
          <a:prstGeom prst="rect">
            <a:avLst/>
          </a:prstGeom>
          <a:noFill/>
          <a:ln/>
        </p:spPr>
        <p:txBody>
          <a:bodyPr wrap="square" lIns="0" tIns="0" rIns="0" bIns="0" rtlCol="0" anchor="ctr"/>
          <a:lstStyle/>
          <a:p>
            <a:pPr algn="ctr" indent="0" marL="0">
              <a:buNone/>
            </a:pPr>
            <a:r>
              <a:rPr lang="en-US" sz="1250" b="1" dirty="0">
                <a:solidFill>
                  <a:srgbClr val="1B1B1F"/>
                </a:solidFill>
              </a:rPr>
              <a:t>1 baris: hit_count 15</a:t>
            </a:r>
            <a:endParaRPr lang="en-US" sz="1250" dirty="0"/>
          </a:p>
          <a:p>
            <a:pPr algn="ctr" indent="0" marL="0">
              <a:buNone/>
            </a:pPr>
            <a:r>
              <a:rPr lang="en-US" sz="1100" dirty="0">
                <a:solidFill>
                  <a:srgbClr val="4B5563"/>
                </a:solidFill>
              </a:rPr>
              <a:t>merge di background / FINAL</a:t>
            </a:r>
            <a:endParaRPr lang="en-US" sz="1250" dirty="0"/>
          </a:p>
        </p:txBody>
      </p:sp>
      <p:sp>
        <p:nvSpPr>
          <p:cNvPr id="11" name="connector"/>
          <p:cNvSpPr/>
          <p:nvPr/>
        </p:nvSpPr>
        <p:spPr>
          <a:xfrm>
            <a:off x="3794760" y="2048256"/>
            <a:ext cx="246888" cy="0"/>
          </a:xfrm>
          <a:prstGeom prst="line">
            <a:avLst/>
          </a:prstGeom>
          <a:noFill/>
          <a:ln w="15875">
            <a:solidFill>
              <a:srgbClr val="4B5563"/>
            </a:solidFill>
            <a:prstDash val="solid"/>
          </a:ln>
        </p:spPr>
      </p:sp>
      <p:sp>
        <p:nvSpPr>
          <p:cNvPr id="12" name="connector"/>
          <p:cNvSpPr/>
          <p:nvPr/>
        </p:nvSpPr>
        <p:spPr>
          <a:xfrm>
            <a:off x="4041648" y="2048256"/>
            <a:ext cx="0" cy="356616"/>
          </a:xfrm>
          <a:prstGeom prst="line">
            <a:avLst/>
          </a:prstGeom>
          <a:noFill/>
          <a:ln w="15875">
            <a:solidFill>
              <a:srgbClr val="4B5563"/>
            </a:solidFill>
            <a:prstDash val="solid"/>
          </a:ln>
        </p:spPr>
      </p:sp>
      <p:sp>
        <p:nvSpPr>
          <p:cNvPr id="13" name="connector"/>
          <p:cNvSpPr/>
          <p:nvPr/>
        </p:nvSpPr>
        <p:spPr>
          <a:xfrm>
            <a:off x="4041648" y="2404872"/>
            <a:ext cx="256032" cy="0"/>
          </a:xfrm>
          <a:prstGeom prst="line">
            <a:avLst/>
          </a:prstGeom>
          <a:noFill/>
          <a:ln w="15875">
            <a:solidFill>
              <a:srgbClr val="4B5563"/>
            </a:solidFill>
            <a:prstDash val="solid"/>
            <a:tailEnd type="triangle"/>
          </a:ln>
        </p:spPr>
      </p:sp>
      <p:sp>
        <p:nvSpPr>
          <p:cNvPr id="14" name="connector"/>
          <p:cNvSpPr/>
          <p:nvPr/>
        </p:nvSpPr>
        <p:spPr>
          <a:xfrm>
            <a:off x="3794760" y="2761488"/>
            <a:ext cx="246888" cy="0"/>
          </a:xfrm>
          <a:prstGeom prst="line">
            <a:avLst/>
          </a:prstGeom>
          <a:noFill/>
          <a:ln w="15875">
            <a:solidFill>
              <a:srgbClr val="4B5563"/>
            </a:solidFill>
            <a:prstDash val="solid"/>
          </a:ln>
        </p:spPr>
      </p:sp>
      <p:sp>
        <p:nvSpPr>
          <p:cNvPr id="15" name="connector"/>
          <p:cNvSpPr/>
          <p:nvPr/>
        </p:nvSpPr>
        <p:spPr>
          <a:xfrm flipV="1">
            <a:off x="4041648" y="2404872"/>
            <a:ext cx="0" cy="356616"/>
          </a:xfrm>
          <a:prstGeom prst="line">
            <a:avLst/>
          </a:prstGeom>
          <a:noFill/>
          <a:ln w="15875">
            <a:solidFill>
              <a:srgbClr val="4B5563"/>
            </a:solidFill>
            <a:prstDash val="solid"/>
          </a:ln>
        </p:spPr>
      </p:sp>
      <p:sp>
        <p:nvSpPr>
          <p:cNvPr id="16" name="code box"/>
          <p:cNvSpPr/>
          <p:nvPr/>
        </p:nvSpPr>
        <p:spPr>
          <a:xfrm>
            <a:off x="548640" y="3291840"/>
            <a:ext cx="5669280" cy="2971800"/>
          </a:xfrm>
          <a:prstGeom prst="roundRect">
            <a:avLst>
              <a:gd name="adj" fmla="val 1846"/>
            </a:avLst>
          </a:prstGeom>
          <a:solidFill>
            <a:srgbClr val="1B1B1F"/>
          </a:solidFill>
          <a:ln/>
        </p:spPr>
      </p:sp>
      <p:sp>
        <p:nvSpPr>
          <p:cNvPr id="17" name="Text 15"/>
          <p:cNvSpPr txBox="1"/>
          <p:nvPr/>
        </p:nvSpPr>
        <p:spPr>
          <a:xfrm>
            <a:off x="777240" y="3438144"/>
            <a:ext cx="52120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DDL (SECTION 5) + CARA MEMBACA</a:t>
            </a:r>
            <a:endParaRPr lang="en-US" sz="1100" dirty="0"/>
          </a:p>
        </p:txBody>
      </p:sp>
      <p:sp>
        <p:nvSpPr>
          <p:cNvPr id="18" name="Text 16"/>
          <p:cNvSpPr txBox="1"/>
          <p:nvPr/>
        </p:nvSpPr>
        <p:spPr>
          <a:xfrm>
            <a:off x="777240" y="3767328"/>
            <a:ext cx="5212080" cy="2386584"/>
          </a:xfrm>
          <a:prstGeom prst="rect">
            <a:avLst/>
          </a:prstGeom>
          <a:noFill/>
          <a:ln/>
        </p:spPr>
        <p:txBody>
          <a:bodyPr wrap="square" lIns="0" tIns="0" rIns="0" bIns="0" rtlCol="0" anchor="t"/>
          <a:lstStyle/>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CREATE TABLE clean.spotify_searches (</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    song_code  UInt32,</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    updated_at DateTime64(3, 'UTC')</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ENGINE = ReplacingMergeTree(updated_at)</a:t>
            </a:r>
            <a:pPr indent="0" marL="0">
              <a:lnSpc>
                <a:spcPct val="105000"/>
              </a:lnSpc>
              <a:buNone/>
            </a:pPr>
            <a:r>
              <a:rPr lang="en-US" sz="1150" dirty="0">
                <a:solidFill>
                  <a:srgbClr val="9CA3AF"/>
                </a:solidFill>
                <a:latin typeface="Consolas" pitchFamily="34" charset="0"/>
                <a:ea typeface="Consolas" pitchFamily="34" charset="-122"/>
                <a:cs typeface="Consolas" pitchFamily="34" charset="-120"/>
              </a:rPr>
              <a:t>  -- terbaru menang</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ORDER BY song_code;                    </a:t>
            </a:r>
            <a:pPr indent="0" marL="0">
              <a:lnSpc>
                <a:spcPct val="105000"/>
              </a:lnSpc>
              <a:buNone/>
            </a:pPr>
            <a:r>
              <a:rPr lang="en-US" sz="1150" dirty="0">
                <a:solidFill>
                  <a:srgbClr val="9CA3AF"/>
                </a:solidFill>
                <a:latin typeface="Consolas" pitchFamily="34" charset="0"/>
                <a:ea typeface="Consolas" pitchFamily="34" charset="-122"/>
                <a:cs typeface="Consolas" pitchFamily="34" charset="-120"/>
              </a:rPr>
              <a:t>  -- kunci upsert</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5E7EB"/>
                </a:solidFill>
                <a:latin typeface="Consolas" pitchFamily="34" charset="0"/>
                <a:ea typeface="Consolas" pitchFamily="34" charset="-122"/>
                <a:cs typeface="Consolas" pitchFamily="34" charset="-120"/>
              </a:rPr>
              <a:t>SELECT * FROM clean.spotify_searches FINAL;</a:t>
            </a:r>
            <a:endParaRPr lang="en-US" sz="1150" dirty="0"/>
          </a:p>
        </p:txBody>
      </p:sp>
      <p:sp>
        <p:nvSpPr>
          <p:cNvPr id="19" name="why not update"/>
          <p:cNvSpPr/>
          <p:nvPr/>
        </p:nvSpPr>
        <p:spPr>
          <a:xfrm>
            <a:off x="6537960" y="1417320"/>
            <a:ext cx="5105095" cy="1325880"/>
          </a:xfrm>
          <a:prstGeom prst="roundRect">
            <a:avLst>
              <a:gd name="adj" fmla="val 5517"/>
            </a:avLst>
          </a:prstGeom>
          <a:solidFill>
            <a:schemeClr val="bg2"/>
          </a:solidFill>
          <a:ln/>
        </p:spPr>
      </p:sp>
      <p:sp>
        <p:nvSpPr>
          <p:cNvPr id="20" name="Text 18"/>
          <p:cNvSpPr txBox="1"/>
          <p:nvPr/>
        </p:nvSpPr>
        <p:spPr>
          <a:xfrm>
            <a:off x="6739128" y="1545336"/>
            <a:ext cx="4702759" cy="274320"/>
          </a:xfrm>
          <a:prstGeom prst="rect">
            <a:avLst/>
          </a:prstGeom>
          <a:noFill/>
          <a:ln/>
        </p:spPr>
        <p:txBody>
          <a:bodyPr wrap="square" lIns="0" tIns="0" rIns="0" bIns="0" rtlCol="0" anchor="t"/>
          <a:lstStyle/>
          <a:p>
            <a:pPr indent="0" marL="0">
              <a:buNone/>
            </a:pPr>
            <a:r>
              <a:rPr lang="en-US" sz="1400" b="1" dirty="0">
                <a:solidFill>
                  <a:schemeClr val="tx1"/>
                </a:solidFill>
              </a:rPr>
              <a:t>Kenapa bukan UPDATE?</a:t>
            </a:r>
            <a:endParaRPr lang="en-US" sz="1400" dirty="0"/>
          </a:p>
        </p:txBody>
      </p:sp>
      <p:sp>
        <p:nvSpPr>
          <p:cNvPr id="21" name="Text 19"/>
          <p:cNvSpPr txBox="1"/>
          <p:nvPr/>
        </p:nvSpPr>
        <p:spPr>
          <a:xfrm>
            <a:off x="6739128" y="1856232"/>
            <a:ext cx="4702759" cy="841248"/>
          </a:xfrm>
          <a:prstGeom prst="rect">
            <a:avLst/>
          </a:prstGeom>
          <a:noFill/>
          <a:ln/>
        </p:spPr>
        <p:txBody>
          <a:bodyPr wrap="square" lIns="0" tIns="0" rIns="0" bIns="0" rtlCol="0" anchor="t"/>
          <a:lstStyle/>
          <a:p>
            <a:pPr indent="0" marL="0">
              <a:buNone/>
            </a:pPr>
            <a:r>
              <a:rPr lang="en-US" sz="1250" dirty="0">
                <a:solidFill>
                  <a:schemeClr val="tx1"/>
                </a:solidFill>
              </a:rPr>
              <a:t>ALTER TABLE … UPDATE di ClickHouse adalah mutation: menulis ulang part data secara asinkron dan mahal. INSERT versi baris yang lebih baru dengan kunci sama = upsert yang cepat, idempoten, dan aman di-retry.</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537960" y="2926080"/>
          <a:ext cx="5105095" cy="914400"/>
        </p:xfrm>
        <a:graphic>
          <a:graphicData uri="http://schemas.openxmlformats.org/drawingml/2006/table">
            <a:tbl>
              <a:tblPr/>
              <a:tblGrid>
                <a:gridCol w="1371600"/>
                <a:gridCol w="3733495"/>
              </a:tblGrid>
              <a:tr h="347472">
                <a:tc>
                  <a:txBody>
                    <a:bodyPr/>
                    <a:lstStyle/>
                    <a:p>
                      <a:pPr indent="0" marL="0">
                        <a:buNone/>
                      </a:pPr>
                      <a:r>
                        <a:rPr lang="en-US" sz="1200" b="1" dirty="0">
                          <a:solidFill>
                            <a:srgbClr val="FFFFFF"/>
                          </a:solidFill>
                        </a:rPr>
                        <a:t>Jenis upsert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Tabel</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960120">
                <a:tc>
                  <a:txBody>
                    <a:bodyPr/>
                    <a:lstStyle/>
                    <a:p>
                      <a:pPr indent="0" marL="0">
                        <a:buNone/>
                      </a:pPr>
                      <a:r>
                        <a:rPr lang="en-US" sz="1200" b="1" dirty="0">
                          <a:solidFill>
                            <a:srgbClr val="1B1B1F"/>
                          </a:solidFill>
                        </a:rPr>
                        <a:t>Status terbaru</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B1B1F"/>
                          </a:solidFill>
                          <a:latin typeface="Consolas" pitchFamily="34" charset="0"/>
                          <a:ea typeface="Consolas" pitchFamily="34" charset="-122"/>
                          <a:cs typeface="Consolas" pitchFamily="34" charset="-120"/>
                        </a:rPr>
                        <a:t>clean.spotify_searches, clean.spotify_search_hits, clean.youtube_searches, clean.youtube_search_hits, ops.pipeline_runs, ops.load_watermarks, dq.quarantine_records</a:t>
                      </a:r>
                      <a:endParaRPr lang="en-US" sz="10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B1B1F"/>
                          </a:solidFill>
                        </a:rPr>
                        <a:t>Upsert + SCD Type 2</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050" dirty="0">
                          <a:solidFill>
                            <a:srgbClr val="1B1B1F"/>
                          </a:solidFill>
                          <a:latin typeface="Consolas" pitchFamily="34" charset="0"/>
                          <a:ea typeface="Consolas" pitchFamily="34" charset="-122"/>
                          <a:cs typeface="Consolas" pitchFamily="34" charset="-120"/>
                        </a:rPr>
                        <a:t>clean.catalog_songs, clean.spotify_tracks, clean.youtube_videos</a:t>
                      </a:r>
                      <a:endParaRPr lang="en-US" sz="105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bl>
          </a:graphicData>
        </a:graphic>
      </p:graphicFrame>
      <p:sp>
        <p:nvSpPr>
          <p:cNvPr id="23" name="stat tile"/>
          <p:cNvSpPr/>
          <p:nvPr/>
        </p:nvSpPr>
        <p:spPr>
          <a:xfrm>
            <a:off x="6537960" y="5120640"/>
            <a:ext cx="2438248" cy="1143000"/>
          </a:xfrm>
          <a:prstGeom prst="roundRect">
            <a:avLst>
              <a:gd name="adj" fmla="val 6400"/>
            </a:avLst>
          </a:prstGeom>
          <a:solidFill>
            <a:schemeClr val="bg2"/>
          </a:solidFill>
          <a:ln/>
        </p:spPr>
      </p:sp>
      <p:sp>
        <p:nvSpPr>
          <p:cNvPr id="24" name="Text 21"/>
          <p:cNvSpPr txBox="1"/>
          <p:nvPr/>
        </p:nvSpPr>
        <p:spPr>
          <a:xfrm>
            <a:off x="6720840" y="5248656"/>
            <a:ext cx="2072488" cy="45720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 baris</a:t>
            </a:r>
            <a:endParaRPr lang="en-US" sz="2400" dirty="0"/>
          </a:p>
        </p:txBody>
      </p:sp>
      <p:sp>
        <p:nvSpPr>
          <p:cNvPr id="25" name="Text 22"/>
          <p:cNvSpPr txBox="1"/>
          <p:nvPr/>
        </p:nvSpPr>
        <p:spPr>
          <a:xfrm>
            <a:off x="6720840" y="5724144"/>
            <a:ext cx="2072488" cy="466344"/>
          </a:xfrm>
          <a:prstGeom prst="rect">
            <a:avLst/>
          </a:prstGeom>
          <a:noFill/>
          <a:ln/>
        </p:spPr>
        <p:txBody>
          <a:bodyPr wrap="square" lIns="0" tIns="0" rIns="0" bIns="0" rtlCol="0" anchor="t"/>
          <a:lstStyle/>
          <a:p>
            <a:pPr indent="0" marL="0">
              <a:buNone/>
            </a:pPr>
            <a:r>
              <a:rPr lang="en-US" sz="1200" dirty="0">
                <a:solidFill>
                  <a:schemeClr val="tx1"/>
                </a:solidFill>
              </a:rPr>
              <a:t>ditulis saat run ulang tanpa perubahan (699 lagu unchanged)</a:t>
            </a:r>
            <a:endParaRPr lang="en-US" sz="1200" dirty="0"/>
          </a:p>
        </p:txBody>
      </p:sp>
      <p:sp>
        <p:nvSpPr>
          <p:cNvPr id="26" name="stat tile"/>
          <p:cNvSpPr/>
          <p:nvPr/>
        </p:nvSpPr>
        <p:spPr>
          <a:xfrm>
            <a:off x="9204808" y="5120640"/>
            <a:ext cx="2438248" cy="1143000"/>
          </a:xfrm>
          <a:prstGeom prst="roundRect">
            <a:avLst>
              <a:gd name="adj" fmla="val 6400"/>
            </a:avLst>
          </a:prstGeom>
          <a:solidFill>
            <a:schemeClr val="bg2"/>
          </a:solidFill>
          <a:ln/>
        </p:spPr>
      </p:sp>
      <p:sp>
        <p:nvSpPr>
          <p:cNvPr id="27" name="Text 24"/>
          <p:cNvSpPr txBox="1"/>
          <p:nvPr/>
        </p:nvSpPr>
        <p:spPr>
          <a:xfrm>
            <a:off x="9387688" y="5248656"/>
            <a:ext cx="2072488" cy="45720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INSERT saja</a:t>
            </a:r>
            <a:endParaRPr lang="en-US" sz="2200" dirty="0"/>
          </a:p>
        </p:txBody>
      </p:sp>
      <p:sp>
        <p:nvSpPr>
          <p:cNvPr id="28" name="Text 25"/>
          <p:cNvSpPr txBox="1"/>
          <p:nvPr/>
        </p:nvSpPr>
        <p:spPr>
          <a:xfrm>
            <a:off x="9387688" y="5724144"/>
            <a:ext cx="2072488" cy="466344"/>
          </a:xfrm>
          <a:prstGeom prst="rect">
            <a:avLst/>
          </a:prstGeom>
          <a:noFill/>
          <a:ln/>
        </p:spPr>
        <p:txBody>
          <a:bodyPr wrap="square" lIns="0" tIns="0" rIns="0" bIns="0" rtlCol="0" anchor="t"/>
          <a:lstStyle/>
          <a:p>
            <a:pPr indent="0" marL="0">
              <a:buNone/>
            </a:pPr>
            <a:r>
              <a:rPr lang="en-US" sz="1200" dirty="0">
                <a:solidFill>
                  <a:schemeClr val="tx1"/>
                </a:solidFill>
              </a:rPr>
              <a:t>tanpa ALTER UPDATE/DELETE: pandas merencanakan baris</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9 · SISTEM KITA · SCD TYPE 2</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SCD Type 2: setiap perubahan data punya histori</a:t>
            </a:r>
            <a:endParaRPr lang="en-US" sz="3000" dirty="0"/>
          </a:p>
        </p:txBody>
      </p:sp>
      <p:sp>
        <p:nvSpPr>
          <p:cNvPr id="4" name="Text 2"/>
          <p:cNvSpPr txBox="1"/>
          <p:nvPr/>
        </p:nvSpPr>
        <p:spPr>
          <a:xfrm>
            <a:off x="548640" y="1417320"/>
            <a:ext cx="57150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KONDISI SAAT LOAD → BARIS YANG DI-INSERT</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5715000" cy="914400"/>
        </p:xfrm>
        <a:graphic>
          <a:graphicData uri="http://schemas.openxmlformats.org/drawingml/2006/table">
            <a:tbl>
              <a:tblPr/>
              <a:tblGrid>
                <a:gridCol w="1874520"/>
                <a:gridCol w="3840480"/>
              </a:tblGrid>
              <a:tr h="457200">
                <a:tc>
                  <a:txBody>
                    <a:bodyPr/>
                    <a:lstStyle/>
                    <a:p>
                      <a:pPr indent="0" marL="0">
                        <a:buNone/>
                      </a:pPr>
                      <a:r>
                        <a:rPr lang="en-US" sz="1200" b="1" dirty="0">
                          <a:solidFill>
                            <a:srgbClr val="FFFFFF"/>
                          </a:solidFill>
                        </a:rPr>
                        <a:t>Kondisi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200" b="1" dirty="0">
                          <a:solidFill>
                            <a:srgbClr val="FFFFFF"/>
                          </a:solidFill>
                        </a:rPr>
                        <a:t>Aksi (lewat upsert)</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457200">
                <a:tc>
                  <a:txBody>
                    <a:bodyPr/>
                    <a:lstStyle/>
                    <a:p>
                      <a:pPr indent="0" marL="0">
                        <a:buNone/>
                      </a:pPr>
                      <a:r>
                        <a:rPr lang="en-US" sz="1200" b="1" dirty="0">
                          <a:solidFill>
                            <a:srgbClr val="1B1B1F"/>
                          </a:solidFill>
                        </a:rPr>
                        <a:t>Key baru</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INSERT versi 1 (atau versi terakhir + 1 bila key yang pernah dihapus kembali)</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B1B1F"/>
                          </a:solidFill>
                        </a:rPr>
                        <a:t>Atribut tracked berubah</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hash SHA-256 berbeda → versi lama ditutup (valid_to = now, is_current = 0) + versi n+1 dibuka</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57200">
                <a:tc>
                  <a:txBody>
                    <a:bodyPr/>
                    <a:lstStyle/>
                    <a:p>
                      <a:pPr indent="0" marL="0">
                        <a:buNone/>
                      </a:pPr>
                      <a:r>
                        <a:rPr lang="en-US" sz="1200" b="1" dirty="0">
                          <a:solidFill>
                            <a:srgbClr val="1B1B1F"/>
                          </a:solidFill>
                        </a:rPr>
                        <a:t>Hanya atribut type-1 berubah</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versi aktif ditimpa, tanpa versi baru</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B1B1F"/>
                          </a:solidFill>
                        </a:rPr>
                        <a:t>Key hilang dari sumber</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200" dirty="0">
                          <a:solidFill>
                            <a:srgbClr val="1B1B1F"/>
                          </a:solidFill>
                        </a:rPr>
                        <a:t>versi aktif ditutup dengan is_deleted = 1 (video dihapus / private juga)</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57200">
                <a:tc>
                  <a:txBody>
                    <a:bodyPr/>
                    <a:lstStyle/>
                    <a:p>
                      <a:pPr indent="0" marL="0">
                        <a:buNone/>
                      </a:pPr>
                      <a:r>
                        <a:rPr lang="en-US" sz="1200" b="1" dirty="0">
                          <a:solidFill>
                            <a:srgbClr val="1B1B1F"/>
                          </a:solidFill>
                        </a:rPr>
                        <a:t>Tidak berubah</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F"/>
                          </a:solidFill>
                        </a:rPr>
                        <a:t>tidak ada yang ditulis — incremental dengan sendirinya</a:t>
                      </a:r>
                      <a:endParaRPr lang="en-US" sz="12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cd guards"/>
          <p:cNvSpPr/>
          <p:nvPr/>
        </p:nvSpPr>
        <p:spPr>
          <a:xfrm>
            <a:off x="548640" y="4617720"/>
            <a:ext cx="5715000" cy="1645920"/>
          </a:xfrm>
          <a:prstGeom prst="roundRect">
            <a:avLst>
              <a:gd name="adj" fmla="val 4444"/>
            </a:avLst>
          </a:prstGeom>
          <a:solidFill>
            <a:srgbClr val="FDECEC"/>
          </a:solidFill>
          <a:ln/>
        </p:spPr>
      </p:sp>
      <p:sp>
        <p:nvSpPr>
          <p:cNvPr id="7" name="Text 4"/>
          <p:cNvSpPr txBox="1"/>
          <p:nvPr/>
        </p:nvSpPr>
        <p:spPr>
          <a:xfrm>
            <a:off x="749808" y="4727448"/>
            <a:ext cx="53492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PENGAMAN</a:t>
            </a:r>
            <a:endParaRPr lang="en-US" sz="1100" dirty="0"/>
          </a:p>
        </p:txBody>
      </p:sp>
      <p:sp>
        <p:nvSpPr>
          <p:cNvPr id="8" name="Text 5"/>
          <p:cNvSpPr txBox="1"/>
          <p:nvPr/>
        </p:nvSpPr>
        <p:spPr>
          <a:xfrm>
            <a:off x="749808" y="5001768"/>
            <a:ext cx="5312664" cy="118872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guard: tolak load bila &gt; 20% lagu akan ditutup sekaligus</a:t>
            </a:r>
            <a:endParaRPr lang="en-US" sz="1200" dirty="0"/>
          </a:p>
          <a:p>
            <a:pPr marL="177800" indent="-177800">
              <a:spcAft>
                <a:spcPts val="400"/>
              </a:spcAft>
              <a:buSzPct val="100000"/>
              <a:buChar char="•"/>
            </a:pPr>
            <a:r>
              <a:rPr lang="en-US" sz="1200" dirty="0">
                <a:solidFill>
                  <a:schemeClr val="tx1"/>
                </a:solidFill>
              </a:rPr>
              <a:t>dbt assert_scd2_integrity: ≤ 1 versi aktif per key, valid_to ≥ valid_from, versi 1..n tanpa celah</a:t>
            </a:r>
            <a:endParaRPr lang="en-US" sz="1200" dirty="0"/>
          </a:p>
          <a:p>
            <a:pPr marL="177800" indent="-177800">
              <a:spcAft>
                <a:spcPts val="400"/>
              </a:spcAft>
              <a:buSzPct val="100000"/>
              <a:buChar char="•"/>
            </a:pPr>
            <a:r>
              <a:rPr lang="en-US" sz="1200" dirty="0">
                <a:solidFill>
                  <a:schemeClr val="tx1"/>
                </a:solidFill>
              </a:rPr>
              <a:t>integration test di ClickHouse asli: insert → ulang → edit → hapus → kembali</a:t>
            </a:r>
            <a:endParaRPr lang="en-US" sz="1200" dirty="0"/>
          </a:p>
        </p:txBody>
      </p:sp>
      <p:sp>
        <p:nvSpPr>
          <p:cNvPr id="9" name="Text 6"/>
          <p:cNvSpPr txBox="1"/>
          <p:nvPr/>
        </p:nvSpPr>
        <p:spPr>
          <a:xfrm>
            <a:off x="6583680" y="1417320"/>
            <a:ext cx="505937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ILUSTRASI · ARTIS ORIGINAL DILENGKAPI DI KATALOG</a:t>
            </a:r>
            <a:endParaRPr lang="en-US" sz="110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583680" y="1719072"/>
          <a:ext cx="5059375" cy="914400"/>
        </p:xfrm>
        <a:graphic>
          <a:graphicData uri="http://schemas.openxmlformats.org/drawingml/2006/table">
            <a:tbl>
              <a:tblPr/>
              <a:tblGrid>
                <a:gridCol w="822960"/>
                <a:gridCol w="384048"/>
                <a:gridCol w="1261872"/>
                <a:gridCol w="941832"/>
                <a:gridCol w="941832"/>
                <a:gridCol w="706831"/>
              </a:tblGrid>
              <a:tr h="329184">
                <a:tc>
                  <a:txBody>
                    <a:bodyPr/>
                    <a:lstStyle/>
                    <a:p>
                      <a:pPr indent="0" marL="0">
                        <a:buNone/>
                      </a:pPr>
                      <a:r>
                        <a:rPr lang="en-US" sz="1100" b="1" dirty="0">
                          <a:solidFill>
                            <a:srgbClr val="FFFFFF"/>
                          </a:solidFill>
                        </a:rPr>
                        <a:t>song_code</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ver</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original_artist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valid_from</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valid_to</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aktif</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329184">
                <a:tc>
                  <a:txBody>
                    <a:bodyPr/>
                    <a:lstStyle/>
                    <a:p>
                      <a:pPr indent="0" marL="0">
                        <a:buNone/>
                      </a:pPr>
                      <a:r>
                        <a:rPr lang="en-US" sz="1100" dirty="0">
                          <a:solidFill>
                            <a:srgbClr val="1B1B1F"/>
                          </a:solidFill>
                        </a:rPr>
                        <a:t>2197</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rPr>
                        <a:t>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i="1" dirty="0">
                          <a:solidFill>
                            <a:srgbClr val="6B7280"/>
                          </a:solidFill>
                        </a:rPr>
                        <a:t>NULL</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rPr>
                        <a:t>15-10-2026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rPr>
                        <a:t>20-10-2026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rPr>
                        <a:t>0</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F"/>
                          </a:solidFill>
                        </a:rPr>
                        <a:t>2197</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dirty="0">
                          <a:solidFill>
                            <a:srgbClr val="1B1B1F"/>
                          </a:solidFill>
                        </a:rPr>
                        <a:t>2</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b="1" dirty="0">
                          <a:solidFill>
                            <a:srgbClr val="1B1B1F"/>
                          </a:solidFill>
                        </a:rPr>
                        <a:t>KOES PLUS</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dirty="0">
                          <a:solidFill>
                            <a:srgbClr val="1B1B1F"/>
                          </a:solidFill>
                        </a:rPr>
                        <a:t>20-10-2026</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dirty="0">
                          <a:solidFill>
                            <a:srgbClr val="1B1B1F"/>
                          </a:solidFill>
                        </a:rPr>
                        <a:t>31-12-2299</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b="1" dirty="0">
                          <a:solidFill>
                            <a:srgbClr val="15803D"/>
                          </a:solidFill>
                        </a:rPr>
                        <a:t>1</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bl>
          </a:graphicData>
        </a:graphic>
      </p:graphicFrame>
      <p:sp>
        <p:nvSpPr>
          <p:cNvPr id="11" name="Text 7"/>
          <p:cNvSpPr txBox="1"/>
          <p:nvPr/>
        </p:nvSpPr>
        <p:spPr>
          <a:xfrm>
            <a:off x="6583680" y="2788920"/>
            <a:ext cx="5059375" cy="274320"/>
          </a:xfrm>
          <a:prstGeom prst="rect">
            <a:avLst/>
          </a:prstGeom>
          <a:noFill/>
          <a:ln/>
        </p:spPr>
        <p:txBody>
          <a:bodyPr wrap="square" lIns="0" tIns="0" rIns="0" bIns="0" rtlCol="0" anchor="t"/>
          <a:lstStyle/>
          <a:p>
            <a:pPr indent="0" marL="0">
              <a:buNone/>
            </a:pPr>
            <a:r>
              <a:rPr lang="en-US" sz="1100" i="1" dirty="0">
                <a:solidFill>
                  <a:schemeClr val="accent2"/>
                </a:solidFill>
              </a:rPr>
              <a:t>Versi baru juga memicu pencarian ulang ke API (valid_from &gt; pencarian terakhir).</a:t>
            </a:r>
            <a:endParaRPr lang="en-US" sz="1100" dirty="0"/>
          </a:p>
        </p:txBody>
      </p:sp>
      <p:sp>
        <p:nvSpPr>
          <p:cNvPr id="12" name="Text 8"/>
          <p:cNvSpPr txBox="1"/>
          <p:nvPr/>
        </p:nvSpPr>
        <p:spPr>
          <a:xfrm>
            <a:off x="6583680" y="3154680"/>
            <a:ext cx="5059375"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KOLOM TRACKED VS TYPE-1</a:t>
            </a:r>
            <a:endParaRPr lang="en-US" sz="1100" dirty="0"/>
          </a:p>
        </p:txBody>
      </p:sp>
      <p:graphicFrame>
        <p:nvGraphicFramePr>
          <p:cNvPr id="79" name="Table 2"/>
          <p:cNvGraphicFramePr>
            <a:graphicFrameLocks noGrp="1"/>
          </p:cNvGraphicFramePr>
          <p:nvPr>
            <p:extLst>
              <p:ext uri="{D42A27DB-BD31-4B8C-83A1-F6EECF244321}">
                <p14:modId xmlns:p14="http://schemas.microsoft.com/office/powerpoint/2010/main" val="1579011935"/>
              </p:ext>
            </p:extLst>
          </p:nvPr>
        </p:nvGraphicFramePr>
        <p:xfrm>
          <a:off x="6583680" y="3456432"/>
          <a:ext cx="5059375" cy="914400"/>
        </p:xfrm>
        <a:graphic>
          <a:graphicData uri="http://schemas.openxmlformats.org/drawingml/2006/table">
            <a:tbl>
              <a:tblPr/>
              <a:tblGrid>
                <a:gridCol w="1325880"/>
                <a:gridCol w="2176272"/>
                <a:gridCol w="1557223"/>
              </a:tblGrid>
              <a:tr h="457200">
                <a:tc>
                  <a:txBody>
                    <a:bodyPr/>
                    <a:lstStyle/>
                    <a:p>
                      <a:pPr indent="0" marL="0">
                        <a:buNone/>
                      </a:pPr>
                      <a:r>
                        <a:rPr lang="en-US" sz="1100" b="1" dirty="0">
                          <a:solidFill>
                            <a:srgbClr val="FFFFFF"/>
                          </a:solidFill>
                        </a:rPr>
                        <a:t>Tabel</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Tracked → versi baru</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c>
                  <a:txBody>
                    <a:bodyPr/>
                    <a:lstStyle/>
                    <a:p>
                      <a:pPr indent="0" marL="0">
                        <a:buNone/>
                      </a:pPr>
                      <a:r>
                        <a:rPr lang="en-US" sz="1100" b="1" dirty="0">
                          <a:solidFill>
                            <a:srgbClr val="FFFFFF"/>
                          </a:solidFill>
                        </a:rPr>
                        <a:t>Type-1 → ditimpa</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1B1F"/>
                    </a:solidFill>
                  </a:tcPr>
                </a:tc>
              </a:tr>
              <a:tr h="457200">
                <a:tc>
                  <a:txBody>
                    <a:bodyPr/>
                    <a:lstStyle/>
                    <a:p>
                      <a:pPr indent="0" marL="0">
                        <a:buNone/>
                      </a:pPr>
                      <a:r>
                        <a:rPr lang="en-US" sz="1100" dirty="0">
                          <a:solidFill>
                            <a:srgbClr val="1B1B1F"/>
                          </a:solidFill>
                          <a:latin typeface="Consolas" pitchFamily="34" charset="0"/>
                          <a:ea typeface="Consolas" pitchFamily="34" charset="-122"/>
                          <a:cs typeface="Consolas" pitchFamily="34" charset="-120"/>
                        </a:rPr>
                        <a:t>catalog_songs</a:t>
                      </a:r>
                      <a:endParaRPr lang="en-US" sz="11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rPr>
                        <a:t>song_title, original_artist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rPr>
                        <a:t>source_row_number</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B1B1F"/>
                          </a:solidFill>
                          <a:latin typeface="Consolas" pitchFamily="34" charset="0"/>
                          <a:ea typeface="Consolas" pitchFamily="34" charset="-122"/>
                          <a:cs typeface="Consolas" pitchFamily="34" charset="-120"/>
                        </a:rPr>
                        <a:t>spotify_tracks</a:t>
                      </a:r>
                      <a:endParaRPr lang="en-US" sz="11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dirty="0">
                          <a:solidFill>
                            <a:srgbClr val="1B1B1F"/>
                          </a:solidFill>
                        </a:rPr>
                        <a:t>nama, ISRC, artis, album, tgl rilis, durasi, explicit</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c>
                  <a:txBody>
                    <a:bodyPr/>
                    <a:lstStyle/>
                    <a:p>
                      <a:pPr indent="0" marL="0">
                        <a:buNone/>
                      </a:pPr>
                      <a:r>
                        <a:rPr lang="en-US" sz="1100" dirty="0">
                          <a:solidFill>
                            <a:srgbClr val="1B1B1F"/>
                          </a:solidFill>
                        </a:rPr>
                        <a:t>track/disc number, isrc_source</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7F8"/>
                    </a:solidFill>
                  </a:tcPr>
                </a:tc>
              </a:tr>
              <a:tr h="457200">
                <a:tc>
                  <a:txBody>
                    <a:bodyPr/>
                    <a:lstStyle/>
                    <a:p>
                      <a:pPr indent="0" marL="0">
                        <a:buNone/>
                      </a:pPr>
                      <a:r>
                        <a:rPr lang="en-US" sz="1100" dirty="0">
                          <a:solidFill>
                            <a:srgbClr val="1B1B1F"/>
                          </a:solidFill>
                          <a:latin typeface="Consolas" pitchFamily="34" charset="0"/>
                          <a:ea typeface="Consolas" pitchFamily="34" charset="-122"/>
                          <a:cs typeface="Consolas" pitchFamily="34" charset="-120"/>
                        </a:rPr>
                        <a:t>youtube_videos</a:t>
                      </a:r>
                      <a:endParaRPr lang="en-US" sz="1100" dirty="0">
                        <a:latin typeface="Consolas" charset="0"/>
                        <a:ea typeface="Consolas" charset="0"/>
                        <a:cs typeface="Consolas" charset="0"/>
                      </a:endParaRPr>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rPr>
                        <a:t>judul, channel, durasi, licensed, kategori, bahasa</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F"/>
                          </a:solidFill>
                        </a:rPr>
                        <a:t>views, likes, comments</a:t>
                      </a:r>
                      <a:endParaRPr lang="en-US" sz="1100" dirty="0"/>
                    </a:p>
                  </a:txBody>
                  <a:tcPr marL="73152" marR="73152"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14" name="Text 9"/>
          <p:cNvSpPr txBox="1"/>
          <p:nvPr/>
        </p:nvSpPr>
        <p:spPr>
          <a:xfrm>
            <a:off x="6583680" y="5486400"/>
            <a:ext cx="5059375" cy="548640"/>
          </a:xfrm>
          <a:prstGeom prst="rect">
            <a:avLst/>
          </a:prstGeom>
          <a:noFill/>
          <a:ln/>
        </p:spPr>
        <p:txBody>
          <a:bodyPr wrap="square" lIns="0" tIns="0" rIns="0" bIns="0" rtlCol="0" anchor="t"/>
          <a:lstStyle/>
          <a:p>
            <a:pPr indent="0" marL="0">
              <a:buNone/>
            </a:pPr>
            <a:r>
              <a:rPr lang="en-US" sz="1200" b="1" dirty="0">
                <a:solidFill>
                  <a:srgbClr val="E3262E"/>
                </a:solidFill>
              </a:rPr>
              <a:t>7.525 versi </a:t>
            </a:r>
            <a:pPr indent="0" marL="0">
              <a:buNone/>
            </a:pPr>
            <a:r>
              <a:rPr lang="en-US" sz="1200" dirty="0">
                <a:solidFill>
                  <a:srgbClr val="1B1B1F"/>
                </a:solidFill>
              </a:rPr>
              <a:t>tercatat di mon_scd_changes → chart “Record changes captured” di Pipeline Health.</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10058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9 · SISTEM KITA · DAN LAIN-LAIN</a:t>
            </a:r>
            <a:endParaRPr lang="en-US" sz="1100" dirty="0"/>
          </a:p>
        </p:txBody>
      </p:sp>
      <p:sp>
        <p:nvSpPr>
          <p:cNvPr id="3" name="Text 1"/>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Fitur lain yang membuat pipeline siap jalan tanpa ditunggui</a:t>
            </a:r>
            <a:endParaRPr lang="en-US" sz="3000" dirty="0"/>
          </a:p>
        </p:txBody>
      </p:sp>
      <p:sp>
        <p:nvSpPr>
          <p:cNvPr id="4" name="feature card"/>
          <p:cNvSpPr/>
          <p:nvPr/>
        </p:nvSpPr>
        <p:spPr>
          <a:xfrm>
            <a:off x="548640" y="1417320"/>
            <a:ext cx="2602154" cy="2308860"/>
          </a:xfrm>
          <a:prstGeom prst="roundRect">
            <a:avLst>
              <a:gd name="adj" fmla="val 3168"/>
            </a:avLst>
          </a:prstGeom>
          <a:solidFill>
            <a:schemeClr val="bg2"/>
          </a:solidFill>
          <a:ln/>
        </p:spPr>
      </p:sp>
      <p:sp>
        <p:nvSpPr>
          <p:cNvPr id="5" name="icon circle"/>
          <p:cNvSpPr/>
          <p:nvPr/>
        </p:nvSpPr>
        <p:spPr>
          <a:xfrm>
            <a:off x="749808" y="1645920"/>
            <a:ext cx="502920" cy="50292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70509" y="1766621"/>
            <a:ext cx="261518" cy="261518"/>
          </a:xfrm>
          <a:prstGeom prst="rect">
            <a:avLst/>
          </a:prstGeom>
        </p:spPr>
      </p:pic>
      <p:sp>
        <p:nvSpPr>
          <p:cNvPr id="7" name="Text 4"/>
          <p:cNvSpPr txBox="1"/>
          <p:nvPr/>
        </p:nvSpPr>
        <p:spPr>
          <a:xfrm>
            <a:off x="749808" y="2286000"/>
            <a:ext cx="219981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Raw-first</a:t>
            </a:r>
            <a:endParaRPr lang="en-US" sz="1500" dirty="0"/>
          </a:p>
        </p:txBody>
      </p:sp>
      <p:sp>
        <p:nvSpPr>
          <p:cNvPr id="8" name="Text 5"/>
          <p:cNvSpPr txBox="1"/>
          <p:nvPr/>
        </p:nvSpPr>
        <p:spPr>
          <a:xfrm>
            <a:off x="749808" y="2651760"/>
            <a:ext cx="2199818" cy="982980"/>
          </a:xfrm>
          <a:prstGeom prst="rect">
            <a:avLst/>
          </a:prstGeom>
          <a:noFill/>
          <a:ln/>
        </p:spPr>
        <p:txBody>
          <a:bodyPr wrap="square" lIns="0" tIns="0" rIns="0" bIns="0" rtlCol="0" anchor="t"/>
          <a:lstStyle/>
          <a:p>
            <a:pPr indent="0" marL="0">
              <a:buNone/>
            </a:pPr>
            <a:r>
              <a:rPr lang="en-US" sz="1200" dirty="0">
                <a:solidFill>
                  <a:schemeClr val="tx1"/>
                </a:solidFill>
              </a:rPr>
              <a:t>Setiap respons API disimpan verbatim (append-only). Bug parsing cukup diproses ulang — kuota API tidak terpakai lagi.</a:t>
            </a:r>
            <a:endParaRPr lang="en-US" sz="1200" dirty="0"/>
          </a:p>
        </p:txBody>
      </p:sp>
      <p:sp>
        <p:nvSpPr>
          <p:cNvPr id="9" name="feature card"/>
          <p:cNvSpPr/>
          <p:nvPr/>
        </p:nvSpPr>
        <p:spPr>
          <a:xfrm>
            <a:off x="3379394" y="1417320"/>
            <a:ext cx="2602154" cy="2308860"/>
          </a:xfrm>
          <a:prstGeom prst="roundRect">
            <a:avLst>
              <a:gd name="adj" fmla="val 3168"/>
            </a:avLst>
          </a:prstGeom>
          <a:solidFill>
            <a:schemeClr val="bg2"/>
          </a:solidFill>
          <a:ln/>
        </p:spPr>
      </p:sp>
      <p:sp>
        <p:nvSpPr>
          <p:cNvPr id="10" name="icon circle"/>
          <p:cNvSpPr/>
          <p:nvPr/>
        </p:nvSpPr>
        <p:spPr>
          <a:xfrm>
            <a:off x="3580562" y="1645920"/>
            <a:ext cx="502920" cy="502920"/>
          </a:xfrm>
          <a:prstGeom prst="ellipse">
            <a:avLst/>
          </a:prstGeom>
          <a:solidFill>
            <a:schemeClr val="accent1"/>
          </a:solidFill>
          <a:ln/>
        </p:spPr>
      </p:sp>
      <p:pic>
        <p:nvPicPr>
          <p:cNvPr id="11" name="icon" descr="preencoded.png">    </p:cNvPr>
          <p:cNvPicPr>
            <a:picLocks noChangeAspect="1"/>
          </p:cNvPicPr>
          <p:nvPr/>
        </p:nvPicPr>
        <p:blipFill>
          <a:blip r:embed="rId2"/>
          <a:stretch>
            <a:fillRect/>
          </a:stretch>
        </p:blipFill>
        <p:spPr>
          <a:xfrm>
            <a:off x="3701263" y="1766621"/>
            <a:ext cx="261518" cy="261518"/>
          </a:xfrm>
          <a:prstGeom prst="rect">
            <a:avLst/>
          </a:prstGeom>
        </p:spPr>
      </p:pic>
      <p:sp>
        <p:nvSpPr>
          <p:cNvPr id="12" name="Text 8"/>
          <p:cNvSpPr txBox="1"/>
          <p:nvPr/>
        </p:nvSpPr>
        <p:spPr>
          <a:xfrm>
            <a:off x="3580562" y="2286000"/>
            <a:ext cx="219981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Hanya incremental</a:t>
            </a:r>
            <a:endParaRPr lang="en-US" sz="1500" dirty="0"/>
          </a:p>
        </p:txBody>
      </p:sp>
      <p:sp>
        <p:nvSpPr>
          <p:cNvPr id="13" name="Text 9"/>
          <p:cNvSpPr txBox="1"/>
          <p:nvPr/>
        </p:nvSpPr>
        <p:spPr>
          <a:xfrm>
            <a:off x="3580562" y="2651760"/>
            <a:ext cx="2199818" cy="982980"/>
          </a:xfrm>
          <a:prstGeom prst="rect">
            <a:avLst/>
          </a:prstGeom>
          <a:noFill/>
          <a:ln/>
        </p:spPr>
        <p:txBody>
          <a:bodyPr wrap="square" lIns="0" tIns="0" rIns="0" bIns="0" rtlCol="0" anchor="t"/>
          <a:lstStyle/>
          <a:p>
            <a:pPr indent="0" marL="0">
              <a:buNone/>
            </a:pPr>
            <a:r>
              <a:rPr lang="en-US" sz="1200" dirty="0">
                <a:solidFill>
                  <a:schemeClr val="tx1"/>
                </a:solidFill>
              </a:rPr>
              <a:t>Watermark raw → clean + seleksi lagu jatuh tempo. Tidak ada opsi full refresh.</a:t>
            </a:r>
            <a:endParaRPr lang="en-US" sz="1200" dirty="0"/>
          </a:p>
        </p:txBody>
      </p:sp>
      <p:sp>
        <p:nvSpPr>
          <p:cNvPr id="14" name="feature card"/>
          <p:cNvSpPr/>
          <p:nvPr/>
        </p:nvSpPr>
        <p:spPr>
          <a:xfrm>
            <a:off x="6210148" y="1417320"/>
            <a:ext cx="2602154" cy="2308860"/>
          </a:xfrm>
          <a:prstGeom prst="roundRect">
            <a:avLst>
              <a:gd name="adj" fmla="val 3168"/>
            </a:avLst>
          </a:prstGeom>
          <a:solidFill>
            <a:schemeClr val="bg2"/>
          </a:solidFill>
          <a:ln/>
        </p:spPr>
      </p:sp>
      <p:sp>
        <p:nvSpPr>
          <p:cNvPr id="15" name="icon circle"/>
          <p:cNvSpPr/>
          <p:nvPr/>
        </p:nvSpPr>
        <p:spPr>
          <a:xfrm>
            <a:off x="6411316" y="1645920"/>
            <a:ext cx="502920" cy="502920"/>
          </a:xfrm>
          <a:prstGeom prst="ellipse">
            <a:avLst/>
          </a:prstGeom>
          <a:solidFill>
            <a:schemeClr val="accent1"/>
          </a:solidFill>
          <a:ln/>
        </p:spPr>
      </p:sp>
      <p:pic>
        <p:nvPicPr>
          <p:cNvPr id="16" name="icon" descr="preencoded.png">    </p:cNvPr>
          <p:cNvPicPr>
            <a:picLocks noChangeAspect="1"/>
          </p:cNvPicPr>
          <p:nvPr/>
        </p:nvPicPr>
        <p:blipFill>
          <a:blip r:embed="rId3"/>
          <a:stretch>
            <a:fillRect/>
          </a:stretch>
        </p:blipFill>
        <p:spPr>
          <a:xfrm>
            <a:off x="6532016" y="1766621"/>
            <a:ext cx="261518" cy="261518"/>
          </a:xfrm>
          <a:prstGeom prst="rect">
            <a:avLst/>
          </a:prstGeom>
        </p:spPr>
      </p:pic>
      <p:sp>
        <p:nvSpPr>
          <p:cNvPr id="17" name="Text 12"/>
          <p:cNvSpPr txBox="1"/>
          <p:nvPr/>
        </p:nvSpPr>
        <p:spPr>
          <a:xfrm>
            <a:off x="6411316" y="2286000"/>
            <a:ext cx="219981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Idempoten</a:t>
            </a:r>
            <a:endParaRPr lang="en-US" sz="1500" dirty="0"/>
          </a:p>
        </p:txBody>
      </p:sp>
      <p:sp>
        <p:nvSpPr>
          <p:cNvPr id="18" name="Text 13"/>
          <p:cNvSpPr txBox="1"/>
          <p:nvPr/>
        </p:nvSpPr>
        <p:spPr>
          <a:xfrm>
            <a:off x="6411316" y="2651760"/>
            <a:ext cx="2199818" cy="982980"/>
          </a:xfrm>
          <a:prstGeom prst="rect">
            <a:avLst/>
          </a:prstGeom>
          <a:noFill/>
          <a:ln/>
        </p:spPr>
        <p:txBody>
          <a:bodyPr wrap="square" lIns="0" tIns="0" rIns="0" bIns="0" rtlCol="0" anchor="t"/>
          <a:lstStyle/>
          <a:p>
            <a:pPr indent="0" marL="0">
              <a:buNone/>
            </a:pPr>
            <a:r>
              <a:rPr lang="en-US" sz="1200" dirty="0">
                <a:solidFill>
                  <a:schemeClr val="tx1"/>
                </a:solidFill>
              </a:rPr>
              <a:t>batch_id = run_id; buffer flush tiap 200 baris; retry merencanakan ulang upsert tanpa duplikat.</a:t>
            </a:r>
            <a:endParaRPr lang="en-US" sz="1200" dirty="0"/>
          </a:p>
        </p:txBody>
      </p:sp>
      <p:sp>
        <p:nvSpPr>
          <p:cNvPr id="19" name="feature card"/>
          <p:cNvSpPr/>
          <p:nvPr/>
        </p:nvSpPr>
        <p:spPr>
          <a:xfrm>
            <a:off x="9040901" y="1417320"/>
            <a:ext cx="2602154" cy="2308860"/>
          </a:xfrm>
          <a:prstGeom prst="roundRect">
            <a:avLst>
              <a:gd name="adj" fmla="val 3168"/>
            </a:avLst>
          </a:prstGeom>
          <a:solidFill>
            <a:schemeClr val="bg2"/>
          </a:solidFill>
          <a:ln/>
        </p:spPr>
      </p:sp>
      <p:sp>
        <p:nvSpPr>
          <p:cNvPr id="20" name="icon circle"/>
          <p:cNvSpPr/>
          <p:nvPr/>
        </p:nvSpPr>
        <p:spPr>
          <a:xfrm>
            <a:off x="9242069" y="1645920"/>
            <a:ext cx="502920" cy="502920"/>
          </a:xfrm>
          <a:prstGeom prst="ellipse">
            <a:avLst/>
          </a:prstGeom>
          <a:solidFill>
            <a:schemeClr val="accent1"/>
          </a:solidFill>
          <a:ln/>
        </p:spPr>
      </p:sp>
      <p:pic>
        <p:nvPicPr>
          <p:cNvPr id="21" name="icon" descr="preencoded.png">    </p:cNvPr>
          <p:cNvPicPr>
            <a:picLocks noChangeAspect="1"/>
          </p:cNvPicPr>
          <p:nvPr/>
        </p:nvPicPr>
        <p:blipFill>
          <a:blip r:embed="rId4"/>
          <a:stretch>
            <a:fillRect/>
          </a:stretch>
        </p:blipFill>
        <p:spPr>
          <a:xfrm>
            <a:off x="9362770" y="1766621"/>
            <a:ext cx="261518" cy="261518"/>
          </a:xfrm>
          <a:prstGeom prst="rect">
            <a:avLst/>
          </a:prstGeom>
        </p:spPr>
      </p:pic>
      <p:sp>
        <p:nvSpPr>
          <p:cNvPr id="22" name="Text 16"/>
          <p:cNvSpPr txBox="1"/>
          <p:nvPr/>
        </p:nvSpPr>
        <p:spPr>
          <a:xfrm>
            <a:off x="9242069" y="2286000"/>
            <a:ext cx="219981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Sadar kuota</a:t>
            </a:r>
            <a:endParaRPr lang="en-US" sz="1500" dirty="0"/>
          </a:p>
        </p:txBody>
      </p:sp>
      <p:sp>
        <p:nvSpPr>
          <p:cNvPr id="23" name="Text 17"/>
          <p:cNvSpPr txBox="1"/>
          <p:nvPr/>
        </p:nvSpPr>
        <p:spPr>
          <a:xfrm>
            <a:off x="9242069" y="2651760"/>
            <a:ext cx="2199818" cy="982980"/>
          </a:xfrm>
          <a:prstGeom prst="rect">
            <a:avLst/>
          </a:prstGeom>
          <a:noFill/>
          <a:ln/>
        </p:spPr>
        <p:txBody>
          <a:bodyPr wrap="square" lIns="0" tIns="0" rIns="0" bIns="0" rtlCol="0" anchor="t"/>
          <a:lstStyle/>
          <a:p>
            <a:pPr indent="0" marL="0">
              <a:buNone/>
            </a:pPr>
            <a:r>
              <a:rPr lang="en-US" sz="1200" dirty="0">
                <a:solidFill>
                  <a:schemeClr val="tx1"/>
                </a:solidFill>
              </a:rPr>
              <a:t>Ledger kuota YouTube per hari Pasifik; status 'partial' dan backlog prioritas, bukan error.</a:t>
            </a:r>
            <a:endParaRPr lang="en-US" sz="1200" dirty="0"/>
          </a:p>
        </p:txBody>
      </p:sp>
      <p:sp>
        <p:nvSpPr>
          <p:cNvPr id="24" name="feature card"/>
          <p:cNvSpPr/>
          <p:nvPr/>
        </p:nvSpPr>
        <p:spPr>
          <a:xfrm>
            <a:off x="548640" y="3954780"/>
            <a:ext cx="2602154" cy="2308860"/>
          </a:xfrm>
          <a:prstGeom prst="roundRect">
            <a:avLst>
              <a:gd name="adj" fmla="val 3168"/>
            </a:avLst>
          </a:prstGeom>
          <a:solidFill>
            <a:schemeClr val="bg2"/>
          </a:solidFill>
          <a:ln/>
        </p:spPr>
      </p:sp>
      <p:sp>
        <p:nvSpPr>
          <p:cNvPr id="25" name="icon circle"/>
          <p:cNvSpPr/>
          <p:nvPr/>
        </p:nvSpPr>
        <p:spPr>
          <a:xfrm>
            <a:off x="749808" y="4183380"/>
            <a:ext cx="502920" cy="502920"/>
          </a:xfrm>
          <a:prstGeom prst="ellipse">
            <a:avLst/>
          </a:prstGeom>
          <a:solidFill>
            <a:schemeClr val="accent1"/>
          </a:solidFill>
          <a:ln/>
        </p:spPr>
      </p:sp>
      <p:pic>
        <p:nvPicPr>
          <p:cNvPr id="26" name="icon" descr="preencoded.png">    </p:cNvPr>
          <p:cNvPicPr>
            <a:picLocks noChangeAspect="1"/>
          </p:cNvPicPr>
          <p:nvPr/>
        </p:nvPicPr>
        <p:blipFill>
          <a:blip r:embed="rId5"/>
          <a:stretch>
            <a:fillRect/>
          </a:stretch>
        </p:blipFill>
        <p:spPr>
          <a:xfrm>
            <a:off x="870509" y="4304081"/>
            <a:ext cx="261518" cy="261518"/>
          </a:xfrm>
          <a:prstGeom prst="rect">
            <a:avLst/>
          </a:prstGeom>
        </p:spPr>
      </p:pic>
      <p:sp>
        <p:nvSpPr>
          <p:cNvPr id="27" name="Text 20"/>
          <p:cNvSpPr txBox="1"/>
          <p:nvPr/>
        </p:nvSpPr>
        <p:spPr>
          <a:xfrm>
            <a:off x="749808" y="4823460"/>
            <a:ext cx="219981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Tanpa secret di kode</a:t>
            </a:r>
            <a:endParaRPr lang="en-US" sz="1500" dirty="0"/>
          </a:p>
        </p:txBody>
      </p:sp>
      <p:sp>
        <p:nvSpPr>
          <p:cNvPr id="28" name="Text 21"/>
          <p:cNvSpPr txBox="1"/>
          <p:nvPr/>
        </p:nvSpPr>
        <p:spPr>
          <a:xfrm>
            <a:off x="749808" y="5189220"/>
            <a:ext cx="2199818" cy="982980"/>
          </a:xfrm>
          <a:prstGeom prst="rect">
            <a:avLst/>
          </a:prstGeom>
          <a:noFill/>
          <a:ln/>
        </p:spPr>
        <p:txBody>
          <a:bodyPr wrap="square" lIns="0" tIns="0" rIns="0" bIns="0" rtlCol="0" anchor="t"/>
          <a:lstStyle/>
          <a:p>
            <a:pPr indent="0" marL="0">
              <a:buNone/>
            </a:pPr>
            <a:r>
              <a:rPr lang="en-US" sz="1200" dirty="0">
                <a:solidFill>
                  <a:schemeClr val="tx1"/>
                </a:solidFill>
              </a:rPr>
              <a:t>Semua kredensial di .env; compose menolak start bila ada yang kosong; preflight memvalidasi ulang.</a:t>
            </a:r>
            <a:endParaRPr lang="en-US" sz="1200" dirty="0"/>
          </a:p>
        </p:txBody>
      </p:sp>
      <p:sp>
        <p:nvSpPr>
          <p:cNvPr id="29" name="feature card"/>
          <p:cNvSpPr/>
          <p:nvPr/>
        </p:nvSpPr>
        <p:spPr>
          <a:xfrm>
            <a:off x="3379394" y="3954780"/>
            <a:ext cx="2602154" cy="2308860"/>
          </a:xfrm>
          <a:prstGeom prst="roundRect">
            <a:avLst>
              <a:gd name="adj" fmla="val 3168"/>
            </a:avLst>
          </a:prstGeom>
          <a:solidFill>
            <a:schemeClr val="bg2"/>
          </a:solidFill>
          <a:ln/>
        </p:spPr>
      </p:sp>
      <p:sp>
        <p:nvSpPr>
          <p:cNvPr id="30" name="icon circle"/>
          <p:cNvSpPr/>
          <p:nvPr/>
        </p:nvSpPr>
        <p:spPr>
          <a:xfrm>
            <a:off x="3580562" y="4183380"/>
            <a:ext cx="502920" cy="502920"/>
          </a:xfrm>
          <a:prstGeom prst="ellipse">
            <a:avLst/>
          </a:prstGeom>
          <a:solidFill>
            <a:schemeClr val="accent1"/>
          </a:solidFill>
          <a:ln/>
        </p:spPr>
      </p:sp>
      <p:pic>
        <p:nvPicPr>
          <p:cNvPr id="31" name="icon" descr="preencoded.png">    </p:cNvPr>
          <p:cNvPicPr>
            <a:picLocks noChangeAspect="1"/>
          </p:cNvPicPr>
          <p:nvPr/>
        </p:nvPicPr>
        <p:blipFill>
          <a:blip r:embed="rId6"/>
          <a:stretch>
            <a:fillRect/>
          </a:stretch>
        </p:blipFill>
        <p:spPr>
          <a:xfrm>
            <a:off x="3701263" y="4304081"/>
            <a:ext cx="261518" cy="261518"/>
          </a:xfrm>
          <a:prstGeom prst="rect">
            <a:avLst/>
          </a:prstGeom>
        </p:spPr>
      </p:pic>
      <p:sp>
        <p:nvSpPr>
          <p:cNvPr id="32" name="Text 24"/>
          <p:cNvSpPr txBox="1"/>
          <p:nvPr/>
        </p:nvSpPr>
        <p:spPr>
          <a:xfrm>
            <a:off x="3580562" y="4823460"/>
            <a:ext cx="219981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Least privilege</a:t>
            </a:r>
            <a:endParaRPr lang="en-US" sz="1500" dirty="0"/>
          </a:p>
        </p:txBody>
      </p:sp>
      <p:sp>
        <p:nvSpPr>
          <p:cNvPr id="33" name="Text 25"/>
          <p:cNvSpPr txBox="1"/>
          <p:nvPr/>
        </p:nvSpPr>
        <p:spPr>
          <a:xfrm>
            <a:off x="3580562" y="5189220"/>
            <a:ext cx="2199818" cy="982980"/>
          </a:xfrm>
          <a:prstGeom prst="rect">
            <a:avLst/>
          </a:prstGeom>
          <a:noFill/>
          <a:ln/>
        </p:spPr>
        <p:txBody>
          <a:bodyPr wrap="square" lIns="0" tIns="0" rIns="0" bIns="0" rtlCol="0" anchor="t"/>
          <a:lstStyle/>
          <a:p>
            <a:pPr indent="0" marL="0">
              <a:buNone/>
            </a:pPr>
            <a:r>
              <a:rPr lang="en-US" sz="1200" dirty="0">
                <a:solidFill>
                  <a:schemeClr val="tx1"/>
                </a:solidFill>
              </a:rPr>
              <a:t>User etl menulis semua layer; superset_ro hanya membaca marts / ops / dq dengan batas 60 dtk &amp; 600 MB.</a:t>
            </a:r>
            <a:endParaRPr lang="en-US" sz="1200" dirty="0"/>
          </a:p>
        </p:txBody>
      </p:sp>
      <p:sp>
        <p:nvSpPr>
          <p:cNvPr id="34" name="feature card"/>
          <p:cNvSpPr/>
          <p:nvPr/>
        </p:nvSpPr>
        <p:spPr>
          <a:xfrm>
            <a:off x="6210148" y="3954780"/>
            <a:ext cx="2602154" cy="2308860"/>
          </a:xfrm>
          <a:prstGeom prst="roundRect">
            <a:avLst>
              <a:gd name="adj" fmla="val 3168"/>
            </a:avLst>
          </a:prstGeom>
          <a:solidFill>
            <a:schemeClr val="bg2"/>
          </a:solidFill>
          <a:ln/>
        </p:spPr>
      </p:sp>
      <p:sp>
        <p:nvSpPr>
          <p:cNvPr id="35" name="icon circle"/>
          <p:cNvSpPr/>
          <p:nvPr/>
        </p:nvSpPr>
        <p:spPr>
          <a:xfrm>
            <a:off x="6411316" y="4183380"/>
            <a:ext cx="502920" cy="502920"/>
          </a:xfrm>
          <a:prstGeom prst="ellipse">
            <a:avLst/>
          </a:prstGeom>
          <a:solidFill>
            <a:schemeClr val="accent1"/>
          </a:solidFill>
          <a:ln/>
        </p:spPr>
      </p:sp>
      <p:pic>
        <p:nvPicPr>
          <p:cNvPr id="36" name="icon" descr="preencoded.png">    </p:cNvPr>
          <p:cNvPicPr>
            <a:picLocks noChangeAspect="1"/>
          </p:cNvPicPr>
          <p:nvPr/>
        </p:nvPicPr>
        <p:blipFill>
          <a:blip r:embed="rId7"/>
          <a:stretch>
            <a:fillRect/>
          </a:stretch>
        </p:blipFill>
        <p:spPr>
          <a:xfrm>
            <a:off x="6532016" y="4304081"/>
            <a:ext cx="261518" cy="261518"/>
          </a:xfrm>
          <a:prstGeom prst="rect">
            <a:avLst/>
          </a:prstGeom>
        </p:spPr>
      </p:pic>
      <p:sp>
        <p:nvSpPr>
          <p:cNvPr id="37" name="Text 28"/>
          <p:cNvSpPr txBox="1"/>
          <p:nvPr/>
        </p:nvSpPr>
        <p:spPr>
          <a:xfrm>
            <a:off x="6411316" y="4823460"/>
            <a:ext cx="219981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Mudah di-debug</a:t>
            </a:r>
            <a:endParaRPr lang="en-US" sz="1500" dirty="0"/>
          </a:p>
        </p:txBody>
      </p:sp>
      <p:sp>
        <p:nvSpPr>
          <p:cNvPr id="38" name="Text 29"/>
          <p:cNvSpPr txBox="1"/>
          <p:nvPr/>
        </p:nvSpPr>
        <p:spPr>
          <a:xfrm>
            <a:off x="6411316" y="5189220"/>
            <a:ext cx="2199818" cy="982980"/>
          </a:xfrm>
          <a:prstGeom prst="rect">
            <a:avLst/>
          </a:prstGeom>
          <a:noFill/>
          <a:ln/>
        </p:spPr>
        <p:txBody>
          <a:bodyPr wrap="square" lIns="0" tIns="0" rIns="0" bIns="0" rtlCol="0" anchor="t"/>
          <a:lstStyle/>
          <a:p>
            <a:pPr indent="0" marL="0">
              <a:buNone/>
            </a:pPr>
            <a:r>
              <a:rPr lang="en-US" sz="1200" dirty="0">
                <a:solidFill>
                  <a:schemeClr val="tx1"/>
                </a:solidFill>
              </a:rPr>
              <a:t>Satu file DAG, 20 section bernomor; fungsi + dict tanpa class, comprehension, atau lambda.</a:t>
            </a:r>
            <a:endParaRPr lang="en-US" sz="1200" dirty="0"/>
          </a:p>
        </p:txBody>
      </p:sp>
      <p:sp>
        <p:nvSpPr>
          <p:cNvPr id="39" name="feature card"/>
          <p:cNvSpPr/>
          <p:nvPr/>
        </p:nvSpPr>
        <p:spPr>
          <a:xfrm>
            <a:off x="9040901" y="3954780"/>
            <a:ext cx="2602154" cy="2308860"/>
          </a:xfrm>
          <a:prstGeom prst="roundRect">
            <a:avLst>
              <a:gd name="adj" fmla="val 3168"/>
            </a:avLst>
          </a:prstGeom>
          <a:solidFill>
            <a:schemeClr val="bg2"/>
          </a:solidFill>
          <a:ln/>
        </p:spPr>
      </p:sp>
      <p:sp>
        <p:nvSpPr>
          <p:cNvPr id="40" name="icon circle"/>
          <p:cNvSpPr/>
          <p:nvPr/>
        </p:nvSpPr>
        <p:spPr>
          <a:xfrm>
            <a:off x="9242069" y="4183380"/>
            <a:ext cx="502920" cy="502920"/>
          </a:xfrm>
          <a:prstGeom prst="ellipse">
            <a:avLst/>
          </a:prstGeom>
          <a:solidFill>
            <a:schemeClr val="accent1"/>
          </a:solidFill>
          <a:ln/>
        </p:spPr>
      </p:sp>
      <p:pic>
        <p:nvPicPr>
          <p:cNvPr id="41" name="icon" descr="preencoded.png">    </p:cNvPr>
          <p:cNvPicPr>
            <a:picLocks noChangeAspect="1"/>
          </p:cNvPicPr>
          <p:nvPr/>
        </p:nvPicPr>
        <p:blipFill>
          <a:blip r:embed="rId8"/>
          <a:stretch>
            <a:fillRect/>
          </a:stretch>
        </p:blipFill>
        <p:spPr>
          <a:xfrm>
            <a:off x="9362770" y="4304081"/>
            <a:ext cx="261518" cy="261518"/>
          </a:xfrm>
          <a:prstGeom prst="rect">
            <a:avLst/>
          </a:prstGeom>
        </p:spPr>
      </p:pic>
      <p:sp>
        <p:nvSpPr>
          <p:cNvPr id="42" name="Text 32"/>
          <p:cNvSpPr txBox="1"/>
          <p:nvPr/>
        </p:nvSpPr>
        <p:spPr>
          <a:xfrm>
            <a:off x="9242069" y="4823460"/>
            <a:ext cx="2199818" cy="329184"/>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Teruji</a:t>
            </a:r>
            <a:endParaRPr lang="en-US" sz="1500" dirty="0"/>
          </a:p>
        </p:txBody>
      </p:sp>
      <p:sp>
        <p:nvSpPr>
          <p:cNvPr id="43" name="Text 33"/>
          <p:cNvSpPr txBox="1"/>
          <p:nvPr/>
        </p:nvSpPr>
        <p:spPr>
          <a:xfrm>
            <a:off x="9242069" y="5189220"/>
            <a:ext cx="2199818" cy="982980"/>
          </a:xfrm>
          <a:prstGeom prst="rect">
            <a:avLst/>
          </a:prstGeom>
          <a:noFill/>
          <a:ln/>
        </p:spPr>
        <p:txBody>
          <a:bodyPr wrap="square" lIns="0" tIns="0" rIns="0" bIns="0" rtlCol="0" anchor="t"/>
          <a:lstStyle/>
          <a:p>
            <a:pPr indent="0" marL="0">
              <a:buNone/>
            </a:pPr>
            <a:r>
              <a:rPr lang="en-US" sz="1200" dirty="0">
                <a:solidFill>
                  <a:schemeClr val="tx1"/>
                </a:solidFill>
              </a:rPr>
              <a:t>pytest 24/24, dbt build 105/105, integration test SCD2 &amp; email di ClickHouse asli.</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731520"/>
            <a:ext cx="10515600" cy="822960"/>
          </a:xfrm>
          <a:prstGeom prst="rect">
            <a:avLst/>
          </a:prstGeom>
          <a:noFill/>
          <a:ln/>
        </p:spPr>
        <p:txBody>
          <a:bodyPr wrap="square" lIns="0" tIns="0" rIns="0" bIns="0" rtlCol="0" anchor="t"/>
          <a:lstStyle/>
          <a:p>
            <a:pPr algn="l" indent="0" marL="0">
              <a:buNone/>
            </a:pPr>
            <a:r>
              <a:rPr lang="en-US" sz="4000" b="1" dirty="0">
                <a:solidFill>
                  <a:schemeClr val="bg1"/>
                </a:solidFill>
              </a:rPr>
              <a:t>Ringkasan</a:t>
            </a:r>
            <a:endParaRPr lang="en-US" sz="4000" dirty="0"/>
          </a:p>
        </p:txBody>
      </p:sp>
      <p:sp>
        <p:nvSpPr>
          <p:cNvPr id="3" name="summary card"/>
          <p:cNvSpPr/>
          <p:nvPr/>
        </p:nvSpPr>
        <p:spPr>
          <a:xfrm>
            <a:off x="731520" y="1828800"/>
            <a:ext cx="3361944" cy="2103120"/>
          </a:xfrm>
          <a:prstGeom prst="roundRect">
            <a:avLst>
              <a:gd name="adj" fmla="val 3478"/>
            </a:avLst>
          </a:prstGeom>
          <a:solidFill>
            <a:schemeClr val="tx2"/>
          </a:solidFill>
          <a:ln/>
        </p:spPr>
      </p:sp>
      <p:sp>
        <p:nvSpPr>
          <p:cNvPr id="4" name="icon circle"/>
          <p:cNvSpPr/>
          <p:nvPr/>
        </p:nvSpPr>
        <p:spPr>
          <a:xfrm>
            <a:off x="1005840" y="2103120"/>
            <a:ext cx="502920" cy="502920"/>
          </a:xfrm>
          <a:prstGeom prst="ellipse">
            <a:avLst/>
          </a:prstGeom>
          <a:solidFill>
            <a:schemeClr val="accent1"/>
          </a:solidFill>
          <a:ln/>
        </p:spPr>
      </p:sp>
      <p:pic>
        <p:nvPicPr>
          <p:cNvPr id="5" name="icon" descr="preencoded.png">    </p:cNvPr>
          <p:cNvPicPr>
            <a:picLocks noChangeAspect="1"/>
          </p:cNvPicPr>
          <p:nvPr/>
        </p:nvPicPr>
        <p:blipFill>
          <a:blip r:embed="rId1"/>
          <a:stretch>
            <a:fillRect/>
          </a:stretch>
        </p:blipFill>
        <p:spPr>
          <a:xfrm>
            <a:off x="1126541" y="2223821"/>
            <a:ext cx="261518" cy="261518"/>
          </a:xfrm>
          <a:prstGeom prst="rect">
            <a:avLst/>
          </a:prstGeom>
        </p:spPr>
      </p:pic>
      <p:sp>
        <p:nvSpPr>
          <p:cNvPr id="6" name="Text 3"/>
          <p:cNvSpPr txBox="1"/>
          <p:nvPr/>
        </p:nvSpPr>
        <p:spPr>
          <a:xfrm>
            <a:off x="1005840" y="2743200"/>
            <a:ext cx="2813304" cy="365760"/>
          </a:xfrm>
          <a:prstGeom prst="rect">
            <a:avLst/>
          </a:prstGeom>
          <a:noFill/>
          <a:ln/>
        </p:spPr>
        <p:txBody>
          <a:bodyPr wrap="square" lIns="0" tIns="0" rIns="0" bIns="0" rtlCol="0" anchor="t"/>
          <a:lstStyle/>
          <a:p>
            <a:pPr indent="0" marL="0">
              <a:buNone/>
            </a:pPr>
            <a:r>
              <a:rPr lang="en-US" sz="1700" b="1" dirty="0">
                <a:solidFill>
                  <a:schemeClr val="bg1"/>
                </a:solidFill>
              </a:rPr>
              <a:t>Q1 &amp; Q2 dari data asli</a:t>
            </a:r>
            <a:endParaRPr lang="en-US" sz="1700" dirty="0"/>
          </a:p>
        </p:txBody>
      </p:sp>
      <p:sp>
        <p:nvSpPr>
          <p:cNvPr id="7" name="Text 4"/>
          <p:cNvSpPr txBox="1"/>
          <p:nvPr/>
        </p:nvSpPr>
        <p:spPr>
          <a:xfrm>
            <a:off x="1005840" y="3127248"/>
            <a:ext cx="2813304" cy="731520"/>
          </a:xfrm>
          <a:prstGeom prst="rect">
            <a:avLst/>
          </a:prstGeom>
          <a:noFill/>
          <a:ln/>
        </p:spPr>
        <p:txBody>
          <a:bodyPr wrap="square" lIns="0" tIns="0" rIns="0" bIns="0" rtlCol="0" anchor="t"/>
          <a:lstStyle/>
          <a:p>
            <a:pPr indent="0" marL="0">
              <a:buNone/>
            </a:pPr>
            <a:r>
              <a:rPr lang="en-US" sz="1300" dirty="0">
                <a:solidFill>
                  <a:schemeClr val="accent5"/>
                </a:solidFill>
              </a:rPr>
              <a:t>Satu tabel mart_song_overview: 773 ISRC dan 1.267 video, status untuk setiap angka nol.</a:t>
            </a:r>
            <a:endParaRPr lang="en-US" sz="1300" dirty="0"/>
          </a:p>
        </p:txBody>
      </p:sp>
      <p:sp>
        <p:nvSpPr>
          <p:cNvPr id="8" name="summary card"/>
          <p:cNvSpPr/>
          <p:nvPr/>
        </p:nvSpPr>
        <p:spPr>
          <a:xfrm>
            <a:off x="4413504" y="1828800"/>
            <a:ext cx="3361944" cy="2103120"/>
          </a:xfrm>
          <a:prstGeom prst="roundRect">
            <a:avLst>
              <a:gd name="adj" fmla="val 3478"/>
            </a:avLst>
          </a:prstGeom>
          <a:solidFill>
            <a:schemeClr val="tx2"/>
          </a:solidFill>
          <a:ln/>
        </p:spPr>
      </p:sp>
      <p:sp>
        <p:nvSpPr>
          <p:cNvPr id="9" name="icon circle"/>
          <p:cNvSpPr/>
          <p:nvPr/>
        </p:nvSpPr>
        <p:spPr>
          <a:xfrm>
            <a:off x="4687824" y="2103120"/>
            <a:ext cx="502920" cy="502920"/>
          </a:xfrm>
          <a:prstGeom prst="ellipse">
            <a:avLst/>
          </a:prstGeom>
          <a:solidFill>
            <a:schemeClr val="accent1"/>
          </a:solidFill>
          <a:ln/>
        </p:spPr>
      </p:sp>
      <p:pic>
        <p:nvPicPr>
          <p:cNvPr id="10" name="icon" descr="preencoded.png">    </p:cNvPr>
          <p:cNvPicPr>
            <a:picLocks noChangeAspect="1"/>
          </p:cNvPicPr>
          <p:nvPr/>
        </p:nvPicPr>
        <p:blipFill>
          <a:blip r:embed="rId2"/>
          <a:stretch>
            <a:fillRect/>
          </a:stretch>
        </p:blipFill>
        <p:spPr>
          <a:xfrm>
            <a:off x="4808525" y="2223821"/>
            <a:ext cx="261518" cy="261518"/>
          </a:xfrm>
          <a:prstGeom prst="rect">
            <a:avLst/>
          </a:prstGeom>
        </p:spPr>
      </p:pic>
      <p:sp>
        <p:nvSpPr>
          <p:cNvPr id="11" name="Text 7"/>
          <p:cNvSpPr txBox="1"/>
          <p:nvPr/>
        </p:nvSpPr>
        <p:spPr>
          <a:xfrm>
            <a:off x="4687824" y="2743200"/>
            <a:ext cx="2813304" cy="365760"/>
          </a:xfrm>
          <a:prstGeom prst="rect">
            <a:avLst/>
          </a:prstGeom>
          <a:noFill/>
          <a:ln/>
        </p:spPr>
        <p:txBody>
          <a:bodyPr wrap="square" lIns="0" tIns="0" rIns="0" bIns="0" rtlCol="0" anchor="t"/>
          <a:lstStyle/>
          <a:p>
            <a:pPr indent="0" marL="0">
              <a:buNone/>
            </a:pPr>
            <a:r>
              <a:rPr lang="en-US" sz="1700" b="1" dirty="0">
                <a:solidFill>
                  <a:schemeClr val="bg1"/>
                </a:solidFill>
              </a:rPr>
              <a:t>Data yang bisa dipercaya</a:t>
            </a:r>
            <a:endParaRPr lang="en-US" sz="1700" dirty="0"/>
          </a:p>
        </p:txBody>
      </p:sp>
      <p:sp>
        <p:nvSpPr>
          <p:cNvPr id="12" name="Text 8"/>
          <p:cNvSpPr txBox="1"/>
          <p:nvPr/>
        </p:nvSpPr>
        <p:spPr>
          <a:xfrm>
            <a:off x="4687824" y="3127248"/>
            <a:ext cx="2813304" cy="731520"/>
          </a:xfrm>
          <a:prstGeom prst="rect">
            <a:avLst/>
          </a:prstGeom>
          <a:noFill/>
          <a:ln/>
        </p:spPr>
        <p:txBody>
          <a:bodyPr wrap="square" lIns="0" tIns="0" rIns="0" bIns="0" rtlCol="0" anchor="t"/>
          <a:lstStyle/>
          <a:p>
            <a:pPr indent="0" marL="0">
              <a:buNone/>
            </a:pPr>
            <a:r>
              <a:rPr lang="en-US" sz="1300" dirty="0">
                <a:solidFill>
                  <a:schemeClr val="accent5"/>
                </a:solidFill>
              </a:rPr>
              <a:t>Validasi pandas, karantina + email, SCD Type 2, upsert idempoten, tiga lapis data quality.</a:t>
            </a:r>
            <a:endParaRPr lang="en-US" sz="1300" dirty="0"/>
          </a:p>
        </p:txBody>
      </p:sp>
      <p:sp>
        <p:nvSpPr>
          <p:cNvPr id="13" name="summary card"/>
          <p:cNvSpPr/>
          <p:nvPr/>
        </p:nvSpPr>
        <p:spPr>
          <a:xfrm>
            <a:off x="8095488" y="1828800"/>
            <a:ext cx="3361944" cy="2103120"/>
          </a:xfrm>
          <a:prstGeom prst="roundRect">
            <a:avLst>
              <a:gd name="adj" fmla="val 3478"/>
            </a:avLst>
          </a:prstGeom>
          <a:solidFill>
            <a:schemeClr val="tx2"/>
          </a:solidFill>
          <a:ln/>
        </p:spPr>
      </p:sp>
      <p:sp>
        <p:nvSpPr>
          <p:cNvPr id="14" name="icon circle"/>
          <p:cNvSpPr/>
          <p:nvPr/>
        </p:nvSpPr>
        <p:spPr>
          <a:xfrm>
            <a:off x="8369808" y="2103120"/>
            <a:ext cx="502920" cy="502920"/>
          </a:xfrm>
          <a:prstGeom prst="ellipse">
            <a:avLst/>
          </a:prstGeom>
          <a:solidFill>
            <a:schemeClr val="accent1"/>
          </a:solidFill>
          <a:ln/>
        </p:spPr>
      </p:sp>
      <p:pic>
        <p:nvPicPr>
          <p:cNvPr id="15" name="icon" descr="preencoded.png">    </p:cNvPr>
          <p:cNvPicPr>
            <a:picLocks noChangeAspect="1"/>
          </p:cNvPicPr>
          <p:nvPr/>
        </p:nvPicPr>
        <p:blipFill>
          <a:blip r:embed="rId3"/>
          <a:stretch>
            <a:fillRect/>
          </a:stretch>
        </p:blipFill>
        <p:spPr>
          <a:xfrm>
            <a:off x="8490509" y="2223821"/>
            <a:ext cx="261518" cy="261518"/>
          </a:xfrm>
          <a:prstGeom prst="rect">
            <a:avLst/>
          </a:prstGeom>
        </p:spPr>
      </p:pic>
      <p:sp>
        <p:nvSpPr>
          <p:cNvPr id="16" name="Text 11"/>
          <p:cNvSpPr txBox="1"/>
          <p:nvPr/>
        </p:nvSpPr>
        <p:spPr>
          <a:xfrm>
            <a:off x="8369808" y="2743200"/>
            <a:ext cx="2813304" cy="365760"/>
          </a:xfrm>
          <a:prstGeom prst="rect">
            <a:avLst/>
          </a:prstGeom>
          <a:noFill/>
          <a:ln/>
        </p:spPr>
        <p:txBody>
          <a:bodyPr wrap="square" lIns="0" tIns="0" rIns="0" bIns="0" rtlCol="0" anchor="t"/>
          <a:lstStyle/>
          <a:p>
            <a:pPr indent="0" marL="0">
              <a:buNone/>
            </a:pPr>
            <a:r>
              <a:rPr lang="en-US" sz="1700" b="1" dirty="0">
                <a:solidFill>
                  <a:schemeClr val="bg1"/>
                </a:solidFill>
              </a:rPr>
              <a:t>Berjalan sendiri setiap hari</a:t>
            </a:r>
            <a:endParaRPr lang="en-US" sz="1700" dirty="0"/>
          </a:p>
        </p:txBody>
      </p:sp>
      <p:sp>
        <p:nvSpPr>
          <p:cNvPr id="17" name="Text 12"/>
          <p:cNvSpPr txBox="1"/>
          <p:nvPr/>
        </p:nvSpPr>
        <p:spPr>
          <a:xfrm>
            <a:off x="8369808" y="3127248"/>
            <a:ext cx="2813304" cy="731520"/>
          </a:xfrm>
          <a:prstGeom prst="rect">
            <a:avLst/>
          </a:prstGeom>
          <a:noFill/>
          <a:ln/>
        </p:spPr>
        <p:txBody>
          <a:bodyPr wrap="square" lIns="0" tIns="0" rIns="0" bIns="0" rtlCol="0" anchor="t"/>
          <a:lstStyle/>
          <a:p>
            <a:pPr indent="0" marL="0">
              <a:buNone/>
            </a:pPr>
            <a:r>
              <a:rPr lang="en-US" sz="1300" dirty="0">
                <a:solidFill>
                  <a:schemeClr val="accent5"/>
                </a:solidFill>
              </a:rPr>
              <a:t>Incremental dan sadar kuota: katalog penuh ±8 hari, lalu refresh rutin di bawah kuota.</a:t>
            </a:r>
            <a:endParaRPr lang="en-US" sz="1300" dirty="0"/>
          </a:p>
        </p:txBody>
      </p:sp>
      <p:sp>
        <p:nvSpPr>
          <p:cNvPr id="18" name="Text 13"/>
          <p:cNvSpPr txBox="1"/>
          <p:nvPr/>
        </p:nvSpPr>
        <p:spPr>
          <a:xfrm>
            <a:off x="731520" y="4343400"/>
            <a:ext cx="45720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LANGKAH BERIKUTNYA</a:t>
            </a:r>
            <a:endParaRPr lang="en-US" sz="1100" dirty="0"/>
          </a:p>
        </p:txBody>
      </p:sp>
      <p:sp>
        <p:nvSpPr>
          <p:cNvPr id="19" name="Text 14"/>
          <p:cNvSpPr txBox="1"/>
          <p:nvPr/>
        </p:nvSpPr>
        <p:spPr>
          <a:xfrm>
            <a:off x="731520" y="4663440"/>
            <a:ext cx="7680960" cy="14630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Content ID / CMS reporting sebagai sumber YouTube kelas publisher</a:t>
            </a:r>
            <a:endParaRPr lang="en-US" sz="1400" dirty="0"/>
          </a:p>
          <a:p>
            <a:pPr marL="177800" indent="-177800">
              <a:spcAft>
                <a:spcPts val="500"/>
              </a:spcAft>
              <a:buSzPct val="100000"/>
              <a:buChar char="•"/>
            </a:pPr>
            <a:r>
              <a:rPr lang="en-US" sz="1400" dirty="0">
                <a:solidFill>
                  <a:schemeClr val="bg1"/>
                </a:solidFill>
              </a:rPr>
              <a:t>Golden set lagu berlabel untuk mengukur presisi &amp; recall matching</a:t>
            </a:r>
            <a:endParaRPr lang="en-US" sz="1400" dirty="0"/>
          </a:p>
          <a:p>
            <a:pPr marL="177800" indent="-177800">
              <a:spcAft>
                <a:spcPts val="500"/>
              </a:spcAft>
              <a:buSzPct val="100000"/>
              <a:buChar char="•"/>
            </a:pPr>
            <a:r>
              <a:rPr lang="en-US" sz="1400" dirty="0">
                <a:solidFill>
                  <a:schemeClr val="bg1"/>
                </a:solidFill>
              </a:rPr>
              <a:t>Deployment terkelola: ClickHouse Cloud, managed Airflow, secret manager, CI/CD</a:t>
            </a:r>
            <a:endParaRPr lang="en-US" sz="1400" dirty="0"/>
          </a:p>
          <a:p>
            <a:pPr marL="177800" indent="-177800">
              <a:spcAft>
                <a:spcPts val="500"/>
              </a:spcAft>
              <a:buSzPct val="100000"/>
              <a:buChar char="•"/>
            </a:pPr>
            <a:r>
              <a:rPr lang="en-US" sz="1400" dirty="0">
                <a:solidFill>
                  <a:schemeClr val="bg1"/>
                </a:solidFill>
              </a:rPr>
              <a:t>Kuota tambahan (Spotify Extended Quota, YouTube) saat katalog &gt; 1.300 lagu</a:t>
            </a:r>
            <a:endParaRPr lang="en-US" sz="1400" dirty="0"/>
          </a:p>
        </p:txBody>
      </p:sp>
      <p:sp>
        <p:nvSpPr>
          <p:cNvPr id="20" name="Text 15"/>
          <p:cNvSpPr txBox="1"/>
          <p:nvPr/>
        </p:nvSpPr>
        <p:spPr>
          <a:xfrm>
            <a:off x="8503920" y="5715000"/>
            <a:ext cx="3136392" cy="411480"/>
          </a:xfrm>
          <a:prstGeom prst="rect">
            <a:avLst/>
          </a:prstGeom>
          <a:noFill/>
          <a:ln/>
        </p:spPr>
        <p:txBody>
          <a:bodyPr wrap="square" lIns="0" tIns="0" rIns="0" bIns="0" rtlCol="0" anchor="t"/>
          <a:lstStyle/>
          <a:p>
            <a:pPr algn="r" indent="0" marL="0">
              <a:buNone/>
            </a:pPr>
            <a:r>
              <a:rPr lang="en-US" sz="1400" b="1" dirty="0">
                <a:solidFill>
                  <a:schemeClr val="accent1"/>
                </a:solidFill>
              </a:rPr>
              <a:t>Terima kasih — siap untuk tanya jawab.</a:t>
            </a:r>
            <a:endParaRPr lang="en-US" sz="1400" dirty="0"/>
          </a:p>
        </p:txBody>
      </p:sp>
    </p:spTree>
  </p:cSld>
  <p:clrMapOvr>
    <a:masterClrMapping/>
  </p:clrMapOvr>
</p:sld>
</file>

<file path=ppt/theme/theme1.xml><?xml version="1.0" encoding="utf-8"?>
<a:theme xmlns:a="http://schemas.openxmlformats.org/drawingml/2006/main" name="Massive Music DE">
  <a:themeElements>
    <a:clrScheme name="Massive Music DE">
      <a:dk1>
        <a:srgbClr val="1B1B1F"/>
      </a:dk1>
      <a:lt1>
        <a:srgbClr val="FFFFFF"/>
      </a:lt1>
      <a:dk2>
        <a:srgbClr val="2B2D33"/>
      </a:dk2>
      <a:lt2>
        <a:srgbClr val="F3F4F6"/>
      </a:lt2>
      <a:accent1>
        <a:srgbClr val="E3262E"/>
      </a:accent1>
      <a:accent2>
        <a:srgbClr val="4B5563"/>
      </a:accent2>
      <a:accent3>
        <a:srgbClr val="F2A900"/>
      </a:accent3>
      <a:accent4>
        <a:srgbClr val="15803D"/>
      </a:accent4>
      <a:accent5>
        <a:srgbClr val="9CA3AF"/>
      </a:accent5>
      <a:accent6>
        <a:srgbClr val="FDECEC"/>
      </a:accent6>
      <a:hlink>
        <a:srgbClr val="E3262E"/>
      </a:hlink>
      <a:folHlink>
        <a:srgbClr val="9F1239"/>
      </a:folHlink>
    </a:clrScheme>
    <a:fontScheme name="Massive Music 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Song Metadata Pipeline — Massive Music Data Engineer Technical Test</dc:title>
  <dc:subject>Analisis Airflow, dbt, Superset, dashboard, Docker Compose, medallion, data quality, kapasitas API dan sistem</dc:subject>
  <dc:creator>PptxGenJS</dc:creator>
  <cp:lastModifiedBy>PptxGenJS</cp:lastModifiedBy>
  <cp:revision>1</cp:revision>
  <dcterms:created xsi:type="dcterms:W3CDTF">2026-10-16T01:39:31Z</dcterms:created>
  <dcterms:modified xsi:type="dcterms:W3CDTF">2026-10-16T01:39:31Z</dcterms:modified>
</cp:coreProperties>
</file>